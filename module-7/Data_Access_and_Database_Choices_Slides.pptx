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Lst>
  <p:notesMasterIdLst>
    <p:notesMasterId r:id="rId1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9ba111d-4aed-79f4-677a-b96fa379fe01}">
          <p14:sldIdLst>
            <p14:sldId id="256"/>
            <p14:sldId id="257"/>
            <p14:sldId id="258"/>
          </p14:sldIdLst>
        </p14:section>
        <p14:section name="3.1 The data path" id="{5f6c6967-7e92-480c-3399-5521945cc5b6}">
          <p14:sldIdLst>
            <p14:sldId id="259"/>
            <p14:sldId id="260"/>
            <p14:sldId id="261"/>
            <p14:sldId id="262"/>
            <p14:sldId id="263"/>
          </p14:sldIdLst>
        </p14:section>
        <p14:section name="3.2 Where data lives" id="{797874bf-5ba5-60ab-7cb7-b4c92383d938}">
          <p14:sldIdLst>
            <p14:sldId id="264"/>
            <p14:sldId id="265"/>
            <p14:sldId id="266"/>
            <p14:sldId id="267"/>
          </p14:sldIdLst>
        </p14:section>
        <p14:section name="3.3 Choosing a database" id="{f0f47140-b462-89a5-b8a4-fb8f347bd751}">
          <p14:sldIdLst>
            <p14:sldId id="268"/>
            <p14:sldId id="269"/>
            <p14:sldId id="270"/>
            <p14:sldId id="271"/>
            <p14:sldId id="272"/>
            <p14:sldId id="273"/>
            <p14:sldId id="274"/>
            <p14:sldId id="275"/>
          </p14:sldIdLst>
        </p14:section>
        <p14:section name="3.4 Modeling and typing" id="{b593f39a-5aad-548d-38ab-3c8d17258a42}">
          <p14:sldIdLst>
            <p14:sldId id="276"/>
            <p14:sldId id="277"/>
            <p14:sldId id="278"/>
            <p14:sldId id="279"/>
            <p14:sldId id="280"/>
            <p14:sldId id="281"/>
          </p14:sldIdLst>
        </p14:section>
        <p14:section name="3.5 SQLite setup" id="{dccba916-7602-45bc-97a2-297841c468c2}">
          <p14:sldIdLst>
            <p14:sldId id="282"/>
            <p14:sldId id="283"/>
            <p14:sldId id="284"/>
            <p14:sldId id="285"/>
            <p14:sldId id="286"/>
            <p14:sldId id="287"/>
            <p14:sldId id="288"/>
            <p14:sldId id="289"/>
            <p14:sldId id="290"/>
          </p14:sldIdLst>
        </p14:section>
        <p14:section name="3.6 Repository" id="{a09a87b0-a9ab-3132-0ede-f25b4609fa89}">
          <p14:sldIdLst>
            <p14:sldId id="291"/>
            <p14:sldId id="292"/>
            <p14:sldId id="293"/>
            <p14:sldId id="294"/>
            <p14:sldId id="295"/>
            <p14:sldId id="296"/>
            <p14:sldId id="297"/>
            <p14:sldId id="298"/>
            <p14:sldId id="299"/>
          </p14:sldIdLst>
        </p14:section>
        <p14:section name="3.7 REST routes" id="{2c0034b1-cd54-f92f-4c2e-00aa59e48d13}">
          <p14:sldIdLst>
            <p14:sldId id="300"/>
            <p14:sldId id="301"/>
            <p14:sldId id="302"/>
            <p14:sldId id="303"/>
            <p14:sldId id="304"/>
            <p14:sldId id="305"/>
            <p14:sldId id="306"/>
            <p14:sldId id="307"/>
            <p14:sldId id="308"/>
            <p14:sldId id="309"/>
            <p14:sldId id="310"/>
            <p14:sldId id="311"/>
          </p14:sldIdLst>
        </p14:section>
        <p14:section name="3.8 Client data layer" id="{5fcd48e4-454b-9863-47d0-dc9c4afb5cfc}">
          <p14:sldIdLst>
            <p14:sldId id="312"/>
            <p14:sldId id="313"/>
            <p14:sldId id="314"/>
            <p14:sldId id="315"/>
            <p14:sldId id="316"/>
            <p14:sldId id="317"/>
            <p14:sldId id="318"/>
            <p14:sldId id="319"/>
          </p14:sldIdLst>
        </p14:section>
        <p14:section name="3.9 Reading data" id="{9cae2adb-1ead-e2bf-4692-ee28f257b450}">
          <p14:sldIdLst>
            <p14:sldId id="320"/>
            <p14:sldId id="321"/>
            <p14:sldId id="322"/>
            <p14:sldId id="323"/>
            <p14:sldId id="324"/>
            <p14:sldId id="325"/>
            <p14:sldId id="326"/>
          </p14:sldIdLst>
        </p14:section>
        <p14:section name="3.10 Writing data" id="{f44eea6c-5626-7dde-b10b-ddad7a59aa17}">
          <p14:sldIdLst>
            <p14:sldId id="327"/>
            <p14:sldId id="328"/>
            <p14:sldId id="329"/>
            <p14:sldId id="330"/>
            <p14:sldId id="331"/>
            <p14:sldId id="332"/>
            <p14:sldId id="333"/>
          </p14:sldIdLst>
        </p14:section>
        <p14:section name="3.11 Querying" id="{0227f587-d9ba-082e-cda8-e553b7c7f62c}">
          <p14:sldIdLst>
            <p14:sldId id="334"/>
            <p14:sldId id="335"/>
            <p14:sldId id="336"/>
            <p14:sldId id="337"/>
            <p14:sldId id="338"/>
            <p14:sldId id="339"/>
            <p14:sldId id="340"/>
            <p14:sldId id="341"/>
            <p14:sldId id="342"/>
            <p14:sldId id="343"/>
            <p14:sldId id="344"/>
            <p14:sldId id="345"/>
            <p14:sldId id="346"/>
            <p14:sldId id="347"/>
          </p14:sldIdLst>
        </p14:section>
        <p14:section name="3.12 Production" id="{8c85b5c7-c5cc-651d-f629-a64c38568df9}">
          <p14:sldIdLst>
            <p14:sldId id="348"/>
            <p14:sldId id="349"/>
            <p14:sldId id="350"/>
            <p14:sldId id="351"/>
            <p14:sldId id="352"/>
            <p14:sldId id="353"/>
            <p14:sldId id="354"/>
          </p14:sldIdLst>
        </p14:section>
        <p14:section name="Review and wrap-up" id="{2010843c-63eb-6579-fd00-8465037c33bf}">
          <p14:sldIdLst>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notesMaster" Target="notesMasters/notesMaster1.xml"/><Relationship Id="rId121" Type="http://schemas.openxmlformats.org/officeDocument/2006/relationships/presProps" Target="presProps.xml"/><Relationship Id="rId122" Type="http://schemas.openxmlformats.org/officeDocument/2006/relationships/viewProps" Target="viewProps.xml"/><Relationship Id="rId123" Type="http://schemas.openxmlformats.org/officeDocument/2006/relationships/theme" Target="theme/theme1.xml"/><Relationship Id="rId1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every concept lands in one project, BookShelf. Instructor pre-flight (source version note): verify Express 5.x, better-sqlite3 Node compatibility, the Vite react-ts tsconfig flags (verbatimModuleSyntax, erasableSyntaxOnly), the Tailwind setup, and the pg/mongodb driver docs before class. (~1 min)
Visual: React logo → arrow → cylinder (database icon). No decoration beyond that.
Source: Header, Instructor version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five objectives aloud; they map to the five parts of the day. (~1.5 min)
Visual: none
Source: 1. Learning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show of hands on Express and fetch. This is where the app stops losing data on refresh. (~1.5 min)
Visual: Horizontal path: "Components → useState → useEffect → Data access → Custom hooks → Auth", with the current stop labeled "YOU ARE HERE".
Source: 2. Prerequisite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Credentials or queries in the browser would let any visitor read or wipe your data. Layering also lets you swap the database without touching React. Ask: "What could go wrong if the browser held the password?" (~2 min)
Visual: Restaurant analogy: dining room = React, waiter = API, kitchen and pantry = database. Three labeled icons in a row.
Source: 3.1 Explanation, Why it matters,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"Add book" through every box. Point at the repository: SQL lives only there. Keep this slide up while learners do the Try it. (~2 min)
Visual: Mermaid below. Make obvious: each layer has one job, and SQL lives only in the repository. Alt text: A left-to-right flow of six boxes: a React component feeds a client API module, which sends HTTP to an Express route, which calls a repository, which reads and writes the database.
Source: 3.1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goes into state; JSX describes the list instead of you writing innerHTML. .map() and key are placeholders for the Lists and Keys lesson. (~2 min)
Visual: none beyond the two panels; highlight fetch on the left and setBooks on the right.
Source: 3.1 Mental model (React side excerpted from 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exact Vite error if time allows. We build the repository in 3.6. (~1 min)
Visual: none
Source: 3.1 Common beginner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compare with slide 5. (~3 min)
Visual: none
Source: 3.1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the place comes before choosing the database. localStorage holds strings only, about 5 MB, and the user can edit it. (~2 min)
Visual: Analogy strip: sticky note on monitor = useState; notebook in your bag = localStorage; shared filing system = server database.
Source: 3.2 Explanation,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initializer function avoids re-reading storage on every render. The button that adds notes is onClick={() =&gt; setNotes((n) =&gt; [...n, Note ${n.length + 1}])}. Refresh: it survives. Open another browser: it doesn't. (~2.5 min)
Code steps: Step 1: lines 1-4 (initializer function runs once and reads storage; notice the null check). Step 2: lines 6-8 (effect writes after every change to notes).
Visual: none
Source: 3.2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storage is a later lesson. (~1 min)
Visual: none
Source: 3.2 Common beginner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learners feel how little protection localStorage offers. (~3 min)
Visual: none
Source: 3.2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on first use: schema (declared structure), SQL, transaction (all-or-nothing group of changes), ACID (atomic, consistent, isolated, durable). (~2 min)
Visual: Four labeled icons: grid (relational), curly-brace file (document), key (key-value), cloud (BaaS).
Source: 3.3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Tables resemble arrays of same-shaped objects; documents resemble arbitrary nested objects. (~2 min)
Visual: Mental model strip: relational = spreadsheets with strict columns; document = folder of JSON files.
Source: 3.3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effort: SQLite none (a file), Postgres and MySQL medium. (~2 min)
Visual: none
Source: 3.3 comparison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effort: MongoDB medium, Redis low-medium, BaaS low. (~2 min)
Visual: none
Source: 3.3 comparison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 can also store JSON. Switching late is expensive, so choose by requirements, not hype. (~2 min)
Visual: none
Source: 3.3 decision guide,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with reasons. We revisit moving to Postgres in 3.12. (~1.5 min)
Visual: Tag "DB" icon on a single file named bookshelf.db.
Source: 3.3 "For BookShelf we choose SQLite"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"NoSQL means no design" leads to inconsistent documents (name vs fullName). Design your shape anyway. (~1.5 min)
Visual: none
Source: 3.3 Common beginner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two pairs. (~5 min)
Visual: none
Source: 3.3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one-to-many here. (~1.5 min)
Visual: Two small tables (books, reviews) with an arrow from reviews.book_id to books.id, labeled "one-to-many".
Source: 3.4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naming (created_at) never leaks into React. JSON has no Date, so dates travel as strings. Same discipline as keeping a raw API response type separate from a UI view-model. (~1.5 min)
Visual: none
Source: 3.4 Explanation,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Live-code with learners. (~1.5 min)
Code steps: Step 1: line 1 (the status union). Step 2: lines 3-9 (a column rename becomes a compile error where rows are read).
Visual: none
Source: 3.4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must not invent server-owned fields. (~1.5 min)
Code steps: Step 1: createdAt (camelCase, string). Step 2: NewBook omits id and createdAt (server-owned). Step 3: BookPatch = Partial&lt;NewBook&gt;.
Visual: none
Source: 3.4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 validation libraries are a later lesson. (~1.5 min)
Visual: none
Source: 3.4 Common beginner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book_id. (~4 min)
Visual: none
Source: 3.4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describes the allowed shape and the database enforces it at runtime, which TypeScript can't. (~1.5 min)
Visual: none
Source: 3.5 Explanation,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Express 4, async errors needed wrappers. If install fails, check better-sqlite3's supported Node versions. Run with npx tsx watch src/index.ts. (~1 min)
Visual: none
Source: 3.5 Version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installs. (~2 min)
Code steps: Step 1: runtime packages. Step 2: dev-only types and tsx.
Visual: SERVER tag.
Source: 3.5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file to .gitignore. (~1.5 min)
Code steps: Step 1: line 3 (opens or creates the file). Step 2: line 7 (SQLite does not enforce foreign keys unless enabled per connection).
Visual: SERVER tag.
Source: 3.5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Constraints are the last line of defense: application code has bugs; a CHECK doesn't forget. (~2 min)
Code steps: Step 1: IF NOT EXISTS (safe on every startup). Step 2: NOT NULL and DEFAULT. Step 3: the CHECK constraint (the database rejects a bad status).
Visual: DB tag.
Source: 3.5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Ties back to slide 21's one-to-many diagram. (~1.5 min)
Code steps: Step 1: REFERENCES books(id) (foreign key). Step 2: ON DELETE CASCADE (deleting a book deletes its reviews).
Visual: DB tag.
Source: 3.5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doesn't exist yet; this runs after 3.6. (~1 min)
Code steps: Step 1: samples array. Step 2: the loop. Run with npx tsx src/seed.ts after 3.6.
Visual: SERVER tag.
Source: 3.5 Code example (seed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NOT EXISTS skips existing tables. Real projects use migrations (tooling is a later lesson). (~1.5 min)
Visual: none
Source: 3.5 Common beginner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the seed script runs after the repository exists. (~15 min coding)
Visual: none
Source: 3.5 Try it, Milestone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repository holds all database code for one entity. Routes call it and never write SQL. ORMs (Prisma, Drizzle) generate this later; we write SQL first so you understand them. (~2 min)
Visual: DB tag.
Source: 3.6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through toBook also stops future sensitive columns leaking. (~2 min)
Code steps: Step 1: toBook (the single place created_at becomes createdAt). Step 2: .all() returns every row.
Visual: SERVER tag.
Source: 3.6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are passed as parameters, never concatenated. (~2 min)
Code steps: Step 1: .get(id) returns one row or undefined. Step 2: .run(...) returns metadata. Step 3: Number(info.lastInsertRowid) (can be a bigint).
Visual: SERVER tag.
Source: 3.6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Patching only status leaves other fields alone. (~2 min)
Code steps: Step 1: COALESCE(?, title) (use new value, keep old if NULL). Step 2: ?? null (the driver rejects undefined).
Visual: SERVER tag.
Source: 3.6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seed script now. (~1 min)
Code steps: Step 1: .changes &gt; 0 (the route turns this into 204 or 404). Step 2: the exported object is the repository's public surface.
Visual: SERVER tag.
Source: 3.6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live. This is SQL injection: input changes what the query means. Ask: "How would you fix it?" before advancing. (~2 min)
Code steps: Step 1: the template literal. Step 2: the resulting SQL ('1'='1' is always true).
Visual: SERVER tag; red "DANGEROUS" label (text, not color alone).
Source: 3.6 SQL injection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discipline as never building a function by concatenating arguments into source code. (~1 min)
Code steps: Step 1: ? (the value is always treated as data, never SQL).
Visual: SERVER tag; "SAFE" label.
Source: 3.6 SQL injection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SELECT * straight into responses leaks future sensitive columns; map through toBook. (~1.5 min)
Visual: none
Source: 3.6 Common beginner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(~25 min coding)
Visual: none
Source: 3.6 Try it, Milestone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is a convention; you already know Express routing. (~1.5 min)
Visual: Small grid: four methods × collection URL / item URL.
Source: 3.7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read/update, 201 create, 204 delete (no body), 400 invalid data, 404 missing, 500 our bug. (~1.5 min)
Visual: none
Source: 3.7 status code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TypeScript types vanish at runtime, so anyone can send anything. Validation is bouncer one; CHECK constraints are bouncer two. (~2 min)
Code steps: Step 1: v is BookStatus (type guard narrows the type). Step 2: parseId (params are always strings).
Visual: SERVER tag.
Source: 3.7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checks typeof parsed === "string". It's a simple, dependency-free pattern. (~2 min)
Code steps: Step 1: return type NewBook | string. Step 2: each guard returns a message. Step 3: success returns trimmed values.
Visual: SERVER tag.
Source: 3.7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Abridged; the author and status branches repeat the title pattern. (~1.5 min)
Code steps: Step 1: !== undefined (only present fields are validated). Step 2: build patch field by field.
Visual: SERVER tag.
Source: 3.7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response, including errors, is JSON with { error } so the client can show the message. (~2 min)
Code steps: Step 1: list route. Step 2: 400 for a bad id. Step 3: 404 for a missing book.
Visual: SERVER tag.
Source: 3.7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Ties back to the status-code slide. (~1.5 min)
Code steps: Step 1: 201 after create. Step 2: remove returns a boolean that becomes 204 or 404.
Visual: SERVER tag.
Source: 3.7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shape as the other routes. (~1.5 min)
Code steps: Step 1: id check. Step 2: body check. Step 3: repository call and 404.
Visual: SERVER tag.
Source: 3.7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leak stack traces to the client. (~1.5 min)
Code steps: Step 1: express.json() before routes. Step 2: four-argument error middleware. Step 3: log the real error; send a generic message.
Visual: SERVER tag.
Source: 3.7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each live; then try the error cases. (~2 min)
Code steps: Step 1: GET. Step 2: POST. Step 3: PATCH. Step 4: -i to see the 204 headers.
Visual: none
Source: 3.7 Test it with curl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returning raw errors exposes stack traces and SQL; log, then respond generically. (~1.5 min)
Visual: none
Source: 3.7 Common beginner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(~30 min incl. build)
Visual: none
Source: 3.7 Try it, Milestone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booksApi is your own tiny SDK, like Stripe's or Firebase's client libraries but for your API. Scaffold with npm create vite@latest client -- --template react-ts. (~2 min)
Visual: none
Source: 3.8 Explanation,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CORS error first: fetch("http://localhost:3001/api/books") from the console, then fetch("/api/books"). Restart the dev server after config changes. (~2 min)
Code steps: Step 1: the proxy entry (Vite forwards /api to Express, so the browser sees one origin).
Visual: CLIENT tag.
Source: 3.8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against your generated tsconfig. The ApiError class on the next slides is written to satisfy both flags. (~1 min)
Visual: none
Source: 3.8 Version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VITE_ variables are public. (~1.5 min)
Code steps: Step 1: import.meta.env.VITE_API_URL (empty in dev; set in production builds). Step 2: explicit status field (no parameter property).
Visual: CLIENT tag.
Source: 3.8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client slide. (~3 min)
Code steps: Step 1: request&lt;T&gt; generic. Step 2: if (!res.ok) (a 404 or 500 resolves normally, so you must throw). Step 3: .catch(() =&gt; null) for non-JSON errors. Step 4: 204 has no body.
Visual: CLIENT tag.
Source: 3.8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types.ts mirrors the server's Book, NewBook, and BookPatch. (~1.5 min)
Code steps: Step 1: signal lets a component cancel (used in 3.9). Step 2: each call states its return type.
Visual: CLIENT tag.
Source: 3.8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restart the dev server after editing vite.config.ts or .env. (~1.5 min)
Visual: none
Source: 3.8 Common beginner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 must be running. (~20 min)
Visual: none
Source: 3.8 Try it, Milestone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Vanilla version: loadBooks() inside DOMContentLoaded. useEffect(..., []) adds a built-in cleanup hook. (~1.5 min)
Visual: none
Source: 3.9 Explanation,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continues on the next slide. (~1.5 min)
Code steps: Step 1: loading starts true (first render never shows "No books yet" early). Step 2: AbortController created per effect run.
Visual: CLIENT tag.
Source: 3.9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aborted check, a cancelled request flips loading off while the second one is in flight. (~2 min)
Code steps: Step 1: the AbortError check. Step 2: .finally skips aborted runs. Step 3: cleanup aborts. Step 4: [] = run once.
Visual: CLIENT tag.
Source: 3.9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Placeholders: early returns and the ternary belong to the Conditional Rendering lesson; .map() and key to Lists and Keys; repeating this fetch pattern is the cue for a custom hook, and TanStack Query handles caching and loading flags (both later lessons). (~2 min)
Code steps: Step 1: two early returns. Step 2: the empty case. Step 3: list.
Visual: CLIENT tag.
Source: 3.9 Code example,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builds run it once. Verify against your installed React version. (~1 min)
Visual: none
Source: 3.9 Version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missing [] gives the same infinite loop. (~1.5 min)
Visual: none
Source: 3.9 Common beginner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persistence works. (~20 min)
Visual: none
Source: 3.9 Try it, Milestone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is the source of truth. Keep action errors separate from load errors, so a failed delete doesn't replace the whole page. (~2 min)
Visual: Mental model: pessimistic = cash on the counter; optimistic = writing a check (handle the bounce).
Source: 3.10 Explanation,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clear only on success. (~2 min)
Code steps: Step 1: preventDefault. Step 2: await before clearing. Step 3: finally re-enables the button (prevents double-submits).
Visual: CLIENT tag.
Source: 3.10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Declare const [actionError, setActionError] = useState&lt;string | null&gt;(null); alongside the other state. (~2 min)
Code steps: Step 1: use the server's returned book (real id, createdAt). Step 2: functional update with a new array. Step 3: throw err for the form.
Visual: CLIENT tag.
Source: 3.10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rollback, the UI says "done" but a refresh reveals nothing saved. (~2 min)
Code steps: Step 1: capture previous before changing state. Step 2: optimistic setBooks. Step 3: rollback in catch.
Visual: CLIENT tag.
Source: 3.10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Wire the form, a status &lt;select&gt;, a Delete button, and {actionError &amp;&amp; &lt;p className="text-red-600"&gt;{actionError}&lt;/p&gt;} above the list. (~1.5 min)
Code steps: Step 1: confirm. Step 2: await the API. Step 3: filter into a new array.
Visual: CLIENT tag.
Source: 3.10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forgetting preventDefault reloads the page; clearing inputs before await loses text on failure. (~1.5 min)
Visual: none
Source: 3.10 Common beginner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build block of the day. Walk the room. (~40 min)
Visual: none
Source: 3.10 Try it, Milestone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filters before sending, so you never download rows you'll throw away. (~2 min)
Visual: Mental model: Array.filter().slice() in JavaScript vs WHERE … LIMIT … OFFSET in SQL.
Source: 3.11 Explanation,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lets the UI show page counts. Server and client must change together; treat the API as a contract. (~1.5 min)
Visual: SERVER tag.
Source: 3.11 Explanation,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Still injection-safe. Never let the client choose a column name to sort by; whitelist allowed columns, because identifiers can't be parameterized. (~2 min)
Code steps: Step 1: where holds fixed strings only. Step 2: user values go into params. Step 3: clause is reused.
Visual: SERVER tag.
Source: 3.11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size and skip count are parameters too. (~1.5 min)
Code steps: Step 1: COUNT(*) with the same clause (so total matches the filter). Step 2: LIMIT ? OFFSET ? as parameters.
Visual: SERVER tag.
Source: 3.11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Stops one request becoming a database dump. (~1 min)
Code steps: Step 1: non-numbers fall back. Step 2: min/max clamp (limit=1000000 becomes 50).
Visual: SERVER tag.
Source: 3.11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with curl: ?limit=2&amp;offset=2, ?limit=abc, ?status=finished. (~2 min)
Code steps: Step 1: invalid status returns 400. Step 2: clampInt for limit and offset. Step 3: empty search becomes undefined.
Visual: SERVER tag.
Source: 3.11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Book[] signature no longer matches the server. (~1.5 min)
Code steps: Step 1: response type changes. Step 2: offset = (page - 1) * limit.
Visual: CLIENT tag.
Source: 3.11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 = 5. setLoading(true) here replaces the whole page with "Loading…"; keeping the old list visible while loading is a polish step. (~2 min)
Code steps: Step 1: [status, q, page] (re-fetch when any changes). Step 2: cleanup aborts the previous request (no race condition).
Visual: CLIENT tag.
Source: 3.11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applies on submit (setQ(queryInput.trim()); setPage(1);) rather than per keystroke. Delaying requests until typing pauses is debouncing, a later lesson. (~2 min)
Code steps: Step 1: totalPages from total. Step 2: setPage(1) in the filter handler. Step 3: Prev/Next disabled at the edges.
Visual: CLIENT tag.
Source: 3.11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expose it as GET /api/books/summary, declared *before* /:id. (~2 min)
Code steps: Step 1: LEFT JOIN keeps books with zero reviews (an INNER JOIN would drop them). Step 2: GROUP BY with AVG and COUNT.
Visual: DB tag.
Source: 3.11 Relationships and JOINs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mistake. Let the database join. (~1.5 min)
Visual: Two stacks of arrows: 21 small arrows vs 1 arrow, each labeled with its count.
Source: 3.11 Relationships and JOINs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index is a lookup structure on a column. (~1 min)
Code steps: Step 1: index foreign keys you join or filter by.
Visual: DB tag.
Source: 3.11 Relationships and JOINs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user-chosen ORDER BY column (injection risk; whitelist) and changing the response shape on one side only (res.items is undefined). (~1.5 min)
Visual: none
Source: 3.11 Common beginner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the JOIN endpoint. (~35 min)
Visual: none
Source: 3.11 Try it, Milestone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teams make repository functions async from day one to avoid the ripple. (~1.5 min)
Visual: Travel-plug analogy: app speaks one shape (list(), create()); the adapter fits any socket (database).
Source: 3.12 Explanation,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ObjectId would change Book.id and every route that parses id. Verify against current driver docs. (~1 min)
Visual: none
Source: 3.12 Version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Routes would now need await. (~1.5 min)
Code steps: Step 1: DATABASE_URL from the environment. Step 2: $1 placeholder. Step 3: async and await.
Visual: SERVER tag.
Source: 3.12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slide 95: same job, different adapter. (~1 min)
Code steps: Step 1: connection string from the environment. Step 2: find({ status }) replaces WHERE.
Visual: SERVER tag.
Source: 3.12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a database with no backup is a prototype; SQLite is a file, so copy it. Today anyone can delete any book. (~2 min)
Visual: none
Source: 3.12 Production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forgetting await after moving to Postgres returns {} (a pending Promise); make routes async (Express 5 forwards rejections to the error handler). (~1.5 min)
Visual: none
Source: 3.12 Common beginner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for hosting platforms. (~15 min)
Visual: SERVER tag.
Source: 3.12 Try it, Milestone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3.1-3.4 are concepts and decisions; 3.5-3.7 the server data layer; 3.8-3.11 the client layer plus an API change touching both; 3.12 generalizes via the repository boundary. Key dependencies: 3.7 needs 3.6; 3.8 needs a running 3.7; 3.10 needs 3.9. (~2 min)
Visual: Mermaid below. Make obvious: the linear teaching order, the server/client split, and that 3.11 loops back to change four earlier pieces. Alt text: A top-down flow with three groups. Concepts (3.1 to 3.4) lead into Server (3.5 to 3.7), which leads into Client (3.8 to 3.11). Dotted arrows show 3.11 changing 3.6, 3.7, 3.8, and 3.9. Section 3.12 receives arrows from 3.3 and 3.6.
Source: 4. How the Sub-Sections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38-term glossary goes out as a handout (source section 5). (~1 min)
Visual: none
Source: 5. Key Terms Glossary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back to the slide where each first appeared. (~1 min)
Visual: none
Source: 5. Key Terms Glossary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of think-pair, then reveal. (~1.5 min)
Visual: none
Source: 6. Knowledge Check,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acceptable: secrets exposed in the bundle, no place to enforce rules, scaling and connection limits. Databases speak server-side protocols, not browser HTTP. (~1 min)
Visual: none
Source: Instructor Answer Key,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to notice: not a crash; it silently returns everything. Let learners answer before advancing. (~1.5 min)
Visual: SERVER tag.
Source: 6. Knowledge Check,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is always treated as data, never as SQL. (~1 min)
Visual: SERVER tag.
Source: Instructor Answer Key,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 what does fetch do on a 404? (~1.5 min)
Visual: CLIENT tag.
Source: 6. Knowledge Check,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Secondary issue: book is probably null initially, so the render must handle that too. (~1 min)
Visual: none
Source: Instructor Answer Key,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symptom is the "error message" here: no error, nothing happens. (~1.5 min)
Visual: CLIENT tag.
Source: 6. Knowledge Check, Q4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refresh remounts the component, which is why refresh "fixes" it. (~1 min)
Visual: CLIENT tag.
Source: Instructor Answer Key, Q4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one sentence of reasoning each. (~2 min)
Visual: none
Source: 6. Knowledge Check, Q5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the decision guide on slide 17. (~1 min)
Visual: none
Source: Instructor Answer Key, Q5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 TODOs: (1) add a favorite column in db.ts; (2) add favorite to BookRow (0|1), Book (boolean), BookPatch; (3) map it in toBook, accept it in update(); (4) validate it in parsePatch; (5) client types and API; (6) ★ button in App.tsx. Acceptance: curl … -d '{"favorite":"yes"}' returns 400; refresh keeps the star; stopping the server and clicking shows an error and reverts; existing books still list; both projects compile. ~15 min solo, then review. (~15 min)
Visual: none
Source: 6.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SQLite has no real boolean; convert at the repository boundary. The ALTER TABLE is a hand-run migration, the reason real projects use migration tooling. (~1.5 min)
Code steps: Step 1: CHECK keeps it 0 or 1. Step 2: ALTER TABLE for existing data (no data loss). Step 3: BookPatch gains favorite.
Visual: DB and SERVER tags.
Source: Model solution: Favorites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Destructure favorite alongside title, author, status in parsePatch. (~1.5 min)
Code steps: Step 1: === 1 converts to boolean. Step 2: COALESCE with null keeps the update partial. Step 3: validation rejects "yes" with a 400 before the database is touched.
Visual: SERVER tag.
Source: Model solution: Favorites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 button: &lt;button onClick={() =&gt; handleToggleFavorite(b)} aria-pressed={b.favorite} className={b.favorite ? "text-amber-500" : "text-slate-300"}&gt;★&lt;/button&gt;. (~1.5 min)
Code steps: Step 1: instant update. Step 2: rollback sets !next, which equals the original value.
Visual: CLIENT tag.
Source: Model solution: Favorites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relational unless data says otherwise. Keep load errors and action errors separate. (~2 min)
Visual: none
Source: 7. Summary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BookShelf persists data now, but every component repeats the fetch plumbing, and anyone can delete anyone's books. (~1 min)
Visual: none
Source: 8. Next Lesson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F172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0B3B5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371600"/>
            <a:ext cx="10698480" cy="457200"/>
          </a:xfrm>
          <a:prstGeom prst="rect">
            <a:avLst/>
          </a:prstGeom>
          <a:noFill/>
          <a:ln/>
        </p:spPr>
        <p:txBody>
          <a:bodyPr wrap="square" lIns="0" tIns="0" rIns="0" bIns="0" rtlCol="0" anchor="ctr"/>
          <a:lstStyle/>
          <a:p>
            <a:pPr indent="0" marL="0">
              <a:buNone/>
            </a:pPr>
            <a:r>
              <a:rPr lang="en-US" sz="2200" dirty="0">
                <a:solidFill>
                  <a:srgbClr val="38BDF8"/>
                </a:solidFill>
                <a:latin typeface="Calibri" pitchFamily="34" charset="0"/>
                <a:ea typeface="Calibri" pitchFamily="34" charset="-122"/>
                <a:cs typeface="Calibri" pitchFamily="34" charset="-120"/>
              </a:rPr>
              <a:t>Connect React to real, persistent data</a:t>
            </a:r>
            <a:endParaRPr lang="en-US" sz="2200" dirty="0"/>
          </a:p>
        </p:txBody>
      </p:sp>
      <p:sp>
        <p:nvSpPr>
          <p:cNvPr id="3" name="Text 1"/>
          <p:cNvSpPr txBox="1"/>
          <p:nvPr/>
        </p:nvSpPr>
        <p:spPr>
          <a:xfrm>
            <a:off x="731520" y="2011680"/>
            <a:ext cx="10698480" cy="1645920"/>
          </a:xfrm>
          <a:prstGeom prst="rect">
            <a:avLst/>
          </a:prstGeom>
          <a:noFill/>
          <a:ln/>
        </p:spPr>
        <p:txBody>
          <a:bodyPr wrap="square" lIns="0" tIns="0" rIns="0" bIns="0" rtlCol="0" anchor="t"/>
          <a:lstStyle/>
          <a:p>
            <a:pPr indent="0" marL="0">
              <a:buNone/>
            </a:pPr>
            <a:r>
              <a:rPr lang="en-US" sz="5400" b="1" dirty="0">
                <a:solidFill>
                  <a:srgbClr val="F1F5F9"/>
                </a:solidFill>
                <a:latin typeface="Calibri" pitchFamily="34" charset="0"/>
                <a:ea typeface="Calibri" pitchFamily="34" charset="-122"/>
                <a:cs typeface="Calibri" pitchFamily="34" charset="-120"/>
              </a:rPr>
              <a:t>Data Access and Database Choices</a:t>
            </a:r>
            <a:endParaRPr lang="en-US" sz="5400" dirty="0"/>
          </a:p>
        </p:txBody>
      </p:sp>
      <p:sp>
        <p:nvSpPr>
          <p:cNvPr id="4" name="Text 2"/>
          <p:cNvSpPr txBox="1"/>
          <p:nvPr/>
        </p:nvSpPr>
        <p:spPr>
          <a:xfrm>
            <a:off x="731520" y="4023360"/>
            <a:ext cx="10698480" cy="548640"/>
          </a:xfrm>
          <a:prstGeom prst="rect">
            <a:avLst/>
          </a:prstGeom>
          <a:noFill/>
          <a:ln/>
        </p:spPr>
        <p:txBody>
          <a:bodyPr wrap="square" lIns="0" tIns="0" rIns="0" bIns="0" rtlCol="0" anchor="ctr"/>
          <a:lstStyle/>
          <a:p>
            <a:pPr indent="0" marL="0">
              <a:buNone/>
            </a:pPr>
            <a:r>
              <a:rPr lang="en-US" sz="2400" dirty="0">
                <a:solidFill>
                  <a:srgbClr val="94A3B8"/>
                </a:solidFill>
                <a:latin typeface="Calibri" pitchFamily="34" charset="0"/>
                <a:ea typeface="Calibri" pitchFamily="34" charset="-122"/>
                <a:cs typeface="Calibri" pitchFamily="34" charset="-120"/>
              </a:rPr>
              <a:t>Lesson [number TBD] · 6 hours · Project: BookShelf</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Today you build a full-stack data path</a:t>
            </a:r>
            <a:endParaRPr lang="en-US" dirty="0"/>
          </a:p>
        </p:txBody>
      </p:sp>
      <p:sp>
        <p:nvSpPr>
          <p:cNvPr id="4" name="Text 1"/>
          <p:cNvSpPr txBox="1"/>
          <p:nvPr/>
        </p:nvSpPr>
        <p:spPr>
          <a:xfrm>
            <a:off x="457200" y="1600200"/>
            <a:ext cx="11247120" cy="24384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Explain how data travels from React to a database</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Compare and justify database choices</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Build a typed server data layer</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Build typed React reads and writes</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Debug failures; swap databases safely</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You need these skills; this is where we sit</a:t>
            </a:r>
            <a:endParaRPr lang="en-US" dirty="0"/>
          </a:p>
        </p:txBody>
      </p:sp>
      <p:sp>
        <p:nvSpPr>
          <p:cNvPr id="4" name="Text 1"/>
          <p:cNvSpPr txBox="1"/>
          <p:nvPr/>
        </p:nvSpPr>
        <p:spPr>
          <a:xfrm>
            <a:off x="457200" y="1600200"/>
            <a:ext cx="11247120" cy="195072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Typed components, props,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useState</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useEffect</a:t>
            </a:r>
            <a:endParaRPr lang="en-US" sz="2400" dirty="0"/>
          </a:p>
          <a:p>
            <a:pPr marL="342900" indent="-342900">
              <a:spcAft>
                <a:spcPts val="600"/>
              </a:spcAft>
              <a:buSzPct val="100000"/>
              <a:buChar char="•"/>
            </a:pPr>
            <a:r>
              <a:rPr lang="en-US" sz="2400" dirty="0">
                <a:solidFill>
                  <a:srgbClr val="38BDF8"/>
                </a:solidFill>
                <a:latin typeface="Consolas" pitchFamily="34" charset="0"/>
                <a:ea typeface="Consolas" pitchFamily="34" charset="-122"/>
                <a:cs typeface="Consolas" pitchFamily="34" charset="-120"/>
              </a:rPr>
              <a:t>async/await</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fetch</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JSON</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Basic Express server in TypeScript</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Where we are: after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useEffect</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before hooks libraries and auth</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The browser never talks to the database</a:t>
            </a:r>
            <a:endParaRPr lang="en-US" dirty="0"/>
          </a:p>
        </p:txBody>
      </p:sp>
      <p:sp>
        <p:nvSpPr>
          <p:cNvPr id="4" name="Text 1"/>
          <p:cNvSpPr txBox="1"/>
          <p:nvPr/>
        </p:nvSpPr>
        <p:spPr>
          <a:xfrm>
            <a:off x="457200" y="1600200"/>
            <a:ext cx="11247120" cy="146304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React runs in the user's browser</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It calls an API over HTTP</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The API talks to the database</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Data crosses six layers on every request</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DIAGRAM</a:t>
            </a:r>
            <a:endParaRPr lang="en-US" sz="1200" dirty="0"/>
          </a:p>
        </p:txBody>
      </p:sp>
      <p:sp>
        <p:nvSpPr>
          <p:cNvPr id="5" name="Text 2"/>
          <p:cNvSpPr txBox="1"/>
          <p:nvPr/>
        </p:nvSpPr>
        <p:spPr>
          <a:xfrm>
            <a:off x="457200" y="2194560"/>
            <a:ext cx="1691640" cy="1371600"/>
          </a:xfrm>
          <a:prstGeom prst="roundRect">
            <a:avLst>
              <a:gd name="adj" fmla="val 6667"/>
            </a:avLst>
          </a:prstGeom>
          <a:solidFill>
            <a:srgbClr val="1E293B"/>
          </a:solidFill>
          <a:ln/>
        </p:spPr>
        <p:txBody>
          <a:bodyPr wrap="square" lIns="50800" tIns="50800" rIns="50800" bIns="50800" rtlCol="0" anchor="ctr"/>
          <a:lstStyle/>
          <a:p>
            <a:pPr algn="ctr" indent="0" marL="0">
              <a:buNone/>
            </a:pPr>
            <a:r>
              <a:rPr lang="en-US" sz="1800" b="1" dirty="0">
                <a:solidFill>
                  <a:srgbClr val="F1F5F9"/>
                </a:solidFill>
                <a:latin typeface="Calibri" pitchFamily="34" charset="0"/>
                <a:ea typeface="Calibri" pitchFamily="34" charset="-122"/>
                <a:cs typeface="Calibri" pitchFamily="34" charset="-120"/>
              </a:rPr>
              <a:t>React component</a:t>
            </a:r>
            <a:endParaRPr lang="en-US" sz="1800" dirty="0"/>
          </a:p>
          <a:p>
            <a:pPr algn="ctr" indent="0" marL="0">
              <a:buNone/>
            </a:pPr>
            <a:r>
              <a:rPr lang="en-US" sz="1400" dirty="0">
                <a:solidFill>
                  <a:srgbClr val="F1F5F9"/>
                </a:solidFill>
                <a:latin typeface="Calibri" pitchFamily="34" charset="0"/>
                <a:ea typeface="Calibri" pitchFamily="34" charset="-122"/>
                <a:cs typeface="Calibri" pitchFamily="34" charset="-120"/>
              </a:rPr>
              <a:t>renders UI</a:t>
            </a:r>
            <a:endParaRPr lang="en-US" sz="1800" dirty="0"/>
          </a:p>
        </p:txBody>
      </p:sp>
      <p:sp>
        <p:nvSpPr>
          <p:cNvPr id="6" name="Text 3"/>
          <p:cNvSpPr txBox="1"/>
          <p:nvPr/>
        </p:nvSpPr>
        <p:spPr>
          <a:xfrm>
            <a:off x="457200" y="3657600"/>
            <a:ext cx="1691640" cy="274320"/>
          </a:xfrm>
          <a:prstGeom prst="rect">
            <a:avLst/>
          </a:prstGeom>
          <a:noFill/>
          <a:ln/>
        </p:spPr>
        <p:txBody>
          <a:bodyPr wrap="square" lIns="0" tIns="0" rIns="0" bIns="0" rtlCol="0" anchor="ctr"/>
          <a:lstStyle/>
          <a:p>
            <a:pPr algn="ctr" indent="0" marL="0">
              <a:buNone/>
            </a:pPr>
            <a:r>
              <a:rPr lang="en-US" sz="1400" b="1" dirty="0">
                <a:solidFill>
                  <a:srgbClr val="94A3B8"/>
                </a:solidFill>
                <a:latin typeface="Calibri" pitchFamily="34" charset="0"/>
                <a:ea typeface="Calibri" pitchFamily="34" charset="-122"/>
                <a:cs typeface="Calibri" pitchFamily="34" charset="-120"/>
              </a:rPr>
              <a:t>CLIENT</a:t>
            </a:r>
            <a:endParaRPr lang="en-US" sz="1400" dirty="0"/>
          </a:p>
        </p:txBody>
      </p:sp>
      <p:sp>
        <p:nvSpPr>
          <p:cNvPr id="7" name="Shape 4"/>
          <p:cNvSpPr/>
          <p:nvPr/>
        </p:nvSpPr>
        <p:spPr>
          <a:xfrm>
            <a:off x="2176272" y="2880360"/>
            <a:ext cx="219456" cy="0"/>
          </a:xfrm>
          <a:prstGeom prst="line">
            <a:avLst/>
          </a:prstGeom>
          <a:noFill/>
          <a:ln w="25400">
            <a:solidFill>
              <a:srgbClr val="94A3B8"/>
            </a:solidFill>
            <a:prstDash val="solid"/>
            <a:tailEnd type="triangle"/>
          </a:ln>
        </p:spPr>
      </p:sp>
      <p:sp>
        <p:nvSpPr>
          <p:cNvPr id="8" name="Text 5"/>
          <p:cNvSpPr txBox="1"/>
          <p:nvPr/>
        </p:nvSpPr>
        <p:spPr>
          <a:xfrm>
            <a:off x="2423160" y="2194560"/>
            <a:ext cx="1691640" cy="1371600"/>
          </a:xfrm>
          <a:prstGeom prst="roundRect">
            <a:avLst>
              <a:gd name="adj" fmla="val 6667"/>
            </a:avLst>
          </a:prstGeom>
          <a:solidFill>
            <a:srgbClr val="1E293B"/>
          </a:solidFill>
          <a:ln/>
        </p:spPr>
        <p:txBody>
          <a:bodyPr wrap="square" lIns="50800" tIns="50800" rIns="50800" bIns="50800" rtlCol="0" anchor="ctr"/>
          <a:lstStyle/>
          <a:p>
            <a:pPr algn="ctr" indent="0" marL="0">
              <a:buNone/>
            </a:pPr>
            <a:r>
              <a:rPr lang="en-US" sz="1800" b="1" dirty="0">
                <a:solidFill>
                  <a:srgbClr val="F1F5F9"/>
                </a:solidFill>
                <a:latin typeface="Calibri" pitchFamily="34" charset="0"/>
                <a:ea typeface="Calibri" pitchFamily="34" charset="-122"/>
                <a:cs typeface="Calibri" pitchFamily="34" charset="-120"/>
              </a:rPr>
              <a:t>Client API module</a:t>
            </a:r>
            <a:endParaRPr lang="en-US" sz="1800" dirty="0"/>
          </a:p>
          <a:p>
            <a:pPr algn="ctr" indent="0" marL="0">
              <a:buNone/>
            </a:pPr>
            <a:r>
              <a:rPr lang="en-US" sz="1400" dirty="0">
                <a:solidFill>
                  <a:srgbClr val="F1F5F9"/>
                </a:solidFill>
                <a:latin typeface="Calibri" pitchFamily="34" charset="0"/>
                <a:ea typeface="Calibri" pitchFamily="34" charset="-122"/>
                <a:cs typeface="Calibri" pitchFamily="34" charset="-120"/>
              </a:rPr>
              <a:t>typed fetch calls</a:t>
            </a:r>
            <a:endParaRPr lang="en-US" sz="1800" dirty="0"/>
          </a:p>
        </p:txBody>
      </p:sp>
      <p:sp>
        <p:nvSpPr>
          <p:cNvPr id="9" name="Text 6"/>
          <p:cNvSpPr txBox="1"/>
          <p:nvPr/>
        </p:nvSpPr>
        <p:spPr>
          <a:xfrm>
            <a:off x="2423160" y="3657600"/>
            <a:ext cx="1691640" cy="274320"/>
          </a:xfrm>
          <a:prstGeom prst="rect">
            <a:avLst/>
          </a:prstGeom>
          <a:noFill/>
          <a:ln/>
        </p:spPr>
        <p:txBody>
          <a:bodyPr wrap="square" lIns="0" tIns="0" rIns="0" bIns="0" rtlCol="0" anchor="ctr"/>
          <a:lstStyle/>
          <a:p>
            <a:pPr algn="ctr" indent="0" marL="0">
              <a:buNone/>
            </a:pPr>
            <a:r>
              <a:rPr lang="en-US" sz="1400" b="1" dirty="0">
                <a:solidFill>
                  <a:srgbClr val="94A3B8"/>
                </a:solidFill>
                <a:latin typeface="Calibri" pitchFamily="34" charset="0"/>
                <a:ea typeface="Calibri" pitchFamily="34" charset="-122"/>
                <a:cs typeface="Calibri" pitchFamily="34" charset="-120"/>
              </a:rPr>
              <a:t>CLIENT</a:t>
            </a:r>
            <a:endParaRPr lang="en-US" sz="1400" dirty="0"/>
          </a:p>
        </p:txBody>
      </p:sp>
      <p:sp>
        <p:nvSpPr>
          <p:cNvPr id="10" name="Shape 7"/>
          <p:cNvSpPr/>
          <p:nvPr/>
        </p:nvSpPr>
        <p:spPr>
          <a:xfrm>
            <a:off x="4142232" y="2880360"/>
            <a:ext cx="219456" cy="0"/>
          </a:xfrm>
          <a:prstGeom prst="line">
            <a:avLst/>
          </a:prstGeom>
          <a:noFill/>
          <a:ln w="25400">
            <a:solidFill>
              <a:srgbClr val="94A3B8"/>
            </a:solidFill>
            <a:prstDash val="solid"/>
            <a:tailEnd type="triangle"/>
          </a:ln>
        </p:spPr>
      </p:sp>
      <p:sp>
        <p:nvSpPr>
          <p:cNvPr id="11" name="Text 8"/>
          <p:cNvSpPr txBox="1"/>
          <p:nvPr/>
        </p:nvSpPr>
        <p:spPr>
          <a:xfrm>
            <a:off x="4389120" y="2194560"/>
            <a:ext cx="1691640" cy="1371600"/>
          </a:xfrm>
          <a:prstGeom prst="roundRect">
            <a:avLst>
              <a:gd name="adj" fmla="val 6667"/>
            </a:avLst>
          </a:prstGeom>
          <a:solidFill>
            <a:srgbClr val="1E293B"/>
          </a:solidFill>
          <a:ln/>
        </p:spPr>
        <p:txBody>
          <a:bodyPr wrap="square" lIns="50800" tIns="50800" rIns="50800" bIns="50800" rtlCol="0" anchor="ctr"/>
          <a:lstStyle/>
          <a:p>
            <a:pPr algn="ctr" indent="0" marL="0">
              <a:buNone/>
            </a:pPr>
            <a:r>
              <a:rPr lang="en-US" sz="1800" b="1" dirty="0">
                <a:solidFill>
                  <a:srgbClr val="F1F5F9"/>
                </a:solidFill>
                <a:latin typeface="Calibri" pitchFamily="34" charset="0"/>
                <a:ea typeface="Calibri" pitchFamily="34" charset="-122"/>
                <a:cs typeface="Calibri" pitchFamily="34" charset="-120"/>
              </a:rPr>
              <a:t>HTTP</a:t>
            </a:r>
            <a:endParaRPr lang="en-US" sz="1800" dirty="0"/>
          </a:p>
        </p:txBody>
      </p:sp>
      <p:sp>
        <p:nvSpPr>
          <p:cNvPr id="12" name="Text 9"/>
          <p:cNvSpPr txBox="1"/>
          <p:nvPr/>
        </p:nvSpPr>
        <p:spPr>
          <a:xfrm>
            <a:off x="4389120" y="3657600"/>
            <a:ext cx="1691640" cy="274320"/>
          </a:xfrm>
          <a:prstGeom prst="rect">
            <a:avLst/>
          </a:prstGeom>
          <a:noFill/>
          <a:ln/>
        </p:spPr>
        <p:txBody>
          <a:bodyPr wrap="square" lIns="0" tIns="0" rIns="0" bIns="0" rtlCol="0" anchor="ctr"/>
          <a:lstStyle/>
          <a:p>
            <a:pPr algn="ctr" indent="0" marL="0">
              <a:buNone/>
            </a:pPr>
            <a:r>
              <a:rPr lang="en-US" sz="1400" b="1" dirty="0">
                <a:solidFill>
                  <a:srgbClr val="94A3B8"/>
                </a:solidFill>
                <a:latin typeface="Calibri" pitchFamily="34" charset="0"/>
                <a:ea typeface="Calibri" pitchFamily="34" charset="-122"/>
                <a:cs typeface="Calibri" pitchFamily="34" charset="-120"/>
              </a:rPr>
              <a:t>NETWORK</a:t>
            </a:r>
            <a:endParaRPr lang="en-US" sz="1400" dirty="0"/>
          </a:p>
        </p:txBody>
      </p:sp>
      <p:sp>
        <p:nvSpPr>
          <p:cNvPr id="13" name="Shape 10"/>
          <p:cNvSpPr/>
          <p:nvPr/>
        </p:nvSpPr>
        <p:spPr>
          <a:xfrm>
            <a:off x="6108192" y="2880360"/>
            <a:ext cx="219456" cy="0"/>
          </a:xfrm>
          <a:prstGeom prst="line">
            <a:avLst/>
          </a:prstGeom>
          <a:noFill/>
          <a:ln w="25400">
            <a:solidFill>
              <a:srgbClr val="94A3B8"/>
            </a:solidFill>
            <a:prstDash val="solid"/>
            <a:tailEnd type="triangle"/>
          </a:ln>
        </p:spPr>
      </p:sp>
      <p:sp>
        <p:nvSpPr>
          <p:cNvPr id="14" name="Text 11"/>
          <p:cNvSpPr txBox="1"/>
          <p:nvPr/>
        </p:nvSpPr>
        <p:spPr>
          <a:xfrm>
            <a:off x="6355080" y="2194560"/>
            <a:ext cx="1691640" cy="1371600"/>
          </a:xfrm>
          <a:prstGeom prst="roundRect">
            <a:avLst>
              <a:gd name="adj" fmla="val 6667"/>
            </a:avLst>
          </a:prstGeom>
          <a:solidFill>
            <a:srgbClr val="1E293B"/>
          </a:solidFill>
          <a:ln/>
        </p:spPr>
        <p:txBody>
          <a:bodyPr wrap="square" lIns="50800" tIns="50800" rIns="50800" bIns="50800" rtlCol="0" anchor="ctr"/>
          <a:lstStyle/>
          <a:p>
            <a:pPr algn="ctr" indent="0" marL="0">
              <a:buNone/>
            </a:pPr>
            <a:r>
              <a:rPr lang="en-US" sz="1800" b="1" dirty="0">
                <a:solidFill>
                  <a:srgbClr val="F1F5F9"/>
                </a:solidFill>
                <a:latin typeface="Calibri" pitchFamily="34" charset="0"/>
                <a:ea typeface="Calibri" pitchFamily="34" charset="-122"/>
                <a:cs typeface="Calibri" pitchFamily="34" charset="-120"/>
              </a:rPr>
              <a:t>Express route</a:t>
            </a:r>
            <a:endParaRPr lang="en-US" sz="1800" dirty="0"/>
          </a:p>
          <a:p>
            <a:pPr algn="ctr" indent="0" marL="0">
              <a:buNone/>
            </a:pPr>
            <a:r>
              <a:rPr lang="en-US" sz="1400" dirty="0">
                <a:solidFill>
                  <a:srgbClr val="F1F5F9"/>
                </a:solidFill>
                <a:latin typeface="Calibri" pitchFamily="34" charset="0"/>
                <a:ea typeface="Calibri" pitchFamily="34" charset="-122"/>
                <a:cs typeface="Calibri" pitchFamily="34" charset="-120"/>
              </a:rPr>
              <a:t>validate, status codes</a:t>
            </a:r>
            <a:endParaRPr lang="en-US" sz="1800" dirty="0"/>
          </a:p>
        </p:txBody>
      </p:sp>
      <p:sp>
        <p:nvSpPr>
          <p:cNvPr id="15" name="Text 12"/>
          <p:cNvSpPr txBox="1"/>
          <p:nvPr/>
        </p:nvSpPr>
        <p:spPr>
          <a:xfrm>
            <a:off x="6355080" y="3657600"/>
            <a:ext cx="1691640" cy="274320"/>
          </a:xfrm>
          <a:prstGeom prst="rect">
            <a:avLst/>
          </a:prstGeom>
          <a:noFill/>
          <a:ln/>
        </p:spPr>
        <p:txBody>
          <a:bodyPr wrap="square" lIns="0" tIns="0" rIns="0" bIns="0" rtlCol="0" anchor="ctr"/>
          <a:lstStyle/>
          <a:p>
            <a:pPr algn="ctr" indent="0" marL="0">
              <a:buNone/>
            </a:pPr>
            <a:r>
              <a:rPr lang="en-US" sz="1400" b="1" dirty="0">
                <a:solidFill>
                  <a:srgbClr val="94A3B8"/>
                </a:solidFill>
                <a:latin typeface="Calibri" pitchFamily="34" charset="0"/>
                <a:ea typeface="Calibri" pitchFamily="34" charset="-122"/>
                <a:cs typeface="Calibri" pitchFamily="34" charset="-120"/>
              </a:rPr>
              <a:t>SERVER</a:t>
            </a:r>
            <a:endParaRPr lang="en-US" sz="1400" dirty="0"/>
          </a:p>
        </p:txBody>
      </p:sp>
      <p:sp>
        <p:nvSpPr>
          <p:cNvPr id="16" name="Shape 13"/>
          <p:cNvSpPr/>
          <p:nvPr/>
        </p:nvSpPr>
        <p:spPr>
          <a:xfrm>
            <a:off x="8074152" y="2880360"/>
            <a:ext cx="219456" cy="0"/>
          </a:xfrm>
          <a:prstGeom prst="line">
            <a:avLst/>
          </a:prstGeom>
          <a:noFill/>
          <a:ln w="25400">
            <a:solidFill>
              <a:srgbClr val="94A3B8"/>
            </a:solidFill>
            <a:prstDash val="solid"/>
            <a:tailEnd type="triangle"/>
          </a:ln>
        </p:spPr>
      </p:sp>
      <p:sp>
        <p:nvSpPr>
          <p:cNvPr id="17" name="Text 14"/>
          <p:cNvSpPr txBox="1"/>
          <p:nvPr/>
        </p:nvSpPr>
        <p:spPr>
          <a:xfrm>
            <a:off x="8321040" y="2194560"/>
            <a:ext cx="1691640" cy="1371600"/>
          </a:xfrm>
          <a:prstGeom prst="roundRect">
            <a:avLst>
              <a:gd name="adj" fmla="val 6667"/>
            </a:avLst>
          </a:prstGeom>
          <a:solidFill>
            <a:srgbClr val="38BDF8"/>
          </a:solidFill>
          <a:ln/>
        </p:spPr>
        <p:txBody>
          <a:bodyPr wrap="square" lIns="50800" tIns="50800" rIns="50800" bIns="5080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Repository</a:t>
            </a:r>
            <a:endParaRPr lang="en-US" sz="1800" dirty="0"/>
          </a:p>
          <a:p>
            <a:pPr algn="ctr" indent="0" marL="0">
              <a:buNone/>
            </a:pPr>
            <a:r>
              <a:rPr lang="en-US" sz="1400" dirty="0">
                <a:solidFill>
                  <a:srgbClr val="0F172A"/>
                </a:solidFill>
                <a:latin typeface="Calibri" pitchFamily="34" charset="0"/>
                <a:ea typeface="Calibri" pitchFamily="34" charset="-122"/>
                <a:cs typeface="Calibri" pitchFamily="34" charset="-120"/>
              </a:rPr>
              <a:t>SQL lives here</a:t>
            </a:r>
            <a:endParaRPr lang="en-US" sz="1800" dirty="0"/>
          </a:p>
        </p:txBody>
      </p:sp>
      <p:sp>
        <p:nvSpPr>
          <p:cNvPr id="18" name="Text 15"/>
          <p:cNvSpPr txBox="1"/>
          <p:nvPr/>
        </p:nvSpPr>
        <p:spPr>
          <a:xfrm>
            <a:off x="8321040" y="3657600"/>
            <a:ext cx="1691640" cy="274320"/>
          </a:xfrm>
          <a:prstGeom prst="rect">
            <a:avLst/>
          </a:prstGeom>
          <a:noFill/>
          <a:ln/>
        </p:spPr>
        <p:txBody>
          <a:bodyPr wrap="square" lIns="0" tIns="0" rIns="0" bIns="0" rtlCol="0" anchor="ctr"/>
          <a:lstStyle/>
          <a:p>
            <a:pPr algn="ctr" indent="0" marL="0">
              <a:buNone/>
            </a:pPr>
            <a:r>
              <a:rPr lang="en-US" sz="1400" b="1" dirty="0">
                <a:solidFill>
                  <a:srgbClr val="94A3B8"/>
                </a:solidFill>
                <a:latin typeface="Calibri" pitchFamily="34" charset="0"/>
                <a:ea typeface="Calibri" pitchFamily="34" charset="-122"/>
                <a:cs typeface="Calibri" pitchFamily="34" charset="-120"/>
              </a:rPr>
              <a:t>SERVER</a:t>
            </a:r>
            <a:endParaRPr lang="en-US" sz="1400" dirty="0"/>
          </a:p>
        </p:txBody>
      </p:sp>
      <p:sp>
        <p:nvSpPr>
          <p:cNvPr id="19" name="Shape 16"/>
          <p:cNvSpPr/>
          <p:nvPr/>
        </p:nvSpPr>
        <p:spPr>
          <a:xfrm>
            <a:off x="10040112" y="2880360"/>
            <a:ext cx="219456" cy="0"/>
          </a:xfrm>
          <a:prstGeom prst="line">
            <a:avLst/>
          </a:prstGeom>
          <a:noFill/>
          <a:ln w="25400">
            <a:solidFill>
              <a:srgbClr val="94A3B8"/>
            </a:solidFill>
            <a:prstDash val="solid"/>
            <a:tailEnd type="triangle"/>
          </a:ln>
        </p:spPr>
      </p:sp>
      <p:sp>
        <p:nvSpPr>
          <p:cNvPr id="20" name="Text 17"/>
          <p:cNvSpPr txBox="1"/>
          <p:nvPr/>
        </p:nvSpPr>
        <p:spPr>
          <a:xfrm>
            <a:off x="10287000" y="2194560"/>
            <a:ext cx="1691640" cy="1371600"/>
          </a:xfrm>
          <a:prstGeom prst="roundRect">
            <a:avLst>
              <a:gd name="adj" fmla="val 6667"/>
            </a:avLst>
          </a:prstGeom>
          <a:solidFill>
            <a:srgbClr val="1E293B"/>
          </a:solidFill>
          <a:ln/>
        </p:spPr>
        <p:txBody>
          <a:bodyPr wrap="square" lIns="50800" tIns="50800" rIns="50800" bIns="50800" rtlCol="0" anchor="ctr"/>
          <a:lstStyle/>
          <a:p>
            <a:pPr algn="ctr" indent="0" marL="0">
              <a:buNone/>
            </a:pPr>
            <a:r>
              <a:rPr lang="en-US" sz="1800" b="1" dirty="0">
                <a:solidFill>
                  <a:srgbClr val="F1F5F9"/>
                </a:solidFill>
                <a:latin typeface="Calibri" pitchFamily="34" charset="0"/>
                <a:ea typeface="Calibri" pitchFamily="34" charset="-122"/>
                <a:cs typeface="Calibri" pitchFamily="34" charset="-120"/>
              </a:rPr>
              <a:t>Database</a:t>
            </a:r>
            <a:endParaRPr lang="en-US" sz="1800" dirty="0"/>
          </a:p>
          <a:p>
            <a:pPr algn="ctr" indent="0" marL="0">
              <a:buNone/>
            </a:pPr>
            <a:r>
              <a:rPr lang="en-US" sz="1400" dirty="0">
                <a:solidFill>
                  <a:srgbClr val="F1F5F9"/>
                </a:solidFill>
                <a:latin typeface="Calibri" pitchFamily="34" charset="0"/>
                <a:ea typeface="Calibri" pitchFamily="34" charset="-122"/>
                <a:cs typeface="Calibri" pitchFamily="34" charset="-120"/>
              </a:rPr>
              <a:t>stores rows</a:t>
            </a:r>
            <a:endParaRPr lang="en-US" sz="1800" dirty="0"/>
          </a:p>
        </p:txBody>
      </p:sp>
      <p:sp>
        <p:nvSpPr>
          <p:cNvPr id="21" name="Text 18"/>
          <p:cNvSpPr txBox="1"/>
          <p:nvPr/>
        </p:nvSpPr>
        <p:spPr>
          <a:xfrm>
            <a:off x="10287000" y="3657600"/>
            <a:ext cx="1691640" cy="274320"/>
          </a:xfrm>
          <a:prstGeom prst="rect">
            <a:avLst/>
          </a:prstGeom>
          <a:noFill/>
          <a:ln/>
        </p:spPr>
        <p:txBody>
          <a:bodyPr wrap="square" lIns="0" tIns="0" rIns="0" bIns="0" rtlCol="0" anchor="ctr"/>
          <a:lstStyle/>
          <a:p>
            <a:pPr algn="ctr" indent="0" marL="0">
              <a:buNone/>
            </a:pPr>
            <a:r>
              <a:rPr lang="en-US" sz="1400" b="1" dirty="0">
                <a:solidFill>
                  <a:srgbClr val="94A3B8"/>
                </a:solidFill>
                <a:latin typeface="Calibri" pitchFamily="34" charset="0"/>
                <a:ea typeface="Calibri" pitchFamily="34" charset="-122"/>
                <a:cs typeface="Calibri" pitchFamily="34" charset="-120"/>
              </a:rPr>
              <a:t>DB</a:t>
            </a:r>
            <a:endParaRPr lang="en-US" sz="1400" dirty="0"/>
          </a:p>
        </p:txBody>
      </p:sp>
      <p:sp>
        <p:nvSpPr>
          <p:cNvPr id="22" name="Text 19"/>
          <p:cNvSpPr txBox="1"/>
          <p:nvPr/>
        </p:nvSpPr>
        <p:spPr>
          <a:xfrm>
            <a:off x="457200" y="4754880"/>
            <a:ext cx="11247120" cy="548640"/>
          </a:xfrm>
          <a:prstGeom prst="rect">
            <a:avLst/>
          </a:prstGeom>
          <a:noFill/>
          <a:ln/>
        </p:spPr>
        <p:txBody>
          <a:bodyPr wrap="square" lIns="0" tIns="0" rIns="0" bIns="0" rtlCol="0" anchor="ctr"/>
          <a:lstStyle/>
          <a:p>
            <a:pPr algn="ctr" indent="0" marL="0">
              <a:buNone/>
            </a:pPr>
            <a:r>
              <a:rPr lang="en-US" sz="2600" dirty="0">
                <a:solidFill>
                  <a:srgbClr val="F1F5F9"/>
                </a:solidFill>
                <a:latin typeface="Calibri" pitchFamily="34" charset="0"/>
                <a:ea typeface="Calibri" pitchFamily="34" charset="-122"/>
                <a:cs typeface="Calibri" pitchFamily="34" charset="-120"/>
              </a:rPr>
              <a:t>Each layer has one job. SQL lives only in the repository.</a:t>
            </a:r>
            <a:endParaRPr lang="en-US" sz="26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The fetch is identical; React describes the result</a:t>
            </a:r>
            <a:endParaRPr lang="en-US" dirty="0"/>
          </a:p>
        </p:txBody>
      </p:sp>
      <p:sp>
        <p:nvSpPr>
          <p:cNvPr id="4" name="Text 1"/>
          <p:cNvSpPr txBox="1"/>
          <p:nvPr/>
        </p:nvSpPr>
        <p:spPr>
          <a:xfrm>
            <a:off x="457200" y="1600200"/>
            <a:ext cx="11247120" cy="408432"/>
          </a:xfrm>
          <a:prstGeom prst="rect">
            <a:avLst/>
          </a:prstGeom>
          <a:noFill/>
          <a:ln/>
        </p:spPr>
        <p:txBody>
          <a:bodyPr wrap="square" lIns="0" tIns="0" rIns="0" bIns="0" rtlCol="0" anchor="t"/>
          <a:lstStyle/>
          <a:p>
            <a:pPr marL="342900" indent="-342900">
              <a:spcAft>
                <a:spcPts val="600"/>
              </a:spcAft>
              <a:buSzPct val="100000"/>
              <a:buChar char="•"/>
            </a:pPr>
            <a:r>
              <a:rPr lang="en-US" sz="1920" dirty="0">
                <a:solidFill>
                  <a:srgbClr val="F1F5F9"/>
                </a:solidFill>
                <a:latin typeface="Calibri" pitchFamily="34" charset="0"/>
                <a:ea typeface="Calibri" pitchFamily="34" charset="-122"/>
                <a:cs typeface="Calibri" pitchFamily="34" charset="-120"/>
              </a:rPr>
              <a:t>Left, </a:t>
            </a:r>
            <a:pPr indent="0" marL="0">
              <a:spcAft>
                <a:spcPts val="600"/>
              </a:spcAft>
              <a:buNone/>
            </a:pPr>
            <a:r>
              <a:rPr lang="en-US" sz="1920" dirty="0">
                <a:solidFill>
                  <a:srgbClr val="38BDF8"/>
                </a:solidFill>
                <a:latin typeface="Consolas" pitchFamily="34" charset="0"/>
                <a:ea typeface="Consolas" pitchFamily="34" charset="-122"/>
                <a:cs typeface="Consolas" pitchFamily="34" charset="-120"/>
              </a:rPr>
              <a:t>Vanilla JS</a:t>
            </a:r>
            <a:pPr indent="0" marL="0">
              <a:spcAft>
                <a:spcPts val="600"/>
              </a:spcAft>
              <a:buNone/>
            </a:pPr>
            <a:r>
              <a:rPr lang="en-US" sz="1920" dirty="0">
                <a:solidFill>
                  <a:srgbClr val="F1F5F9"/>
                </a:solidFill>
                <a:latin typeface="Calibri" pitchFamily="34" charset="0"/>
                <a:ea typeface="Calibri" pitchFamily="34" charset="-122"/>
                <a:cs typeface="Calibri" pitchFamily="34" charset="-120"/>
              </a:rPr>
              <a:t>:</a:t>
            </a:r>
            <a:endParaRPr lang="en-US" sz="1920" dirty="0"/>
          </a:p>
        </p:txBody>
      </p:sp>
      <p:sp>
        <p:nvSpPr>
          <p:cNvPr id="5" name="Text 2"/>
          <p:cNvSpPr txBox="1"/>
          <p:nvPr/>
        </p:nvSpPr>
        <p:spPr>
          <a:xfrm>
            <a:off x="457200" y="2081784"/>
            <a:ext cx="11247120" cy="1463040"/>
          </a:xfrm>
          <a:prstGeom prst="rect">
            <a:avLst/>
          </a:prstGeom>
          <a:solidFill>
            <a:srgbClr val="1E293B"/>
          </a:solidFill>
          <a:ln/>
        </p:spPr>
        <p:txBody>
          <a:bodyPr wrap="square" lIns="127000" tIns="127000" rIns="127000" bIns="127000" rtlCol="0" anchor="t"/>
          <a:lstStyle/>
          <a:p>
            <a:pPr indent="0" marL="0">
              <a:buNone/>
            </a:pPr>
            <a:r>
              <a:rPr lang="en-US" sz="1440" dirty="0">
                <a:solidFill>
                  <a:srgbClr val="E2E8F0"/>
                </a:solidFill>
                <a:latin typeface="Consolas" pitchFamily="34" charset="0"/>
                <a:ea typeface="Consolas" pitchFamily="34" charset="-122"/>
                <a:cs typeface="Consolas" pitchFamily="34" charset="-120"/>
              </a:rPr>
              <a:t>const res = await fetch("/api/books");</a:t>
            </a:r>
            <a:endParaRPr lang="en-US" sz="1440" dirty="0"/>
          </a:p>
          <a:p>
            <a:pPr indent="0" marL="0">
              <a:buNone/>
            </a:pPr>
            <a:r>
              <a:rPr lang="en-US" sz="1440" dirty="0">
                <a:solidFill>
                  <a:srgbClr val="E2E8F0"/>
                </a:solidFill>
                <a:latin typeface="Consolas" pitchFamily="34" charset="0"/>
                <a:ea typeface="Consolas" pitchFamily="34" charset="-122"/>
                <a:cs typeface="Consolas" pitchFamily="34" charset="-120"/>
              </a:rPr>
              <a:t>const books = await res.json();</a:t>
            </a:r>
            <a:endParaRPr lang="en-US" sz="1440" dirty="0"/>
          </a:p>
          <a:p>
            <a:pPr indent="0" marL="0">
              <a:buNone/>
            </a:pPr>
            <a:r>
              <a:rPr lang="en-US" sz="1440" dirty="0">
                <a:solidFill>
                  <a:srgbClr val="E2E8F0"/>
                </a:solidFill>
                <a:latin typeface="Consolas" pitchFamily="34" charset="0"/>
                <a:ea typeface="Consolas" pitchFamily="34" charset="-122"/>
                <a:cs typeface="Consolas" pitchFamily="34" charset="-120"/>
              </a:rPr>
              <a:t>list.innerHTML = books</a:t>
            </a:r>
            <a:endParaRPr lang="en-US" sz="1440" dirty="0"/>
          </a:p>
          <a:p>
            <a:pPr indent="0" marL="0">
              <a:buNone/>
            </a:pPr>
            <a:r>
              <a:rPr lang="en-US" sz="1440" dirty="0">
                <a:solidFill>
                  <a:srgbClr val="E2E8F0"/>
                </a:solidFill>
                <a:latin typeface="Consolas" pitchFamily="34" charset="0"/>
                <a:ea typeface="Consolas" pitchFamily="34" charset="-122"/>
                <a:cs typeface="Consolas" pitchFamily="34" charset="-120"/>
              </a:rPr>
              <a:t>  .map((b) =&gt; `&lt;li&gt;${b.title}&lt;/li&gt;`)</a:t>
            </a:r>
            <a:endParaRPr lang="en-US" sz="1440" dirty="0"/>
          </a:p>
          <a:p>
            <a:pPr indent="0" marL="0">
              <a:buNone/>
            </a:pPr>
            <a:r>
              <a:rPr lang="en-US" sz="1440" dirty="0">
                <a:solidFill>
                  <a:srgbClr val="E2E8F0"/>
                </a:solidFill>
                <a:latin typeface="Consolas" pitchFamily="34" charset="0"/>
                <a:ea typeface="Consolas" pitchFamily="34" charset="-122"/>
                <a:cs typeface="Consolas" pitchFamily="34" charset="-120"/>
              </a:rPr>
              <a:t>  .join("");</a:t>
            </a:r>
            <a:endParaRPr lang="en-US" sz="1440" dirty="0"/>
          </a:p>
        </p:txBody>
      </p:sp>
      <p:sp>
        <p:nvSpPr>
          <p:cNvPr id="6" name="Text 3"/>
          <p:cNvSpPr txBox="1"/>
          <p:nvPr/>
        </p:nvSpPr>
        <p:spPr>
          <a:xfrm>
            <a:off x="457200" y="3654552"/>
            <a:ext cx="11247120" cy="408432"/>
          </a:xfrm>
          <a:prstGeom prst="rect">
            <a:avLst/>
          </a:prstGeom>
          <a:noFill/>
          <a:ln/>
        </p:spPr>
        <p:txBody>
          <a:bodyPr wrap="square" lIns="0" tIns="0" rIns="0" bIns="0" rtlCol="0" anchor="t"/>
          <a:lstStyle/>
          <a:p>
            <a:pPr marL="342900" indent="-342900">
              <a:spcAft>
                <a:spcPts val="600"/>
              </a:spcAft>
              <a:buSzPct val="100000"/>
              <a:buChar char="•"/>
            </a:pPr>
            <a:r>
              <a:rPr lang="en-US" sz="1920" dirty="0">
                <a:solidFill>
                  <a:srgbClr val="F1F5F9"/>
                </a:solidFill>
                <a:latin typeface="Calibri" pitchFamily="34" charset="0"/>
                <a:ea typeface="Calibri" pitchFamily="34" charset="-122"/>
                <a:cs typeface="Calibri" pitchFamily="34" charset="-120"/>
              </a:rPr>
              <a:t>Right, </a:t>
            </a:r>
            <a:pPr indent="0" marL="0">
              <a:spcAft>
                <a:spcPts val="600"/>
              </a:spcAft>
              <a:buNone/>
            </a:pPr>
            <a:r>
              <a:rPr lang="en-US" sz="1920" dirty="0">
                <a:solidFill>
                  <a:srgbClr val="38BDF8"/>
                </a:solidFill>
                <a:latin typeface="Consolas" pitchFamily="34" charset="0"/>
                <a:ea typeface="Consolas" pitchFamily="34" charset="-122"/>
                <a:cs typeface="Consolas" pitchFamily="34" charset="-120"/>
              </a:rPr>
              <a:t>React (excerpt from 3.9)</a:t>
            </a:r>
            <a:pPr indent="0" marL="0">
              <a:spcAft>
                <a:spcPts val="600"/>
              </a:spcAft>
              <a:buNone/>
            </a:pPr>
            <a:r>
              <a:rPr lang="en-US" sz="1920" dirty="0">
                <a:solidFill>
                  <a:srgbClr val="F1F5F9"/>
                </a:solidFill>
                <a:latin typeface="Calibri" pitchFamily="34" charset="0"/>
                <a:ea typeface="Calibri" pitchFamily="34" charset="-122"/>
                <a:cs typeface="Calibri" pitchFamily="34" charset="-120"/>
              </a:rPr>
              <a:t>:</a:t>
            </a:r>
            <a:endParaRPr lang="en-US" sz="1920" dirty="0"/>
          </a:p>
        </p:txBody>
      </p:sp>
      <p:sp>
        <p:nvSpPr>
          <p:cNvPr id="7" name="Text 4"/>
          <p:cNvSpPr txBox="1"/>
          <p:nvPr/>
        </p:nvSpPr>
        <p:spPr>
          <a:xfrm>
            <a:off x="457200" y="4136136"/>
            <a:ext cx="11247120" cy="1920240"/>
          </a:xfrm>
          <a:prstGeom prst="rect">
            <a:avLst/>
          </a:prstGeom>
          <a:solidFill>
            <a:srgbClr val="1E293B"/>
          </a:solidFill>
          <a:ln/>
        </p:spPr>
        <p:txBody>
          <a:bodyPr wrap="square" lIns="127000" tIns="127000" rIns="127000" bIns="127000" rtlCol="0" anchor="t"/>
          <a:lstStyle/>
          <a:p>
            <a:pPr indent="0" marL="0">
              <a:buNone/>
            </a:pPr>
            <a:r>
              <a:rPr lang="en-US" sz="1440" dirty="0">
                <a:solidFill>
                  <a:srgbClr val="E2E8F0"/>
                </a:solidFill>
                <a:latin typeface="Consolas" pitchFamily="34" charset="0"/>
                <a:ea typeface="Consolas" pitchFamily="34" charset="-122"/>
                <a:cs typeface="Consolas" pitchFamily="34" charset="-120"/>
              </a:rPr>
              <a:t>setBooks(data);</a:t>
            </a:r>
            <a:endParaRPr lang="en-US" sz="1440" dirty="0"/>
          </a:p>
          <a:p>
            <a:pPr indent="0" marL="0">
              <a:buNone/>
            </a:pPr>
            <a:r>
              <a:rPr lang="en-US" sz="1440" dirty="0">
                <a:solidFill>
                  <a:srgbClr val="E2E8F0"/>
                </a:solidFill>
                <a:latin typeface="Consolas" pitchFamily="34" charset="0"/>
                <a:ea typeface="Consolas" pitchFamily="34" charset="-122"/>
                <a:cs typeface="Consolas" pitchFamily="34" charset="-120"/>
              </a:rPr>
              <a:t>// JSX describes the list:</a:t>
            </a:r>
            <a:endParaRPr lang="en-US" sz="1440" dirty="0"/>
          </a:p>
          <a:p>
            <a:pPr indent="0" marL="0">
              <a:buNone/>
            </a:pPr>
            <a:r>
              <a:rPr lang="en-US" sz="1440" dirty="0">
                <a:solidFill>
                  <a:srgbClr val="E2E8F0"/>
                </a:solidFill>
                <a:latin typeface="Consolas" pitchFamily="34" charset="0"/>
                <a:ea typeface="Consolas" pitchFamily="34" charset="-122"/>
                <a:cs typeface="Consolas" pitchFamily="34" charset="-120"/>
              </a:rPr>
              <a:t>&lt;ul&gt;</a:t>
            </a:r>
            <a:endParaRPr lang="en-US" sz="1440" dirty="0"/>
          </a:p>
          <a:p>
            <a:pPr indent="0" marL="0">
              <a:buNone/>
            </a:pPr>
            <a:r>
              <a:rPr lang="en-US" sz="1440" dirty="0">
                <a:solidFill>
                  <a:srgbClr val="E2E8F0"/>
                </a:solidFill>
                <a:latin typeface="Consolas" pitchFamily="34" charset="0"/>
                <a:ea typeface="Consolas" pitchFamily="34" charset="-122"/>
                <a:cs typeface="Consolas" pitchFamily="34" charset="-120"/>
              </a:rPr>
              <a:t>  {books.map((b) =&gt; (</a:t>
            </a:r>
            <a:endParaRPr lang="en-US" sz="1440" dirty="0"/>
          </a:p>
          <a:p>
            <a:pPr indent="0" marL="0">
              <a:buNone/>
            </a:pPr>
            <a:r>
              <a:rPr lang="en-US" sz="1440" dirty="0">
                <a:solidFill>
                  <a:srgbClr val="E2E8F0"/>
                </a:solidFill>
                <a:latin typeface="Consolas" pitchFamily="34" charset="0"/>
                <a:ea typeface="Consolas" pitchFamily="34" charset="-122"/>
                <a:cs typeface="Consolas" pitchFamily="34" charset="-120"/>
              </a:rPr>
              <a:t>    &lt;li key={b.id}&gt;{b.title}&lt;/li&gt;</a:t>
            </a:r>
            <a:endParaRPr lang="en-US" sz="1440" dirty="0"/>
          </a:p>
          <a:p>
            <a:pPr indent="0" marL="0">
              <a:buNone/>
            </a:pPr>
            <a:r>
              <a:rPr lang="en-US" sz="1440" dirty="0">
                <a:solidFill>
                  <a:srgbClr val="E2E8F0"/>
                </a:solidFill>
                <a:latin typeface="Consolas" pitchFamily="34" charset="0"/>
                <a:ea typeface="Consolas" pitchFamily="34" charset="-122"/>
                <a:cs typeface="Consolas" pitchFamily="34" charset="-120"/>
              </a:rPr>
              <a:t>  ))}</a:t>
            </a:r>
            <a:endParaRPr lang="en-US" sz="1440" dirty="0"/>
          </a:p>
          <a:p>
            <a:pPr indent="0" marL="0">
              <a:buNone/>
            </a:pPr>
            <a:r>
              <a:rPr lang="en-US" sz="1440" dirty="0">
                <a:solidFill>
                  <a:srgbClr val="E2E8F0"/>
                </a:solidFill>
                <a:latin typeface="Consolas" pitchFamily="34" charset="0"/>
                <a:ea typeface="Consolas" pitchFamily="34" charset="-122"/>
                <a:cs typeface="Consolas" pitchFamily="34" charset="-120"/>
              </a:rPr>
              <a:t>&lt;/ul&gt;</a:t>
            </a:r>
            <a:endParaRPr lang="en-US" sz="144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Two mistakes break the layering</a:t>
            </a:r>
            <a:endParaRPr lang="en-US" dirty="0"/>
          </a:p>
        </p:txBody>
      </p:sp>
      <p:sp>
        <p:nvSpPr>
          <p:cNvPr id="3" name="Text 1"/>
          <p:cNvSpPr txBox="1"/>
          <p:nvPr/>
        </p:nvSpPr>
        <p:spPr>
          <a:xfrm>
            <a:off x="457200" y="228600"/>
            <a:ext cx="1554480" cy="274320"/>
          </a:xfrm>
          <a:prstGeom prst="roundRect">
            <a:avLst>
              <a:gd name="adj" fmla="val 26667"/>
            </a:avLst>
          </a:prstGeom>
          <a:solidFill>
            <a:srgbClr val="FB7185"/>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MISTAKES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3749040"/>
                <a:gridCol w="3749040"/>
                <a:gridCol w="3749040"/>
              </a:tblGrid>
              <a:tr h="0">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Mistake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Symptom</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Fix</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Import DB driver in React</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Vite: module "externalized for browser compatibility"</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Driver stays on server; React uses fetch</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SQL inside route handlers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80-line handlers, no reuse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Move SQL to a repository</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Try it: trace "Add book" on paper</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TRY IT</a:t>
            </a:r>
            <a:endParaRPr lang="en-US" sz="1200" dirty="0"/>
          </a:p>
        </p:txBody>
      </p:sp>
      <p:sp>
        <p:nvSpPr>
          <p:cNvPr id="5" name="Text 2"/>
          <p:cNvSpPr txBox="1"/>
          <p:nvPr/>
        </p:nvSpPr>
        <p:spPr>
          <a:xfrm>
            <a:off x="457200" y="1600200"/>
            <a:ext cx="11247120" cy="79248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"Name every hop: component → client module → HTTP → route → repository → database → back"</a:t>
            </a:r>
            <a:endParaRPr lang="en-US" sz="2400" dirty="0"/>
          </a:p>
        </p:txBody>
      </p:sp>
      <p:sp>
        <p:nvSpPr>
          <p:cNvPr id="6" name="Text 3"/>
          <p:cNvSpPr txBox="1"/>
          <p:nvPr/>
        </p:nvSpPr>
        <p:spPr>
          <a:xfrm>
            <a:off x="457200" y="2502408"/>
            <a:ext cx="11247120" cy="396240"/>
          </a:xfrm>
          <a:prstGeom prst="rect">
            <a:avLst/>
          </a:prstGeom>
          <a:noFill/>
          <a:ln/>
        </p:spPr>
        <p:txBody>
          <a:bodyPr wrap="square" lIns="0" tIns="0" rIns="0" bIns="0" rtlCol="0" anchor="t"/>
          <a:lstStyle/>
          <a:p>
            <a:pPr indent="0" marL="0">
              <a:buNone/>
            </a:pPr>
            <a:r>
              <a:rPr lang="en-US" sz="2400" b="1" dirty="0">
                <a:solidFill>
                  <a:srgbClr val="F1F5F9"/>
                </a:solidFill>
                <a:latin typeface="Calibri" pitchFamily="34" charset="0"/>
                <a:ea typeface="Calibri" pitchFamily="34" charset="-122"/>
                <a:cs typeface="Calibri" pitchFamily="34" charset="-120"/>
              </a:rPr>
              <a:t>3 minutes</a:t>
            </a:r>
            <a:endParaRPr lang="en-US" sz="2400" dirty="0"/>
          </a:p>
        </p:txBody>
      </p:sp>
      <p:sp>
        <p:nvSpPr>
          <p:cNvPr id="7" name="Text 4"/>
          <p:cNvSpPr txBox="1"/>
          <p:nvPr/>
        </p:nvSpPr>
        <p:spPr>
          <a:xfrm>
            <a:off x="457200" y="3008376"/>
            <a:ext cx="11247120" cy="39624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Done = all six hops named in order</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useState forgets; only servers share</a:t>
            </a:r>
            <a:endParaRPr lang="en-US"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3749040"/>
                <a:gridCol w="3749040"/>
                <a:gridCol w="3749040"/>
              </a:tblGrid>
              <a:tr h="0">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Where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Survives refresh?</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Shared across users?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useState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No</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No</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localStorage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No</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JSON file on server</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Yes (breaks under concurrent writes)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Database on server</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localStorage persists, but only in one browser</a:t>
            </a:r>
            <a:endParaRPr lang="en-US" dirty="0"/>
          </a:p>
        </p:txBody>
      </p:sp>
      <p:sp>
        <p:nvSpPr>
          <p:cNvPr id="4" name="Text 1"/>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src/App.tsx</a:t>
            </a:r>
            <a:endParaRPr lang="en-US" sz="2400" dirty="0"/>
          </a:p>
        </p:txBody>
      </p:sp>
      <p:sp>
        <p:nvSpPr>
          <p:cNvPr id="5" name="Text 2"/>
          <p:cNvSpPr txBox="1"/>
          <p:nvPr/>
        </p:nvSpPr>
        <p:spPr>
          <a:xfrm>
            <a:off x="457200" y="2106168"/>
            <a:ext cx="11247120" cy="26060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const [notes, setNotes] = useState&lt;string[]&gt;(() =&gt;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saved = localStorage.getItem("notes");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return saved ? (JSON.parse(saved) as string[]) :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useEffect(() =&gt;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localStorage.setItem("notes", JSON.stringify(notes));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[notes]);</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Three localStorage traps</a:t>
            </a:r>
            <a:endParaRPr lang="en-US" dirty="0"/>
          </a:p>
        </p:txBody>
      </p:sp>
      <p:sp>
        <p:nvSpPr>
          <p:cNvPr id="3" name="Text 1"/>
          <p:cNvSpPr txBox="1"/>
          <p:nvPr/>
        </p:nvSpPr>
        <p:spPr>
          <a:xfrm>
            <a:off x="457200" y="228600"/>
            <a:ext cx="1554480" cy="274320"/>
          </a:xfrm>
          <a:prstGeom prst="roundRect">
            <a:avLst>
              <a:gd name="adj" fmla="val 26667"/>
            </a:avLst>
          </a:prstGeom>
          <a:solidFill>
            <a:srgbClr val="FB7185"/>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MISTAKES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3749040"/>
                <a:gridCol w="3749040"/>
                <a:gridCol w="3749040"/>
              </a:tblGrid>
              <a:tr h="0">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Mistake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Symptom</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Fix</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Shared data in localStorage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Teammates see nothing</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Shared data goes on a server</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JSON.parse on null</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string | null type error</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Check for null first</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Secrets in localStorage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Any page script can read them</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Don't store secrets there (auth: later lesson)</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Try it: persist, then tamper</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TRY IT</a:t>
            </a:r>
            <a:endParaRPr lang="en-US" sz="1200" dirty="0"/>
          </a:p>
        </p:txBody>
      </p:sp>
      <p:sp>
        <p:nvSpPr>
          <p:cNvPr id="5" name="Text 2"/>
          <p:cNvSpPr txBox="1"/>
          <p:nvPr/>
        </p:nvSpPr>
        <p:spPr>
          <a:xfrm>
            <a:off x="457200" y="1600200"/>
            <a:ext cx="11247120" cy="79248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"Add 3 notes, refresh, then edit the value in DevTools → Application → Local Storage"</a:t>
            </a:r>
            <a:endParaRPr lang="en-US" sz="2400" dirty="0"/>
          </a:p>
        </p:txBody>
      </p:sp>
      <p:sp>
        <p:nvSpPr>
          <p:cNvPr id="6" name="Text 3"/>
          <p:cNvSpPr txBox="1"/>
          <p:nvPr/>
        </p:nvSpPr>
        <p:spPr>
          <a:xfrm>
            <a:off x="457200" y="2502408"/>
            <a:ext cx="11247120" cy="396240"/>
          </a:xfrm>
          <a:prstGeom prst="rect">
            <a:avLst/>
          </a:prstGeom>
          <a:noFill/>
          <a:ln/>
        </p:spPr>
        <p:txBody>
          <a:bodyPr wrap="square" lIns="0" tIns="0" rIns="0" bIns="0" rtlCol="0" anchor="t"/>
          <a:lstStyle/>
          <a:p>
            <a:pPr indent="0" marL="0">
              <a:buNone/>
            </a:pPr>
            <a:r>
              <a:rPr lang="en-US" sz="2400" b="1" dirty="0">
                <a:solidFill>
                  <a:srgbClr val="F1F5F9"/>
                </a:solidFill>
                <a:latin typeface="Calibri" pitchFamily="34" charset="0"/>
                <a:ea typeface="Calibri" pitchFamily="34" charset="-122"/>
                <a:cs typeface="Calibri" pitchFamily="34" charset="-120"/>
              </a:rPr>
              <a:t>3 minutes</a:t>
            </a:r>
            <a:endParaRPr lang="en-US" sz="2400" dirty="0"/>
          </a:p>
        </p:txBody>
      </p:sp>
      <p:sp>
        <p:nvSpPr>
          <p:cNvPr id="7" name="Text 4"/>
          <p:cNvSpPr txBox="1"/>
          <p:nvPr/>
        </p:nvSpPr>
        <p:spPr>
          <a:xfrm>
            <a:off x="457200" y="3008376"/>
            <a:ext cx="11247120" cy="39624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Done = notes survive refresh and you changed them by hand</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Databases come in four families</a:t>
            </a:r>
            <a:endParaRPr lang="en-US" dirty="0"/>
          </a:p>
        </p:txBody>
      </p:sp>
      <p:sp>
        <p:nvSpPr>
          <p:cNvPr id="4" name="Text 1"/>
          <p:cNvSpPr txBox="1"/>
          <p:nvPr/>
        </p:nvSpPr>
        <p:spPr>
          <a:xfrm>
            <a:off x="457200" y="1600200"/>
            <a:ext cx="11247120" cy="1950720"/>
          </a:xfrm>
          <a:prstGeom prst="rect">
            <a:avLst/>
          </a:prstGeom>
          <a:noFill/>
          <a:ln/>
        </p:spPr>
        <p:txBody>
          <a:bodyPr wrap="square" lIns="0" tIns="0" rIns="0" bIns="0" rtlCol="0" anchor="t"/>
          <a:lstStyle/>
          <a:p>
            <a:pPr marL="342900" indent="-342900">
              <a:spcAft>
                <a:spcPts val="600"/>
              </a:spcAft>
              <a:buSzPct val="100000"/>
              <a:buChar char="•"/>
            </a:pPr>
            <a:r>
              <a:rPr lang="en-US" sz="2400" b="1" dirty="0">
                <a:solidFill>
                  <a:srgbClr val="F1F5F9"/>
                </a:solidFill>
                <a:latin typeface="Calibri" pitchFamily="34" charset="0"/>
                <a:ea typeface="Calibri" pitchFamily="34" charset="-122"/>
                <a:cs typeface="Calibri" pitchFamily="34" charset="-120"/>
              </a:rPr>
              <a:t>Relational (SQL):</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tables, fixed schema</a:t>
            </a:r>
            <a:endParaRPr lang="en-US" sz="2400" dirty="0"/>
          </a:p>
          <a:p>
            <a:pPr marL="342900" indent="-342900">
              <a:spcAft>
                <a:spcPts val="600"/>
              </a:spcAft>
              <a:buSzPct val="100000"/>
              <a:buChar char="•"/>
            </a:pPr>
            <a:r>
              <a:rPr lang="en-US" sz="2400" b="1" dirty="0">
                <a:solidFill>
                  <a:srgbClr val="F1F5F9"/>
                </a:solidFill>
                <a:latin typeface="Calibri" pitchFamily="34" charset="0"/>
                <a:ea typeface="Calibri" pitchFamily="34" charset="-122"/>
                <a:cs typeface="Calibri" pitchFamily="34" charset="-120"/>
              </a:rPr>
              <a:t>Document:</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flexible JSON-like documents</a:t>
            </a:r>
            <a:endParaRPr lang="en-US" sz="2400" dirty="0"/>
          </a:p>
          <a:p>
            <a:pPr marL="342900" indent="-342900">
              <a:spcAft>
                <a:spcPts val="600"/>
              </a:spcAft>
              <a:buSzPct val="100000"/>
              <a:buChar char="•"/>
            </a:pPr>
            <a:r>
              <a:rPr lang="en-US" sz="2400" b="1" dirty="0">
                <a:solidFill>
                  <a:srgbClr val="F1F5F9"/>
                </a:solidFill>
                <a:latin typeface="Calibri" pitchFamily="34" charset="0"/>
                <a:ea typeface="Calibri" pitchFamily="34" charset="-122"/>
                <a:cs typeface="Calibri" pitchFamily="34" charset="-120"/>
              </a:rPr>
              <a:t>Key-value:</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key maps to value; fast cache</a:t>
            </a:r>
            <a:endParaRPr lang="en-US" sz="2400" dirty="0"/>
          </a:p>
          <a:p>
            <a:pPr marL="342900" indent="-342900">
              <a:spcAft>
                <a:spcPts val="600"/>
              </a:spcAft>
              <a:buSzPct val="100000"/>
              <a:buChar char="•"/>
            </a:pPr>
            <a:r>
              <a:rPr lang="en-US" sz="2400" b="1" dirty="0">
                <a:solidFill>
                  <a:srgbClr val="F1F5F9"/>
                </a:solidFill>
                <a:latin typeface="Calibri" pitchFamily="34" charset="0"/>
                <a:ea typeface="Calibri" pitchFamily="34" charset="-122"/>
                <a:cs typeface="Calibri" pitchFamily="34" charset="-120"/>
              </a:rPr>
              <a:t>BaaS:</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hosted database plus API</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Same data, two shapes</a:t>
            </a:r>
            <a:endParaRPr lang="en-US" dirty="0"/>
          </a:p>
        </p:txBody>
      </p:sp>
      <p:sp>
        <p:nvSpPr>
          <p:cNvPr id="4" name="Text 1"/>
          <p:cNvSpPr txBox="1"/>
          <p:nvPr/>
        </p:nvSpPr>
        <p:spPr>
          <a:xfrm>
            <a:off x="457200" y="1600200"/>
            <a:ext cx="11247120" cy="48768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Left,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Relational: two linked tables</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a:t>
            </a:r>
            <a:endParaRPr lang="en-US" sz="2400" dirty="0"/>
          </a:p>
        </p:txBody>
      </p:sp>
      <p:sp>
        <p:nvSpPr>
          <p:cNvPr id="5" name="Text 2"/>
          <p:cNvSpPr txBox="1"/>
          <p:nvPr/>
        </p:nvSpPr>
        <p:spPr>
          <a:xfrm>
            <a:off x="457200" y="2161032"/>
            <a:ext cx="11247120" cy="8915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books(id, title)</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reviews(id, book_id, rating)</a:t>
            </a:r>
            <a:endParaRPr lang="en-US" sz="1800" dirty="0"/>
          </a:p>
        </p:txBody>
      </p:sp>
      <p:sp>
        <p:nvSpPr>
          <p:cNvPr id="6" name="Text 3"/>
          <p:cNvSpPr txBox="1"/>
          <p:nvPr/>
        </p:nvSpPr>
        <p:spPr>
          <a:xfrm>
            <a:off x="457200" y="3162300"/>
            <a:ext cx="11247120" cy="48768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Right,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Document: one nested object</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a:t>
            </a:r>
            <a:endParaRPr lang="en-US" sz="2400" dirty="0"/>
          </a:p>
        </p:txBody>
      </p:sp>
      <p:sp>
        <p:nvSpPr>
          <p:cNvPr id="7" name="Text 4"/>
          <p:cNvSpPr txBox="1"/>
          <p:nvPr/>
        </p:nvSpPr>
        <p:spPr>
          <a:xfrm>
            <a:off x="457200" y="3723132"/>
            <a:ext cx="11247120" cy="14630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const bookDoc =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title: "Dune",</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reviews: [{ rating: 5 }, { rating: 4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Relational options: SQLite, PostgreSQL, MySQL</a:t>
            </a:r>
            <a:endParaRPr lang="en-US"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3749040"/>
                <a:gridCol w="3749040"/>
                <a:gridCol w="3749040"/>
              </a:tblGrid>
              <a:tr h="0">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Option</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Best for</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Trade-off</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SQLite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Learning, prototypes, small apps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Limited for many concurrent writers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PostgreSQL</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Most production web apps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You run or rent a server</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MySQL / MariaDB</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Widely hosted web apps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Fewer advanced features than Postgres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Other options: MongoDB, Redis, BaaS</a:t>
            </a:r>
            <a:endParaRPr lang="en-US"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3749040"/>
                <a:gridCol w="3749040"/>
                <a:gridCol w="3749040"/>
              </a:tblGrid>
              <a:tr h="0">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Option</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Best for</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Trade-off</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MongoDB</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Varied or evolving shapes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Relationships are your job</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Redis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Caching, sessions, queues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Not a primary relational store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Firebase / Supabase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Fast MVPs, real-time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Vendor lock-in</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When unsure, start relational</a:t>
            </a:r>
            <a:endParaRPr lang="en-US" dirty="0"/>
          </a:p>
        </p:txBody>
      </p:sp>
      <p:sp>
        <p:nvSpPr>
          <p:cNvPr id="4" name="Text 1"/>
          <p:cNvSpPr txBox="1"/>
          <p:nvPr/>
        </p:nvSpPr>
        <p:spPr>
          <a:xfrm>
            <a:off x="457200" y="1600200"/>
            <a:ext cx="11247120" cy="24384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Structured, related, consistency-critical? Relational</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Varied shapes read whole? Document</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Very fast, short-lived data? Key-value</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Need auth and real-time fast? BaaS</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Unsure? Start relational</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BookShelf uses SQLite</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DB</a:t>
            </a:r>
            <a:endParaRPr lang="en-US" sz="1200" dirty="0"/>
          </a:p>
        </p:txBody>
      </p:sp>
      <p:sp>
        <p:nvSpPr>
          <p:cNvPr id="5" name="Text 2"/>
          <p:cNvSpPr txBox="1"/>
          <p:nvPr/>
        </p:nvSpPr>
        <p:spPr>
          <a:xfrm>
            <a:off x="457200" y="1600200"/>
            <a:ext cx="11247120" cy="146304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Books and reviews are structured and related</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Zero setup: the database is one file</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Repository layer keeps a later move cheap</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Three ways teams pick the wrong database</a:t>
            </a:r>
            <a:endParaRPr lang="en-US" dirty="0"/>
          </a:p>
        </p:txBody>
      </p:sp>
      <p:sp>
        <p:nvSpPr>
          <p:cNvPr id="3" name="Text 1"/>
          <p:cNvSpPr txBox="1"/>
          <p:nvPr/>
        </p:nvSpPr>
        <p:spPr>
          <a:xfrm>
            <a:off x="457200" y="228600"/>
            <a:ext cx="1554480" cy="274320"/>
          </a:xfrm>
          <a:prstGeom prst="roundRect">
            <a:avLst>
              <a:gd name="adj" fmla="val 26667"/>
            </a:avLst>
          </a:prstGeom>
          <a:solidFill>
            <a:srgbClr val="FB7185"/>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MISTAKES</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3749040"/>
                <a:gridCol w="3749040"/>
                <a:gridCol w="3749040"/>
              </a:tblGrid>
              <a:tr h="0">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Mistake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Symptom</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Fix</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MongoDB "because it's JSON"</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Hand-written joins and checks later</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Choose by data shape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Distributed DB for ten users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More ops than product work</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Start simple; measure first</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SQLite on ephemeral disk</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Data vanishes on redeploy</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Persistent storage or hosted Postgres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Try it: pick a database</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TRY IT</a:t>
            </a:r>
            <a:endParaRPr lang="en-US" sz="1200" dirty="0"/>
          </a:p>
        </p:txBody>
      </p:sp>
      <p:sp>
        <p:nvSpPr>
          <p:cNvPr id="5" name="Text 2"/>
          <p:cNvSpPr txBox="1"/>
          <p:nvPr/>
        </p:nvSpPr>
        <p:spPr>
          <a:xfrm>
            <a:off x="457200" y="1600200"/>
            <a:ext cx="11247120" cy="79248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"Pick an app. Write entities, relationships, a database family, one reason."</a:t>
            </a:r>
            <a:endParaRPr lang="en-US" sz="2400" dirty="0"/>
          </a:p>
        </p:txBody>
      </p:sp>
      <p:sp>
        <p:nvSpPr>
          <p:cNvPr id="6" name="Text 3"/>
          <p:cNvSpPr txBox="1"/>
          <p:nvPr/>
        </p:nvSpPr>
        <p:spPr>
          <a:xfrm>
            <a:off x="457200" y="2502408"/>
            <a:ext cx="11247120" cy="396240"/>
          </a:xfrm>
          <a:prstGeom prst="rect">
            <a:avLst/>
          </a:prstGeom>
          <a:noFill/>
          <a:ln/>
        </p:spPr>
        <p:txBody>
          <a:bodyPr wrap="square" lIns="0" tIns="0" rIns="0" bIns="0" rtlCol="0" anchor="t"/>
          <a:lstStyle/>
          <a:p>
            <a:pPr indent="0" marL="0">
              <a:buNone/>
            </a:pPr>
            <a:r>
              <a:rPr lang="en-US" sz="2400" b="1" dirty="0">
                <a:solidFill>
                  <a:srgbClr val="F1F5F9"/>
                </a:solidFill>
                <a:latin typeface="Calibri" pitchFamily="34" charset="0"/>
                <a:ea typeface="Calibri" pitchFamily="34" charset="-122"/>
                <a:cs typeface="Calibri" pitchFamily="34" charset="-120"/>
              </a:rPr>
              <a:t>5 minutes, in pairs</a:t>
            </a:r>
            <a:endParaRPr lang="en-US" sz="2400" dirty="0"/>
          </a:p>
        </p:txBody>
      </p:sp>
      <p:sp>
        <p:nvSpPr>
          <p:cNvPr id="7" name="Text 4"/>
          <p:cNvSpPr txBox="1"/>
          <p:nvPr/>
        </p:nvSpPr>
        <p:spPr>
          <a:xfrm>
            <a:off x="457200" y="3008376"/>
            <a:ext cx="11247120" cy="39624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Done = all four written down</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Entities become tables, rows, columns, keys</a:t>
            </a:r>
            <a:endParaRPr lang="en-US" dirty="0"/>
          </a:p>
        </p:txBody>
      </p:sp>
      <p:sp>
        <p:nvSpPr>
          <p:cNvPr id="4" name="Text 1"/>
          <p:cNvSpPr txBox="1"/>
          <p:nvPr/>
        </p:nvSpPr>
        <p:spPr>
          <a:xfrm>
            <a:off x="457200" y="1600200"/>
            <a:ext cx="11247120" cy="195072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Entity → table; record → row; field → column</a:t>
            </a:r>
            <a:endParaRPr lang="en-US" sz="2400" dirty="0"/>
          </a:p>
          <a:p>
            <a:pPr marL="342900" indent="-342900">
              <a:spcAft>
                <a:spcPts val="600"/>
              </a:spcAft>
              <a:buSzPct val="100000"/>
              <a:buChar char="•"/>
            </a:pPr>
            <a:r>
              <a:rPr lang="en-US" sz="2400" b="1" dirty="0">
                <a:solidFill>
                  <a:srgbClr val="F1F5F9"/>
                </a:solidFill>
                <a:latin typeface="Calibri" pitchFamily="34" charset="0"/>
                <a:ea typeface="Calibri" pitchFamily="34" charset="-122"/>
                <a:cs typeface="Calibri" pitchFamily="34" charset="-120"/>
              </a:rPr>
              <a:t>Primary key:</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unique ID per row</a:t>
            </a:r>
            <a:endParaRPr lang="en-US" sz="2400" dirty="0"/>
          </a:p>
          <a:p>
            <a:pPr marL="342900" indent="-342900">
              <a:spcAft>
                <a:spcPts val="600"/>
              </a:spcAft>
              <a:buSzPct val="100000"/>
              <a:buChar char="•"/>
            </a:pPr>
            <a:r>
              <a:rPr lang="en-US" sz="2400" b="1" dirty="0">
                <a:solidFill>
                  <a:srgbClr val="F1F5F9"/>
                </a:solidFill>
                <a:latin typeface="Calibri" pitchFamily="34" charset="0"/>
                <a:ea typeface="Calibri" pitchFamily="34" charset="-122"/>
                <a:cs typeface="Calibri" pitchFamily="34" charset="-120"/>
              </a:rPr>
              <a:t>Foreign key:</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another table's primary key</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BookShelf: one book has many reviews</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One book travels in three shapes</a:t>
            </a:r>
            <a:endParaRPr lang="en-US"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5623560"/>
                <a:gridCol w="5623560"/>
              </a:tblGrid>
              <a:tr h="0">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Shape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Used for</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BookRow (snake_case)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What SQLite returns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Book (camelCase)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What the client receives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NewBook / BookPatch</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Input; no id, no timestamp</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BookRow mirrors the table exactly</a:t>
            </a:r>
            <a:endParaRPr lang="en-US" dirty="0"/>
          </a:p>
        </p:txBody>
      </p:sp>
      <p:sp>
        <p:nvSpPr>
          <p:cNvPr id="4" name="Text 1"/>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server/src/types.ts</a:t>
            </a:r>
            <a:endParaRPr lang="en-US" sz="2400" dirty="0"/>
          </a:p>
        </p:txBody>
      </p:sp>
      <p:sp>
        <p:nvSpPr>
          <p:cNvPr id="5" name="Text 2"/>
          <p:cNvSpPr txBox="1"/>
          <p:nvPr/>
        </p:nvSpPr>
        <p:spPr>
          <a:xfrm>
            <a:off x="457200" y="2106168"/>
            <a:ext cx="11247120" cy="28917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export type BookStatus = "to-read" | "reading" | "done";</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export interface BookRow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id: number;</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title: string;</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author: string;</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status: BookStatus;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created_at: string;</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Book is what the outside world sees</a:t>
            </a:r>
            <a:endParaRPr lang="en-US" dirty="0"/>
          </a:p>
        </p:txBody>
      </p:sp>
      <p:sp>
        <p:nvSpPr>
          <p:cNvPr id="4" name="Text 1"/>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server/src/types.ts</a:t>
            </a:r>
            <a:pPr indent="0" marL="0">
              <a:buNone/>
            </a:pPr>
            <a:r>
              <a:rPr lang="en-US" sz="2400" dirty="0">
                <a:solidFill>
                  <a:srgbClr val="F1F5F9"/>
                </a:solidFill>
                <a:latin typeface="Calibri" pitchFamily="34" charset="0"/>
                <a:ea typeface="Calibri" pitchFamily="34" charset="-122"/>
                <a:cs typeface="Calibri" pitchFamily="34" charset="-120"/>
              </a:rPr>
              <a:t> (formatting condensed to fit; same types)</a:t>
            </a:r>
            <a:endParaRPr lang="en-US" sz="2400" dirty="0"/>
          </a:p>
        </p:txBody>
      </p:sp>
      <p:sp>
        <p:nvSpPr>
          <p:cNvPr id="5" name="Text 2"/>
          <p:cNvSpPr txBox="1"/>
          <p:nvPr/>
        </p:nvSpPr>
        <p:spPr>
          <a:xfrm>
            <a:off x="457200" y="2106168"/>
            <a:ext cx="11247120" cy="28917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export interface Book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id: number; title: string; author: string;</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status: BookStatus; createdAt: string;</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export interface NewBook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title: string; author: string;</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status?: BookStatus;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export type BookPatch = Partial&lt;NewBook&gt;;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Three typing mistakes at the data boundary</a:t>
            </a:r>
            <a:endParaRPr lang="en-US" dirty="0"/>
          </a:p>
        </p:txBody>
      </p:sp>
      <p:sp>
        <p:nvSpPr>
          <p:cNvPr id="3" name="Text 1"/>
          <p:cNvSpPr txBox="1"/>
          <p:nvPr/>
        </p:nvSpPr>
        <p:spPr>
          <a:xfrm>
            <a:off x="457200" y="228600"/>
            <a:ext cx="1554480" cy="274320"/>
          </a:xfrm>
          <a:prstGeom prst="roundRect">
            <a:avLst>
              <a:gd name="adj" fmla="val 26667"/>
            </a:avLst>
          </a:prstGeom>
          <a:solidFill>
            <a:srgbClr val="FB7185"/>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MISTAKES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3749040"/>
                <a:gridCol w="3749040"/>
                <a:gridCol w="3749040"/>
              </a:tblGrid>
              <a:tr h="0">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Mistake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Symptom</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Fix</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One type for everything</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created_at and createdAt both in React</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Separate row, domain, input types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res.json() as Book[] as proof</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UI crashes on null title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A cast is a promise; validate at the server</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List in one text column</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Can't query items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Related table (or array in a document DB)</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Try it: add a Review type</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TRY IT</a:t>
            </a:r>
            <a:endParaRPr lang="en-US" sz="1200" dirty="0"/>
          </a:p>
        </p:txBody>
      </p:sp>
      <p:sp>
        <p:nvSpPr>
          <p:cNvPr id="5" name="Text 2"/>
          <p:cNvSpPr txBox="1"/>
          <p:nvPr/>
        </p:nvSpPr>
        <p:spPr>
          <a:xfrm>
            <a:off x="457200" y="1600200"/>
            <a:ext cx="11247120" cy="79248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"Add </a:t>
            </a:r>
            <a:pPr indent="0" marL="0">
              <a:buNone/>
            </a:pPr>
            <a:r>
              <a:rPr lang="en-US" sz="2400" dirty="0">
                <a:solidFill>
                  <a:srgbClr val="38BDF8"/>
                </a:solidFill>
                <a:latin typeface="Consolas" pitchFamily="34" charset="0"/>
                <a:ea typeface="Consolas" pitchFamily="34" charset="-122"/>
                <a:cs typeface="Consolas" pitchFamily="34" charset="-120"/>
              </a:rPr>
              <a:t>Review</a:t>
            </a:r>
            <a:pPr indent="0" marL="0">
              <a:buNone/>
            </a:pPr>
            <a:r>
              <a:rPr lang="en-US" sz="2400" dirty="0">
                <a:solidFill>
                  <a:srgbClr val="F1F5F9"/>
                </a:solidFill>
                <a:latin typeface="Calibri" pitchFamily="34" charset="0"/>
                <a:ea typeface="Calibri" pitchFamily="34" charset="-122"/>
                <a:cs typeface="Calibri" pitchFamily="34" charset="-120"/>
              </a:rPr>
              <a:t> row type and camelCase </a:t>
            </a:r>
            <a:pPr indent="0" marL="0">
              <a:buNone/>
            </a:pPr>
            <a:r>
              <a:rPr lang="en-US" sz="2400" dirty="0">
                <a:solidFill>
                  <a:srgbClr val="38BDF8"/>
                </a:solidFill>
                <a:latin typeface="Consolas" pitchFamily="34" charset="0"/>
                <a:ea typeface="Consolas" pitchFamily="34" charset="-122"/>
                <a:cs typeface="Consolas" pitchFamily="34" charset="-120"/>
              </a:rPr>
              <a:t>Review</a:t>
            </a:r>
            <a:pPr indent="0" marL="0">
              <a:buNone/>
            </a:pPr>
            <a:r>
              <a:rPr lang="en-US" sz="2400" dirty="0">
                <a:solidFill>
                  <a:srgbClr val="F1F5F9"/>
                </a:solidFill>
                <a:latin typeface="Calibri" pitchFamily="34" charset="0"/>
                <a:ea typeface="Calibri" pitchFamily="34" charset="-122"/>
                <a:cs typeface="Calibri" pitchFamily="34" charset="-120"/>
              </a:rPr>
              <a:t> type. Which field is the foreign key?"</a:t>
            </a:r>
            <a:endParaRPr lang="en-US" sz="2400" dirty="0"/>
          </a:p>
        </p:txBody>
      </p:sp>
      <p:sp>
        <p:nvSpPr>
          <p:cNvPr id="6" name="Text 3"/>
          <p:cNvSpPr txBox="1"/>
          <p:nvPr/>
        </p:nvSpPr>
        <p:spPr>
          <a:xfrm>
            <a:off x="457200" y="2502408"/>
            <a:ext cx="11247120" cy="396240"/>
          </a:xfrm>
          <a:prstGeom prst="rect">
            <a:avLst/>
          </a:prstGeom>
          <a:noFill/>
          <a:ln/>
        </p:spPr>
        <p:txBody>
          <a:bodyPr wrap="square" lIns="0" tIns="0" rIns="0" bIns="0" rtlCol="0" anchor="t"/>
          <a:lstStyle/>
          <a:p>
            <a:pPr indent="0" marL="0">
              <a:buNone/>
            </a:pPr>
            <a:r>
              <a:rPr lang="en-US" sz="2400" b="1" dirty="0">
                <a:solidFill>
                  <a:srgbClr val="F1F5F9"/>
                </a:solidFill>
                <a:latin typeface="Calibri" pitchFamily="34" charset="0"/>
                <a:ea typeface="Calibri" pitchFamily="34" charset="-122"/>
                <a:cs typeface="Calibri" pitchFamily="34" charset="-120"/>
              </a:rPr>
              <a:t>4 minutes</a:t>
            </a:r>
            <a:endParaRPr lang="en-US" sz="2400" dirty="0"/>
          </a:p>
        </p:txBody>
      </p:sp>
      <p:sp>
        <p:nvSpPr>
          <p:cNvPr id="7" name="Text 4"/>
          <p:cNvSpPr txBox="1"/>
          <p:nvPr/>
        </p:nvSpPr>
        <p:spPr>
          <a:xfrm>
            <a:off x="457200" y="3008376"/>
            <a:ext cx="11247120" cy="39624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Done = both types written; </a:t>
            </a:r>
            <a:pPr indent="0" marL="0">
              <a:buNone/>
            </a:pPr>
            <a:r>
              <a:rPr lang="en-US" sz="2400" dirty="0">
                <a:solidFill>
                  <a:srgbClr val="38BDF8"/>
                </a:solidFill>
                <a:latin typeface="Consolas" pitchFamily="34" charset="0"/>
                <a:ea typeface="Consolas" pitchFamily="34" charset="-122"/>
                <a:cs typeface="Consolas" pitchFamily="34" charset="-120"/>
              </a:rPr>
              <a:t>book_id</a:t>
            </a:r>
            <a:pPr indent="0" marL="0">
              <a:buNone/>
            </a:pPr>
            <a:r>
              <a:rPr lang="en-US" sz="2400" dirty="0">
                <a:solidFill>
                  <a:srgbClr val="F1F5F9"/>
                </a:solidFill>
                <a:latin typeface="Calibri" pitchFamily="34" charset="0"/>
                <a:ea typeface="Calibri" pitchFamily="34" charset="-122"/>
                <a:cs typeface="Calibri" pitchFamily="34" charset="-120"/>
              </a:rPr>
              <a:t> identified</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SQLite is a database in one file</a:t>
            </a:r>
            <a:endParaRPr lang="en-US" dirty="0"/>
          </a:p>
        </p:txBody>
      </p:sp>
      <p:sp>
        <p:nvSpPr>
          <p:cNvPr id="4" name="Text 1"/>
          <p:cNvSpPr txBox="1"/>
          <p:nvPr/>
        </p:nvSpPr>
        <p:spPr>
          <a:xfrm>
            <a:off x="457200" y="1600200"/>
            <a:ext cx="11247120" cy="146304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38BDF8"/>
                </a:solidFill>
                <a:latin typeface="Consolas" pitchFamily="34" charset="0"/>
                <a:ea typeface="Consolas" pitchFamily="34" charset="-122"/>
                <a:cs typeface="Consolas" pitchFamily="34" charset="-120"/>
              </a:rPr>
              <a:t>better-sqlite3</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synchronous, no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await</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The file is the whole database</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Schema = TypeScript interface for storage</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Version note: check before you install</a:t>
            </a:r>
            <a:endParaRPr lang="en-US" dirty="0"/>
          </a:p>
        </p:txBody>
      </p:sp>
      <p:sp>
        <p:nvSpPr>
          <p:cNvPr id="3" name="Text 1"/>
          <p:cNvSpPr txBox="1"/>
          <p:nvPr/>
        </p:nvSpPr>
        <p:spPr>
          <a:xfrm>
            <a:off x="457200" y="228600"/>
            <a:ext cx="1554480" cy="274320"/>
          </a:xfrm>
          <a:prstGeom prst="roundRect">
            <a:avLst>
              <a:gd name="adj" fmla="val 26667"/>
            </a:avLst>
          </a:prstGeom>
          <a:solidFill>
            <a:srgbClr val="F97316"/>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VERSION NOTE</a:t>
            </a:r>
            <a:endParaRPr lang="en-US" sz="1200" dirty="0"/>
          </a:p>
        </p:txBody>
      </p:sp>
      <p:sp>
        <p:nvSpPr>
          <p:cNvPr id="5" name="Text 2"/>
          <p:cNvSpPr txBox="1"/>
          <p:nvPr/>
        </p:nvSpPr>
        <p:spPr>
          <a:xfrm>
            <a:off x="457200" y="1600200"/>
            <a:ext cx="11247120" cy="195072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Express 5 forwards handler errors automatically</a:t>
            </a:r>
            <a:endParaRPr lang="en-US" sz="2400" dirty="0"/>
          </a:p>
          <a:p>
            <a:pPr marL="342900" indent="-342900">
              <a:spcAft>
                <a:spcPts val="600"/>
              </a:spcAft>
              <a:buSzPct val="100000"/>
              <a:buChar char="•"/>
            </a:pPr>
            <a:r>
              <a:rPr lang="en-US" sz="2400" dirty="0">
                <a:solidFill>
                  <a:srgbClr val="38BDF8"/>
                </a:solidFill>
                <a:latin typeface="Consolas" pitchFamily="34" charset="0"/>
                <a:ea typeface="Consolas" pitchFamily="34" charset="-122"/>
                <a:cs typeface="Consolas" pitchFamily="34" charset="-120"/>
              </a:rPr>
              <a:t>better-sqlite3</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is native: check Node support</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Node's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node:sqlite</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is experimental: verify</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Enable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esModuleInterop</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for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import express</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Install the server dependencies</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bookshelf/server</a:t>
            </a:r>
            <a:pPr indent="0" marL="0">
              <a:buNone/>
            </a:pPr>
            <a:r>
              <a:rPr lang="en-US" sz="2400" dirty="0">
                <a:solidFill>
                  <a:srgbClr val="F1F5F9"/>
                </a:solidFill>
                <a:latin typeface="Calibri" pitchFamily="34" charset="0"/>
                <a:ea typeface="Calibri" pitchFamily="34" charset="-122"/>
                <a:cs typeface="Calibri" pitchFamily="34" charset="-120"/>
              </a:rPr>
              <a:t> (terminal)</a:t>
            </a:r>
            <a:endParaRPr lang="en-US" sz="2400" dirty="0"/>
          </a:p>
        </p:txBody>
      </p:sp>
      <p:sp>
        <p:nvSpPr>
          <p:cNvPr id="6" name="Text 3"/>
          <p:cNvSpPr txBox="1"/>
          <p:nvPr/>
        </p:nvSpPr>
        <p:spPr>
          <a:xfrm>
            <a:off x="457200" y="2106168"/>
            <a:ext cx="11247120" cy="14630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npm init -y</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npm install express better-sqlite3</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npm install -D typescript tsx @types/express @types/node @types/better-sqlite3</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run: npx tsx watch src/index.ts</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Open the file and turn on foreign keys</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server/src/db.ts</a:t>
            </a:r>
            <a:endParaRPr lang="en-US" sz="2400" dirty="0"/>
          </a:p>
        </p:txBody>
      </p:sp>
      <p:sp>
        <p:nvSpPr>
          <p:cNvPr id="6" name="Text 3"/>
          <p:cNvSpPr txBox="1"/>
          <p:nvPr/>
        </p:nvSpPr>
        <p:spPr>
          <a:xfrm>
            <a:off x="457200" y="2106168"/>
            <a:ext cx="11247120" cy="20345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import Database from "better-sqlite3";</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const db = new Database("bookshelf.db");</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db.pragma("journal_mode = WAL");</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db.pragma("foreign_keys = ON");</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The books table enforces its own rules</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DB</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server/src/db.ts</a:t>
            </a:r>
            <a:pPr indent="0" marL="0">
              <a:buNone/>
            </a:pPr>
            <a:r>
              <a:rPr lang="en-US" sz="2400" dirty="0">
                <a:solidFill>
                  <a:srgbClr val="F1F5F9"/>
                </a:solidFill>
                <a:latin typeface="Calibri" pitchFamily="34" charset="0"/>
                <a:ea typeface="Calibri" pitchFamily="34" charset="-122"/>
                <a:cs typeface="Calibri" pitchFamily="34" charset="-120"/>
              </a:rPr>
              <a:t> (continued)</a:t>
            </a:r>
            <a:endParaRPr lang="en-US" sz="2400" dirty="0"/>
          </a:p>
        </p:txBody>
      </p:sp>
      <p:sp>
        <p:nvSpPr>
          <p:cNvPr id="6" name="Text 3"/>
          <p:cNvSpPr txBox="1"/>
          <p:nvPr/>
        </p:nvSpPr>
        <p:spPr>
          <a:xfrm>
            <a:off x="457200" y="2106168"/>
            <a:ext cx="11247120" cy="28917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db.exec(`</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CREATE TABLE IF NOT EXISTS books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id         INTEGER PRIMARY KEY AUTOINCREMENT,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title      TEXT NOT NULL,</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author     TEXT NOT NULL,</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status     TEXT NOT NULL DEFAULT 'to-read'</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CHECK (status IN ('to-read', 'reading', 'done')),</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created_at TEXT NOT NULL DEFAULT (datetime('now'))</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The reviews table links to books</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DB</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server/src/db.ts</a:t>
            </a:r>
            <a:pPr indent="0" marL="0">
              <a:buNone/>
            </a:pPr>
            <a:r>
              <a:rPr lang="en-US" sz="2400" dirty="0">
                <a:solidFill>
                  <a:srgbClr val="F1F5F9"/>
                </a:solidFill>
                <a:latin typeface="Calibri" pitchFamily="34" charset="0"/>
                <a:ea typeface="Calibri" pitchFamily="34" charset="-122"/>
                <a:cs typeface="Calibri" pitchFamily="34" charset="-120"/>
              </a:rPr>
              <a:t> (continued)</a:t>
            </a:r>
            <a:endParaRPr lang="en-US" sz="2400" dirty="0"/>
          </a:p>
        </p:txBody>
      </p:sp>
      <p:sp>
        <p:nvSpPr>
          <p:cNvPr id="6" name="Text 3"/>
          <p:cNvSpPr txBox="1"/>
          <p:nvPr/>
        </p:nvSpPr>
        <p:spPr>
          <a:xfrm>
            <a:off x="457200" y="2106168"/>
            <a:ext cx="11247120" cy="28917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  CREATE TABLE IF NOT EXISTS reviews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id      INTEGER PRIMARY KEY AUTOINCREMENT,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book_id INTEGER NOT NULL REFERENCES books(id) ON DELETE CASCADE,</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rating  INTEGER NOT NULL CHECK (rating BETWEEN 1 AND 5),</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body    TEXT NOT NULL DEFAULT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export default db;</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Seed a few books to look at</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server/src/seed.ts</a:t>
            </a:r>
            <a:endParaRPr lang="en-US" sz="2400" dirty="0"/>
          </a:p>
        </p:txBody>
      </p:sp>
      <p:sp>
        <p:nvSpPr>
          <p:cNvPr id="6" name="Text 3"/>
          <p:cNvSpPr txBox="1"/>
          <p:nvPr/>
        </p:nvSpPr>
        <p:spPr>
          <a:xfrm>
            <a:off x="457200" y="2106168"/>
            <a:ext cx="11247120" cy="2839556"/>
          </a:xfrm>
          <a:prstGeom prst="rect">
            <a:avLst/>
          </a:prstGeom>
          <a:solidFill>
            <a:srgbClr val="1E293B"/>
          </a:solidFill>
          <a:ln/>
        </p:spPr>
        <p:txBody>
          <a:bodyPr wrap="square" lIns="127000" tIns="127000" rIns="127000" bIns="127000" rtlCol="0" anchor="t"/>
          <a:lstStyle/>
          <a:p>
            <a:pPr indent="0" marL="0">
              <a:buNone/>
            </a:pPr>
            <a:r>
              <a:rPr lang="en-US" sz="1587" dirty="0">
                <a:solidFill>
                  <a:srgbClr val="E2E8F0"/>
                </a:solidFill>
                <a:latin typeface="Consolas" pitchFamily="34" charset="0"/>
                <a:ea typeface="Consolas" pitchFamily="34" charset="-122"/>
                <a:cs typeface="Consolas" pitchFamily="34" charset="-120"/>
              </a:rPr>
              <a:t>import { bookRepository } from "./bookRepository";</a:t>
            </a:r>
            <a:endParaRPr lang="en-US" sz="1587" dirty="0"/>
          </a:p>
          <a:p>
            <a:pPr indent="0" marL="0">
              <a:buNone/>
            </a:pP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const samples = [</a:t>
            </a: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  { title: "Dune", author: "Frank Herbert", status: "done" as const },</a:t>
            </a: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  { title: "The Pragmatic Programmer", author: "Hunt &amp; Thomas", status: "reading" as const },</a:t>
            </a: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  { title: "Project Hail Mary", author: "Andy Weir" },</a:t>
            </a: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a:t>
            </a:r>
            <a:endParaRPr lang="en-US" sz="1587" dirty="0"/>
          </a:p>
          <a:p>
            <a:pPr indent="0" marL="0">
              <a:buNone/>
            </a:pP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for (const s of samples) bookRepository.create(s);</a:t>
            </a: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console.log("Seeded", samples.length, "books");</a:t>
            </a:r>
            <a:endParaRPr lang="en-US" sz="1587"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Three setup mistakes</a:t>
            </a:r>
            <a:endParaRPr lang="en-US" dirty="0"/>
          </a:p>
        </p:txBody>
      </p:sp>
      <p:sp>
        <p:nvSpPr>
          <p:cNvPr id="3" name="Text 1"/>
          <p:cNvSpPr txBox="1"/>
          <p:nvPr/>
        </p:nvSpPr>
        <p:spPr>
          <a:xfrm>
            <a:off x="457200" y="228600"/>
            <a:ext cx="1554480" cy="274320"/>
          </a:xfrm>
          <a:prstGeom prst="roundRect">
            <a:avLst>
              <a:gd name="adj" fmla="val 26667"/>
            </a:avLst>
          </a:prstGeom>
          <a:solidFill>
            <a:srgbClr val="FB7185"/>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MISTAKES</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3749040"/>
                <a:gridCol w="3749040"/>
                <a:gridCol w="3749040"/>
              </a:tblGrid>
              <a:tr h="0">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Mistake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Symptom</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Fix</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Edit CREATE TABLE after DB exists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table books has no column named favorite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Delete DB and reseed, or ALTER TABLE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Forget foreign_keys = ON</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Review inserted for missing book</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Enable pragma on every connection</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Commit bookshelf.db</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Binary merge conflicts; leaked data</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.gitignore *.db, *.db-wal, *.db-shm</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Try it + Milestone 1: create the database</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TRY IT</a:t>
            </a:r>
            <a:endParaRPr lang="en-US" sz="1200" dirty="0"/>
          </a:p>
        </p:txBody>
      </p:sp>
      <p:sp>
        <p:nvSpPr>
          <p:cNvPr id="5" name="Text 2"/>
          <p:cNvSpPr txBox="1"/>
          <p:nvPr/>
        </p:nvSpPr>
        <p:spPr>
          <a:xfrm>
            <a:off x="457200" y="1600200"/>
            <a:ext cx="11247120" cy="79248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"Create </a:t>
            </a:r>
            <a:pPr indent="0" marL="0">
              <a:buNone/>
            </a:pPr>
            <a:r>
              <a:rPr lang="en-US" sz="2400" dirty="0">
                <a:solidFill>
                  <a:srgbClr val="38BDF8"/>
                </a:solidFill>
                <a:latin typeface="Consolas" pitchFamily="34" charset="0"/>
                <a:ea typeface="Consolas" pitchFamily="34" charset="-122"/>
                <a:cs typeface="Consolas" pitchFamily="34" charset="-120"/>
              </a:rPr>
              <a:t>db.ts</a:t>
            </a:r>
            <a:pPr indent="0" marL="0">
              <a:buNone/>
            </a:pPr>
            <a:r>
              <a:rPr lang="en-US" sz="2400" dirty="0">
                <a:solidFill>
                  <a:srgbClr val="F1F5F9"/>
                </a:solidFill>
                <a:latin typeface="Calibri" pitchFamily="34" charset="0"/>
                <a:ea typeface="Calibri" pitchFamily="34" charset="-122"/>
                <a:cs typeface="Calibri" pitchFamily="34" charset="-120"/>
              </a:rPr>
              <a:t> and </a:t>
            </a:r>
            <a:pPr indent="0" marL="0">
              <a:buNone/>
            </a:pPr>
            <a:r>
              <a:rPr lang="en-US" sz="2400" dirty="0">
                <a:solidFill>
                  <a:srgbClr val="38BDF8"/>
                </a:solidFill>
                <a:latin typeface="Consolas" pitchFamily="34" charset="0"/>
                <a:ea typeface="Consolas" pitchFamily="34" charset="-122"/>
                <a:cs typeface="Consolas" pitchFamily="34" charset="-120"/>
              </a:rPr>
              <a:t>types.ts</a:t>
            </a:r>
            <a:pPr indent="0" marL="0">
              <a:buNone/>
            </a:pPr>
            <a:r>
              <a:rPr lang="en-US" sz="2400" dirty="0">
                <a:solidFill>
                  <a:srgbClr val="F1F5F9"/>
                </a:solidFill>
                <a:latin typeface="Calibri" pitchFamily="34" charset="0"/>
                <a:ea typeface="Calibri" pitchFamily="34" charset="-122"/>
                <a:cs typeface="Calibri" pitchFamily="34" charset="-120"/>
              </a:rPr>
              <a:t>. Run the server. Open the file in a SQLite viewer."</a:t>
            </a:r>
            <a:endParaRPr lang="en-US" sz="2400" dirty="0"/>
          </a:p>
        </p:txBody>
      </p:sp>
      <p:sp>
        <p:nvSpPr>
          <p:cNvPr id="6" name="Text 3"/>
          <p:cNvSpPr txBox="1"/>
          <p:nvPr/>
        </p:nvSpPr>
        <p:spPr>
          <a:xfrm>
            <a:off x="457200" y="2502408"/>
            <a:ext cx="11247120" cy="396240"/>
          </a:xfrm>
          <a:prstGeom prst="rect">
            <a:avLst/>
          </a:prstGeom>
          <a:noFill/>
          <a:ln/>
        </p:spPr>
        <p:txBody>
          <a:bodyPr wrap="square" lIns="0" tIns="0" rIns="0" bIns="0" rtlCol="0" anchor="t"/>
          <a:lstStyle/>
          <a:p>
            <a:pPr indent="0" marL="0">
              <a:buNone/>
            </a:pPr>
            <a:r>
              <a:rPr lang="en-US" sz="2400" b="1" dirty="0">
                <a:solidFill>
                  <a:srgbClr val="F1F5F9"/>
                </a:solidFill>
                <a:latin typeface="Calibri" pitchFamily="34" charset="0"/>
                <a:ea typeface="Calibri" pitchFamily="34" charset="-122"/>
                <a:cs typeface="Calibri" pitchFamily="34" charset="-120"/>
              </a:rPr>
              <a:t>~15 minutes</a:t>
            </a:r>
            <a:endParaRPr lang="en-US" sz="2400" dirty="0"/>
          </a:p>
        </p:txBody>
      </p:sp>
      <p:sp>
        <p:nvSpPr>
          <p:cNvPr id="7" name="Text 4"/>
          <p:cNvSpPr txBox="1"/>
          <p:nvPr/>
        </p:nvSpPr>
        <p:spPr>
          <a:xfrm>
            <a:off x="457200" y="3008376"/>
            <a:ext cx="11247120" cy="39624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Done = </a:t>
            </a:r>
            <a:pPr indent="0" marL="0">
              <a:buNone/>
            </a:pPr>
            <a:r>
              <a:rPr lang="en-US" sz="2400" dirty="0">
                <a:solidFill>
                  <a:srgbClr val="38BDF8"/>
                </a:solidFill>
                <a:latin typeface="Consolas" pitchFamily="34" charset="0"/>
                <a:ea typeface="Consolas" pitchFamily="34" charset="-122"/>
                <a:cs typeface="Consolas" pitchFamily="34" charset="-120"/>
              </a:rPr>
              <a:t>books</a:t>
            </a:r>
            <a:pPr indent="0" marL="0">
              <a:buNone/>
            </a:pPr>
            <a:r>
              <a:rPr lang="en-US" sz="2400" dirty="0">
                <a:solidFill>
                  <a:srgbClr val="F1F5F9"/>
                </a:solidFill>
                <a:latin typeface="Calibri" pitchFamily="34" charset="0"/>
                <a:ea typeface="Calibri" pitchFamily="34" charset="-122"/>
                <a:cs typeface="Calibri" pitchFamily="34" charset="-120"/>
              </a:rPr>
              <a:t> and </a:t>
            </a:r>
            <a:pPr indent="0" marL="0">
              <a:buNone/>
            </a:pPr>
            <a:r>
              <a:rPr lang="en-US" sz="2400" dirty="0">
                <a:solidFill>
                  <a:srgbClr val="38BDF8"/>
                </a:solidFill>
                <a:latin typeface="Consolas" pitchFamily="34" charset="0"/>
                <a:ea typeface="Consolas" pitchFamily="34" charset="-122"/>
                <a:cs typeface="Consolas" pitchFamily="34" charset="-120"/>
              </a:rPr>
              <a:t>reviews</a:t>
            </a:r>
            <a:pPr indent="0" marL="0">
              <a:buNone/>
            </a:pPr>
            <a:r>
              <a:rPr lang="en-US" sz="2400" dirty="0">
                <a:solidFill>
                  <a:srgbClr val="F1F5F9"/>
                </a:solidFill>
                <a:latin typeface="Calibri" pitchFamily="34" charset="0"/>
                <a:ea typeface="Calibri" pitchFamily="34" charset="-122"/>
                <a:cs typeface="Calibri" pitchFamily="34" charset="-120"/>
              </a:rPr>
              <a:t> appear (</a:t>
            </a:r>
            <a:pPr indent="0" marL="0">
              <a:buNone/>
            </a:pPr>
            <a:r>
              <a:rPr lang="en-US" sz="2400" dirty="0">
                <a:solidFill>
                  <a:srgbClr val="38BDF8"/>
                </a:solidFill>
                <a:latin typeface="Consolas" pitchFamily="34" charset="0"/>
                <a:ea typeface="Consolas" pitchFamily="34" charset="-122"/>
                <a:cs typeface="Consolas" pitchFamily="34" charset="-120"/>
              </a:rPr>
              <a:t>sqlite3 bookshelf.db ".tables"</a:t>
            </a:r>
            <a:pPr indent="0" marL="0">
              <a:buNone/>
            </a:pPr>
            <a:r>
              <a:rPr lang="en-US" sz="2400" dirty="0">
                <a:solidFill>
                  <a:srgbClr val="F1F5F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CRUD is four SQL statements</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DB</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SQL</a:t>
            </a:r>
            <a:endParaRPr lang="en-US" sz="2400" dirty="0"/>
          </a:p>
        </p:txBody>
      </p:sp>
      <p:sp>
        <p:nvSpPr>
          <p:cNvPr id="6" name="Text 3"/>
          <p:cNvSpPr txBox="1"/>
          <p:nvPr/>
        </p:nvSpPr>
        <p:spPr>
          <a:xfrm>
            <a:off x="457200" y="2106168"/>
            <a:ext cx="11247120" cy="14630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SELECT * FROM books WHERE id =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INSERT INTO books (title, author) VALUES (?,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UPDATE books SET status = ? WHERE id =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DELETE FROM books WHERE id = ?;</a:t>
            </a:r>
            <a:endParaRPr lang="en-US" sz="1800" dirty="0"/>
          </a:p>
        </p:txBody>
      </p:sp>
      <p:sp>
        <p:nvSpPr>
          <p:cNvPr id="7" name="Text 4"/>
          <p:cNvSpPr txBox="1"/>
          <p:nvPr/>
        </p:nvSpPr>
        <p:spPr>
          <a:xfrm>
            <a:off x="457200" y="3678936"/>
            <a:ext cx="11247120" cy="79248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Labels: Read, Create, Update, Delete. Footer: "</a:t>
            </a:r>
            <a:pPr indent="0" marL="0">
              <a:buNone/>
            </a:pPr>
            <a:r>
              <a:rPr lang="en-US" sz="2400" dirty="0">
                <a:solidFill>
                  <a:srgbClr val="38BDF8"/>
                </a:solidFill>
                <a:latin typeface="Consolas" pitchFamily="34" charset="0"/>
                <a:ea typeface="Consolas" pitchFamily="34" charset="-122"/>
                <a:cs typeface="Consolas" pitchFamily="34" charset="-120"/>
              </a:rPr>
              <a:t>?</a:t>
            </a:r>
            <a:pPr indent="0" marL="0">
              <a:buNone/>
            </a:pPr>
            <a:r>
              <a:rPr lang="en-US" sz="2400" dirty="0">
                <a:solidFill>
                  <a:srgbClr val="F1F5F9"/>
                </a:solidFill>
                <a:latin typeface="Calibri" pitchFamily="34" charset="0"/>
                <a:ea typeface="Calibri" pitchFamily="34" charset="-122"/>
                <a:cs typeface="Calibri" pitchFamily="34" charset="-120"/>
              </a:rPr>
              <a:t> = parameter (placeholder)".</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One mapper turns rows into books</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server/src/bookRepository.ts</a:t>
            </a:r>
            <a:pPr indent="0" marL="0">
              <a:buNone/>
            </a:pPr>
            <a:r>
              <a:rPr lang="en-US" sz="2400" dirty="0">
                <a:solidFill>
                  <a:srgbClr val="F1F5F9"/>
                </a:solidFill>
                <a:latin typeface="Calibri" pitchFamily="34" charset="0"/>
                <a:ea typeface="Calibri" pitchFamily="34" charset="-122"/>
                <a:cs typeface="Calibri" pitchFamily="34" charset="-120"/>
              </a:rPr>
              <a:t> (excerpt)</a:t>
            </a:r>
            <a:endParaRPr lang="en-US" sz="2400" dirty="0"/>
          </a:p>
        </p:txBody>
      </p:sp>
      <p:sp>
        <p:nvSpPr>
          <p:cNvPr id="6" name="Text 3"/>
          <p:cNvSpPr txBox="1"/>
          <p:nvPr/>
        </p:nvSpPr>
        <p:spPr>
          <a:xfrm>
            <a:off x="457200" y="2106168"/>
            <a:ext cx="11247120" cy="31775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const toBook = (r: BookRow): Book =&gt;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id: r.id, title: r.title, author: r.author,</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status: r.status, createdAt: r.created_at,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function list(): Book[]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rows = db.prepare("SELECT * FROM books ORDER BY id DESC")</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.all() as BookRow[];</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return rows.map(toBook);</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get and create use placeholders</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server/src/bookRepository.ts</a:t>
            </a:r>
            <a:endParaRPr lang="en-US" sz="2400" dirty="0"/>
          </a:p>
        </p:txBody>
      </p:sp>
      <p:sp>
        <p:nvSpPr>
          <p:cNvPr id="6" name="Text 3"/>
          <p:cNvSpPr txBox="1"/>
          <p:nvPr/>
        </p:nvSpPr>
        <p:spPr>
          <a:xfrm>
            <a:off x="457200" y="2106168"/>
            <a:ext cx="11247120" cy="37490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function get(id: number): Book | undefined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row = db.prepare("SELECT * FROM books WHERE id =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.get(id) as BookRow | undefined;</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return row ? toBook(row) : undefined;</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function create(input: NewBook): Book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info = db</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.prepare("INSERT INTO books (title, author, status) VALUES (?, ?,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.run(input.title, input.author, input.status ?? "to-read");</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return get(Number(info.lastInsertRowid))!;</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COALESCE makes updates partial</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server/src/bookRepository.ts</a:t>
            </a:r>
            <a:endParaRPr lang="en-US" sz="2400" dirty="0"/>
          </a:p>
        </p:txBody>
      </p:sp>
      <p:sp>
        <p:nvSpPr>
          <p:cNvPr id="6" name="Text 3"/>
          <p:cNvSpPr txBox="1"/>
          <p:nvPr/>
        </p:nvSpPr>
        <p:spPr>
          <a:xfrm>
            <a:off x="457200" y="2106168"/>
            <a:ext cx="11247120" cy="31775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function update(id: number, patch: BookPatch): Book | undefined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db.prepare(</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`UPDATE books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SET title  = COALESCE(?, title),</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author = COALESCE(?, author),</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status = COALESCE(?, status)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WHERE id =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).run(patch.title ?? null, patch.author ?? null, patch.status ?? null, id);</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return get(id);</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remove reports whether anything was deleted</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server/src/bookRepository.ts</a:t>
            </a:r>
            <a:endParaRPr lang="en-US" sz="2400" dirty="0"/>
          </a:p>
        </p:txBody>
      </p:sp>
      <p:sp>
        <p:nvSpPr>
          <p:cNvPr id="6" name="Text 3"/>
          <p:cNvSpPr txBox="1"/>
          <p:nvPr/>
        </p:nvSpPr>
        <p:spPr>
          <a:xfrm>
            <a:off x="457200" y="2106168"/>
            <a:ext cx="11247120" cy="17487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function remove(id: number): boolean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return db.prepare("DELETE FROM books WHERE id = ?").run(id).changes &gt; 0;</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export const bookRepository = { list, get, create, update, remove };</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Spot the bug: this query returns every book</a:t>
            </a:r>
            <a:endParaRPr lang="en-US" dirty="0"/>
          </a:p>
        </p:txBody>
      </p:sp>
      <p:sp>
        <p:nvSpPr>
          <p:cNvPr id="3" name="Text 1"/>
          <p:cNvSpPr txBox="1"/>
          <p:nvPr/>
        </p:nvSpPr>
        <p:spPr>
          <a:xfrm>
            <a:off x="457200" y="228600"/>
            <a:ext cx="1554480" cy="274320"/>
          </a:xfrm>
          <a:prstGeom prst="roundRect">
            <a:avLst>
              <a:gd name="adj" fmla="val 26667"/>
            </a:avLst>
          </a:prstGeom>
          <a:solidFill>
            <a:srgbClr val="A78BFA"/>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QUESTION</a:t>
            </a:r>
            <a:endParaRPr lang="en-US" sz="1200" dirty="0"/>
          </a:p>
        </p:txBody>
      </p:sp>
      <p:sp>
        <p:nvSpPr>
          <p:cNvPr id="4" name="Text 2"/>
          <p:cNvSpPr txBox="1"/>
          <p:nvPr/>
        </p:nvSpPr>
        <p:spPr>
          <a:xfrm>
            <a:off x="214884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6" name="Text 3"/>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server/src/bookRepository.ts</a:t>
            </a:r>
            <a:endParaRPr lang="en-US" sz="2400" dirty="0"/>
          </a:p>
        </p:txBody>
      </p:sp>
      <p:sp>
        <p:nvSpPr>
          <p:cNvPr id="7" name="Text 4"/>
          <p:cNvSpPr txBox="1"/>
          <p:nvPr/>
        </p:nvSpPr>
        <p:spPr>
          <a:xfrm>
            <a:off x="457200" y="2106168"/>
            <a:ext cx="11247120" cy="20345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 DANGEROUS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const title = "x' OR '1'='1";</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db.prepare(`SELECT * FROM books WHERE title = '${title}'`).all();</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Becomes: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SELECT * FROM books WHERE title = 'x' OR '1'='1'</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-&gt; returns EVERY book</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Fix: placeholders keep input as data</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server/src/bookRepository.ts</a:t>
            </a:r>
            <a:endParaRPr lang="en-US" sz="2400" dirty="0"/>
          </a:p>
        </p:txBody>
      </p:sp>
      <p:sp>
        <p:nvSpPr>
          <p:cNvPr id="6" name="Text 3"/>
          <p:cNvSpPr txBox="1"/>
          <p:nvPr/>
        </p:nvSpPr>
        <p:spPr>
          <a:xfrm>
            <a:off x="457200" y="2106168"/>
            <a:ext cx="11247120" cy="8915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 SAFE: the value is sent separately</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db.prepare("SELECT * FROM books WHERE title = ?").all(title);</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Three repository mistakes</a:t>
            </a:r>
            <a:endParaRPr lang="en-US" dirty="0"/>
          </a:p>
        </p:txBody>
      </p:sp>
      <p:sp>
        <p:nvSpPr>
          <p:cNvPr id="3" name="Text 1"/>
          <p:cNvSpPr txBox="1"/>
          <p:nvPr/>
        </p:nvSpPr>
        <p:spPr>
          <a:xfrm>
            <a:off x="457200" y="228600"/>
            <a:ext cx="1554480" cy="274320"/>
          </a:xfrm>
          <a:prstGeom prst="roundRect">
            <a:avLst>
              <a:gd name="adj" fmla="val 26667"/>
            </a:avLst>
          </a:prstGeom>
          <a:solidFill>
            <a:srgbClr val="FB7185"/>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MISTAKES</a:t>
            </a:r>
            <a:endParaRPr lang="en-US" sz="12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3749040"/>
                <a:gridCol w="3749040"/>
                <a:gridCol w="3749040"/>
              </a:tblGrid>
              <a:tr h="0">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Mistake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Symptom</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Fix</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Template-literal SQL with user values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Exploitable in production</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Always ? placeholders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undefined passed to .run()</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SQLite3 can only bind numbers, strings, bigints, buffers, and null</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 null</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UPDATE/DELETE without WHERE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Every row changed or deleted</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Always WHERE; check changes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Try it + Milestone 2: exercise the repository</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TRY IT</a:t>
            </a:r>
            <a:endParaRPr lang="en-US" sz="1200" dirty="0"/>
          </a:p>
        </p:txBody>
      </p:sp>
      <p:sp>
        <p:nvSpPr>
          <p:cNvPr id="5" name="Text 2"/>
          <p:cNvSpPr txBox="1"/>
          <p:nvPr/>
        </p:nvSpPr>
        <p:spPr>
          <a:xfrm>
            <a:off x="457200" y="1600200"/>
            <a:ext cx="11247120" cy="79248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"Create a book in a scratch script, </a:t>
            </a:r>
            <a:pPr indent="0" marL="0">
              <a:buNone/>
            </a:pPr>
            <a:r>
              <a:rPr lang="en-US" sz="2400" dirty="0">
                <a:solidFill>
                  <a:srgbClr val="38BDF8"/>
                </a:solidFill>
                <a:latin typeface="Consolas" pitchFamily="34" charset="0"/>
                <a:ea typeface="Consolas" pitchFamily="34" charset="-122"/>
                <a:cs typeface="Consolas" pitchFamily="34" charset="-120"/>
              </a:rPr>
              <a:t>list()</a:t>
            </a:r>
            <a:pPr indent="0" marL="0">
              <a:buNone/>
            </a:pPr>
            <a:r>
              <a:rPr lang="en-US" sz="2400" dirty="0">
                <a:solidFill>
                  <a:srgbClr val="F1F5F9"/>
                </a:solidFill>
                <a:latin typeface="Calibri" pitchFamily="34" charset="0"/>
                <a:ea typeface="Calibri" pitchFamily="34" charset="-122"/>
                <a:cs typeface="Calibri" pitchFamily="34" charset="-120"/>
              </a:rPr>
              <a:t> it, then try </a:t>
            </a:r>
            <a:pPr indent="0" marL="0">
              <a:buNone/>
            </a:pPr>
            <a:r>
              <a:rPr lang="en-US" sz="2400" dirty="0">
                <a:solidFill>
                  <a:srgbClr val="38BDF8"/>
                </a:solidFill>
                <a:latin typeface="Consolas" pitchFamily="34" charset="0"/>
                <a:ea typeface="Consolas" pitchFamily="34" charset="-122"/>
                <a:cs typeface="Consolas" pitchFamily="34" charset="-120"/>
              </a:rPr>
              <a:t>status: "invalid" as never</a:t>
            </a:r>
            <a:pPr indent="0" marL="0">
              <a:buNone/>
            </a:pPr>
            <a:r>
              <a:rPr lang="en-US" sz="2400" dirty="0">
                <a:solidFill>
                  <a:srgbClr val="F1F5F9"/>
                </a:solidFill>
                <a:latin typeface="Calibri" pitchFamily="34" charset="0"/>
                <a:ea typeface="Calibri" pitchFamily="34" charset="-122"/>
                <a:cs typeface="Calibri" pitchFamily="34" charset="-120"/>
              </a:rPr>
              <a:t>. Write </a:t>
            </a:r>
            <a:pPr indent="0" marL="0">
              <a:buNone/>
            </a:pPr>
            <a:r>
              <a:rPr lang="en-US" sz="2400" dirty="0">
                <a:solidFill>
                  <a:srgbClr val="38BDF8"/>
                </a:solidFill>
                <a:latin typeface="Consolas" pitchFamily="34" charset="0"/>
                <a:ea typeface="Consolas" pitchFamily="34" charset="-122"/>
                <a:cs typeface="Consolas" pitchFamily="34" charset="-120"/>
              </a:rPr>
              <a:t>bookRepository.ts</a:t>
            </a:r>
            <a:pPr indent="0" marL="0">
              <a:buNone/>
            </a:pPr>
            <a:r>
              <a:rPr lang="en-US" sz="2400" dirty="0">
                <a:solidFill>
                  <a:srgbClr val="F1F5F9"/>
                </a:solidFill>
                <a:latin typeface="Calibri" pitchFamily="34" charset="0"/>
                <a:ea typeface="Calibri" pitchFamily="34" charset="-122"/>
                <a:cs typeface="Calibri" pitchFamily="34" charset="-120"/>
              </a:rPr>
              <a:t>; run the seed script."</a:t>
            </a:r>
            <a:endParaRPr lang="en-US" sz="2400" dirty="0"/>
          </a:p>
        </p:txBody>
      </p:sp>
      <p:sp>
        <p:nvSpPr>
          <p:cNvPr id="6" name="Text 3"/>
          <p:cNvSpPr txBox="1"/>
          <p:nvPr/>
        </p:nvSpPr>
        <p:spPr>
          <a:xfrm>
            <a:off x="457200" y="2502408"/>
            <a:ext cx="11247120" cy="396240"/>
          </a:xfrm>
          <a:prstGeom prst="rect">
            <a:avLst/>
          </a:prstGeom>
          <a:noFill/>
          <a:ln/>
        </p:spPr>
        <p:txBody>
          <a:bodyPr wrap="square" lIns="0" tIns="0" rIns="0" bIns="0" rtlCol="0" anchor="t"/>
          <a:lstStyle/>
          <a:p>
            <a:pPr indent="0" marL="0">
              <a:buNone/>
            </a:pPr>
            <a:r>
              <a:rPr lang="en-US" sz="2400" b="1" dirty="0">
                <a:solidFill>
                  <a:srgbClr val="F1F5F9"/>
                </a:solidFill>
                <a:latin typeface="Calibri" pitchFamily="34" charset="0"/>
                <a:ea typeface="Calibri" pitchFamily="34" charset="-122"/>
                <a:cs typeface="Calibri" pitchFamily="34" charset="-120"/>
              </a:rPr>
              <a:t>~25 minutes</a:t>
            </a:r>
            <a:endParaRPr lang="en-US" sz="2400" dirty="0"/>
          </a:p>
        </p:txBody>
      </p:sp>
      <p:sp>
        <p:nvSpPr>
          <p:cNvPr id="7" name="Text 4"/>
          <p:cNvSpPr txBox="1"/>
          <p:nvPr/>
        </p:nvSpPr>
        <p:spPr>
          <a:xfrm>
            <a:off x="457200" y="3008376"/>
            <a:ext cx="11247120" cy="79248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Done = seeded rows visible in the SQLite viewer; </a:t>
            </a:r>
            <a:pPr indent="0" marL="0">
              <a:buNone/>
            </a:pPr>
            <a:r>
              <a:rPr lang="en-US" sz="2400" dirty="0">
                <a:solidFill>
                  <a:srgbClr val="38BDF8"/>
                </a:solidFill>
                <a:latin typeface="Consolas" pitchFamily="34" charset="0"/>
                <a:ea typeface="Consolas" pitchFamily="34" charset="-122"/>
                <a:cs typeface="Consolas" pitchFamily="34" charset="-120"/>
              </a:rPr>
              <a:t>CHECK constraint failed</a:t>
            </a:r>
            <a:pPr indent="0" marL="0">
              <a:buNone/>
            </a:pPr>
            <a:r>
              <a:rPr lang="en-US" sz="2400" dirty="0">
                <a:solidFill>
                  <a:srgbClr val="F1F5F9"/>
                </a:solidFill>
                <a:latin typeface="Calibri" pitchFamily="34" charset="0"/>
                <a:ea typeface="Calibri" pitchFamily="34" charset="-122"/>
                <a:cs typeface="Calibri" pitchFamily="34" charset="-120"/>
              </a:rPr>
              <a:t> seen</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URLs name resources; methods say what to do</a:t>
            </a:r>
            <a:endParaRPr lang="en-US" dirty="0"/>
          </a:p>
        </p:txBody>
      </p:sp>
      <p:sp>
        <p:nvSpPr>
          <p:cNvPr id="4" name="Text 1"/>
          <p:cNvSpPr txBox="1"/>
          <p:nvPr/>
        </p:nvSpPr>
        <p:spPr>
          <a:xfrm>
            <a:off x="457200" y="1600200"/>
            <a:ext cx="11247120" cy="146304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38BDF8"/>
                </a:solidFill>
                <a:latin typeface="Consolas" pitchFamily="34" charset="0"/>
                <a:ea typeface="Consolas" pitchFamily="34" charset="-122"/>
                <a:cs typeface="Consolas" pitchFamily="34" charset="-120"/>
              </a:rPr>
              <a:t>GET</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reads,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POST</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creates</a:t>
            </a:r>
            <a:endParaRPr lang="en-US" sz="2400" dirty="0"/>
          </a:p>
          <a:p>
            <a:pPr marL="342900" indent="-342900">
              <a:spcAft>
                <a:spcPts val="600"/>
              </a:spcAft>
              <a:buSzPct val="100000"/>
              <a:buChar char="•"/>
            </a:pPr>
            <a:r>
              <a:rPr lang="en-US" sz="2400" dirty="0">
                <a:solidFill>
                  <a:srgbClr val="38BDF8"/>
                </a:solidFill>
                <a:latin typeface="Consolas" pitchFamily="34" charset="0"/>
                <a:ea typeface="Consolas" pitchFamily="34" charset="-122"/>
                <a:cs typeface="Consolas" pitchFamily="34" charset="-120"/>
              </a:rPr>
              <a:t>PATCH</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partially updates,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DELETE</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removes</a:t>
            </a:r>
            <a:endParaRPr lang="en-US" sz="2400" dirty="0"/>
          </a:p>
          <a:p>
            <a:pPr marL="342900" indent="-342900">
              <a:spcAft>
                <a:spcPts val="600"/>
              </a:spcAft>
              <a:buSzPct val="100000"/>
              <a:buChar char="•"/>
            </a:pPr>
            <a:r>
              <a:rPr lang="en-US" sz="2400" dirty="0">
                <a:solidFill>
                  <a:srgbClr val="38BDF8"/>
                </a:solidFill>
                <a:latin typeface="Consolas" pitchFamily="34" charset="0"/>
                <a:ea typeface="Consolas" pitchFamily="34" charset="-122"/>
                <a:cs typeface="Consolas" pitchFamily="34" charset="-120"/>
              </a:rPr>
              <a:t>/api/books</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and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/api/books/3</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name resources</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Status codes tell the client what happened</a:t>
            </a:r>
            <a:endParaRPr lang="en-US" dirty="0"/>
          </a:p>
        </p:txBody>
      </p:sp>
      <p:sp>
        <p:nvSpPr>
          <p:cNvPr id="4" name="Text 1"/>
          <p:cNvSpPr txBox="1"/>
          <p:nvPr/>
        </p:nvSpPr>
        <p:spPr>
          <a:xfrm>
            <a:off x="457200" y="1600200"/>
            <a:ext cx="11247120" cy="146304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Success: </a:t>
            </a:r>
            <a:pPr indent="0" marL="0">
              <a:spcAft>
                <a:spcPts val="600"/>
              </a:spcAft>
              <a:buNone/>
            </a:pPr>
            <a:r>
              <a:rPr lang="en-US" sz="2400" b="1" dirty="0">
                <a:solidFill>
                  <a:srgbClr val="F1F5F9"/>
                </a:solidFill>
                <a:latin typeface="Calibri" pitchFamily="34" charset="0"/>
                <a:ea typeface="Calibri" pitchFamily="34" charset="-122"/>
                <a:cs typeface="Calibri" pitchFamily="34" charset="-120"/>
              </a:rPr>
              <a:t>200</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OK, </a:t>
            </a:r>
            <a:pPr indent="0" marL="0">
              <a:spcAft>
                <a:spcPts val="600"/>
              </a:spcAft>
              <a:buNone/>
            </a:pPr>
            <a:r>
              <a:rPr lang="en-US" sz="2400" b="1" dirty="0">
                <a:solidFill>
                  <a:srgbClr val="F1F5F9"/>
                </a:solidFill>
                <a:latin typeface="Calibri" pitchFamily="34" charset="0"/>
                <a:ea typeface="Calibri" pitchFamily="34" charset="-122"/>
                <a:cs typeface="Calibri" pitchFamily="34" charset="-120"/>
              </a:rPr>
              <a:t>201</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Created, </a:t>
            </a:r>
            <a:pPr indent="0" marL="0">
              <a:spcAft>
                <a:spcPts val="600"/>
              </a:spcAft>
              <a:buNone/>
            </a:pPr>
            <a:r>
              <a:rPr lang="en-US" sz="2400" b="1" dirty="0">
                <a:solidFill>
                  <a:srgbClr val="F1F5F9"/>
                </a:solidFill>
                <a:latin typeface="Calibri" pitchFamily="34" charset="0"/>
                <a:ea typeface="Calibri" pitchFamily="34" charset="-122"/>
                <a:cs typeface="Calibri" pitchFamily="34" charset="-120"/>
              </a:rPr>
              <a:t>204</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No Content</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Client error: </a:t>
            </a:r>
            <a:pPr indent="0" marL="0">
              <a:spcAft>
                <a:spcPts val="600"/>
              </a:spcAft>
              <a:buNone/>
            </a:pPr>
            <a:r>
              <a:rPr lang="en-US" sz="2400" b="1" dirty="0">
                <a:solidFill>
                  <a:srgbClr val="F1F5F9"/>
                </a:solidFill>
                <a:latin typeface="Calibri" pitchFamily="34" charset="0"/>
                <a:ea typeface="Calibri" pitchFamily="34" charset="-122"/>
                <a:cs typeface="Calibri" pitchFamily="34" charset="-120"/>
              </a:rPr>
              <a:t>400</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Bad Request, </a:t>
            </a:r>
            <a:pPr indent="0" marL="0">
              <a:spcAft>
                <a:spcPts val="600"/>
              </a:spcAft>
              <a:buNone/>
            </a:pPr>
            <a:r>
              <a:rPr lang="en-US" sz="2400" b="1" dirty="0">
                <a:solidFill>
                  <a:srgbClr val="F1F5F9"/>
                </a:solidFill>
                <a:latin typeface="Calibri" pitchFamily="34" charset="0"/>
                <a:ea typeface="Calibri" pitchFamily="34" charset="-122"/>
                <a:cs typeface="Calibri" pitchFamily="34" charset="-120"/>
              </a:rPr>
              <a:t>404</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Not Found</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Server error: </a:t>
            </a:r>
            <a:pPr indent="0" marL="0">
              <a:spcAft>
                <a:spcPts val="600"/>
              </a:spcAft>
              <a:buNone/>
            </a:pPr>
            <a:r>
              <a:rPr lang="en-US" sz="2400" b="1" dirty="0">
                <a:solidFill>
                  <a:srgbClr val="F1F5F9"/>
                </a:solidFill>
                <a:latin typeface="Calibri" pitchFamily="34" charset="0"/>
                <a:ea typeface="Calibri" pitchFamily="34" charset="-122"/>
                <a:cs typeface="Calibri" pitchFamily="34" charset="-120"/>
              </a:rPr>
              <a:t>500</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Never trust the request body</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server/src/routes/books.ts</a:t>
            </a:r>
            <a:endParaRPr lang="en-US" sz="2400" dirty="0"/>
          </a:p>
        </p:txBody>
      </p:sp>
      <p:sp>
        <p:nvSpPr>
          <p:cNvPr id="6" name="Text 3"/>
          <p:cNvSpPr txBox="1"/>
          <p:nvPr/>
        </p:nvSpPr>
        <p:spPr>
          <a:xfrm>
            <a:off x="457200" y="2106168"/>
            <a:ext cx="11247120" cy="26060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const STATUSES: BookStatus[] = ["to-read", "reading", "done"];</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const isStatus = (v: unknown): v is BookStatus =&gt;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STATUSES.includes(v as BookStatus);</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function parseId(raw: string): number | null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n = Number(raw);</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return Number.isInteger(n) &amp;&amp; n &gt; 0 ? n : null;</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A parser returns a value or an error string</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server/src/routes/books.ts</a:t>
            </a:r>
            <a:endParaRPr lang="en-US" sz="2400" dirty="0"/>
          </a:p>
        </p:txBody>
      </p:sp>
      <p:sp>
        <p:nvSpPr>
          <p:cNvPr id="6" name="Text 3"/>
          <p:cNvSpPr txBox="1"/>
          <p:nvPr/>
        </p:nvSpPr>
        <p:spPr>
          <a:xfrm>
            <a:off x="457200" y="2106168"/>
            <a:ext cx="11247120" cy="2772174"/>
          </a:xfrm>
          <a:prstGeom prst="rect">
            <a:avLst/>
          </a:prstGeom>
          <a:solidFill>
            <a:srgbClr val="1E293B"/>
          </a:solidFill>
          <a:ln/>
        </p:spPr>
        <p:txBody>
          <a:bodyPr wrap="square" lIns="127000" tIns="127000" rIns="127000" bIns="127000" rtlCol="0" anchor="t"/>
          <a:lstStyle/>
          <a:p>
            <a:pPr indent="0" marL="0">
              <a:buNone/>
            </a:pPr>
            <a:r>
              <a:rPr lang="en-US" sz="1716" dirty="0">
                <a:solidFill>
                  <a:srgbClr val="E2E8F0"/>
                </a:solidFill>
                <a:latin typeface="Consolas" pitchFamily="34" charset="0"/>
                <a:ea typeface="Consolas" pitchFamily="34" charset="-122"/>
                <a:cs typeface="Consolas" pitchFamily="34" charset="-120"/>
              </a:rPr>
              <a:t>function parseNewBook(body: unknown): NewBook | string {</a:t>
            </a:r>
            <a:endParaRPr lang="en-US" sz="1716" dirty="0"/>
          </a:p>
          <a:p>
            <a:pPr indent="0" marL="0">
              <a:buNone/>
            </a:pPr>
            <a:r>
              <a:rPr lang="en-US" sz="1716" dirty="0">
                <a:solidFill>
                  <a:srgbClr val="E2E8F0"/>
                </a:solidFill>
                <a:latin typeface="Consolas" pitchFamily="34" charset="0"/>
                <a:ea typeface="Consolas" pitchFamily="34" charset="-122"/>
                <a:cs typeface="Consolas" pitchFamily="34" charset="-120"/>
              </a:rPr>
              <a:t>  if (typeof body !== "object" || body === null)</a:t>
            </a:r>
            <a:endParaRPr lang="en-US" sz="1716" dirty="0"/>
          </a:p>
          <a:p>
            <a:pPr indent="0" marL="0">
              <a:buNone/>
            </a:pPr>
            <a:r>
              <a:rPr lang="en-US" sz="1716" dirty="0">
                <a:solidFill>
                  <a:srgbClr val="E2E8F0"/>
                </a:solidFill>
                <a:latin typeface="Consolas" pitchFamily="34" charset="0"/>
                <a:ea typeface="Consolas" pitchFamily="34" charset="-122"/>
                <a:cs typeface="Consolas" pitchFamily="34" charset="-120"/>
              </a:rPr>
              <a:t>    return "Body must be a JSON object";</a:t>
            </a:r>
            <a:endParaRPr lang="en-US" sz="1716" dirty="0"/>
          </a:p>
          <a:p>
            <a:pPr indent="0" marL="0">
              <a:buNone/>
            </a:pPr>
            <a:r>
              <a:rPr lang="en-US" sz="1716" dirty="0">
                <a:solidFill>
                  <a:srgbClr val="E2E8F0"/>
                </a:solidFill>
                <a:latin typeface="Consolas" pitchFamily="34" charset="0"/>
                <a:ea typeface="Consolas" pitchFamily="34" charset="-122"/>
                <a:cs typeface="Consolas" pitchFamily="34" charset="-120"/>
              </a:rPr>
              <a:t>  const { title, author, status } = body as Record&lt;string, unknown&gt;;</a:t>
            </a:r>
            <a:endParaRPr lang="en-US" sz="1716" dirty="0"/>
          </a:p>
          <a:p>
            <a:pPr indent="0" marL="0">
              <a:buNone/>
            </a:pPr>
            <a:r>
              <a:rPr lang="en-US" sz="1716" dirty="0">
                <a:solidFill>
                  <a:srgbClr val="E2E8F0"/>
                </a:solidFill>
                <a:latin typeface="Consolas" pitchFamily="34" charset="0"/>
                <a:ea typeface="Consolas" pitchFamily="34" charset="-122"/>
                <a:cs typeface="Consolas" pitchFamily="34" charset="-120"/>
              </a:rPr>
              <a:t>  if (typeof title !== "string" || title.trim() === "") return "title is required";</a:t>
            </a:r>
            <a:endParaRPr lang="en-US" sz="1716" dirty="0"/>
          </a:p>
          <a:p>
            <a:pPr indent="0" marL="0">
              <a:buNone/>
            </a:pPr>
            <a:r>
              <a:rPr lang="en-US" sz="1716" dirty="0">
                <a:solidFill>
                  <a:srgbClr val="E2E8F0"/>
                </a:solidFill>
                <a:latin typeface="Consolas" pitchFamily="34" charset="0"/>
                <a:ea typeface="Consolas" pitchFamily="34" charset="-122"/>
                <a:cs typeface="Consolas" pitchFamily="34" charset="-120"/>
              </a:rPr>
              <a:t>  if (typeof author !== "string" || author.trim() === "") return "author is required";</a:t>
            </a:r>
            <a:endParaRPr lang="en-US" sz="1716" dirty="0"/>
          </a:p>
          <a:p>
            <a:pPr indent="0" marL="0">
              <a:buNone/>
            </a:pPr>
            <a:r>
              <a:rPr lang="en-US" sz="1716" dirty="0">
                <a:solidFill>
                  <a:srgbClr val="E2E8F0"/>
                </a:solidFill>
                <a:latin typeface="Consolas" pitchFamily="34" charset="0"/>
                <a:ea typeface="Consolas" pitchFamily="34" charset="-122"/>
                <a:cs typeface="Consolas" pitchFamily="34" charset="-120"/>
              </a:rPr>
              <a:t>  if (status !== undefined &amp;&amp; !isStatus(status)) return "status is invalid";</a:t>
            </a:r>
            <a:endParaRPr lang="en-US" sz="1716" dirty="0"/>
          </a:p>
          <a:p>
            <a:pPr indent="0" marL="0">
              <a:buNone/>
            </a:pPr>
            <a:r>
              <a:rPr lang="en-US" sz="1716" dirty="0">
                <a:solidFill>
                  <a:srgbClr val="E2E8F0"/>
                </a:solidFill>
                <a:latin typeface="Consolas" pitchFamily="34" charset="0"/>
                <a:ea typeface="Consolas" pitchFamily="34" charset="-122"/>
                <a:cs typeface="Consolas" pitchFamily="34" charset="-120"/>
              </a:rPr>
              <a:t>  return { title: title.trim(), author: author.trim(), status };</a:t>
            </a:r>
            <a:endParaRPr lang="en-US" sz="1716" dirty="0"/>
          </a:p>
          <a:p>
            <a:pPr indent="0" marL="0">
              <a:buNone/>
            </a:pPr>
            <a:r>
              <a:rPr lang="en-US" sz="1716" dirty="0">
                <a:solidFill>
                  <a:srgbClr val="E2E8F0"/>
                </a:solidFill>
                <a:latin typeface="Consolas" pitchFamily="34" charset="0"/>
                <a:ea typeface="Consolas" pitchFamily="34" charset="-122"/>
                <a:cs typeface="Consolas" pitchFamily="34" charset="-120"/>
              </a:rPr>
              <a:t>}</a:t>
            </a:r>
            <a:endParaRPr lang="en-US" sz="1716"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parsePatch checks only what's present</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server/src/routes/books.ts</a:t>
            </a:r>
            <a:pPr indent="0" marL="0">
              <a:buNone/>
            </a:pPr>
            <a:r>
              <a:rPr lang="en-US" sz="2400" dirty="0">
                <a:solidFill>
                  <a:srgbClr val="F1F5F9"/>
                </a:solidFill>
                <a:latin typeface="Calibri" pitchFamily="34" charset="0"/>
                <a:ea typeface="Calibri" pitchFamily="34" charset="-122"/>
                <a:cs typeface="Calibri" pitchFamily="34" charset="-120"/>
              </a:rPr>
              <a:t> (excerpt)</a:t>
            </a:r>
            <a:endParaRPr lang="en-US" sz="2400" dirty="0"/>
          </a:p>
        </p:txBody>
      </p:sp>
      <p:sp>
        <p:nvSpPr>
          <p:cNvPr id="6" name="Text 3"/>
          <p:cNvSpPr txBox="1"/>
          <p:nvPr/>
        </p:nvSpPr>
        <p:spPr>
          <a:xfrm>
            <a:off x="457200" y="2106168"/>
            <a:ext cx="11247120" cy="37490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function parsePatch(body: unknown): BookPatch | string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 ...object check, destructure title, author, status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patch: BookPatch =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if (title !== undefined)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if (typeof title !== "string" || title.trim() ===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return "title must be a non-empty string";</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patch.title = title.trim();</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 author: same pattern</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 status: isStatus(status) else "status is invalid"</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return patch;</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Read routes return 400, 404, or the book</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server/src/routes/books.ts</a:t>
            </a:r>
            <a:endParaRPr lang="en-US" sz="2400" dirty="0"/>
          </a:p>
        </p:txBody>
      </p:sp>
      <p:sp>
        <p:nvSpPr>
          <p:cNvPr id="6" name="Text 3"/>
          <p:cNvSpPr txBox="1"/>
          <p:nvPr/>
        </p:nvSpPr>
        <p:spPr>
          <a:xfrm>
            <a:off x="457200" y="2106168"/>
            <a:ext cx="11247120" cy="37490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export const booksRouter = Router();</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booksRouter.get("/", (_req, res) =&gt;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res.json(bookRepository.list());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booksRouter.get("/:id", (req, res) =&gt;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id = parseId(req.params.id);</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if (id === null) return res.status(400).json({ error: "Invalid id"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book = bookRepository.get(id);</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if (!book) return res.status(404).json({ error: "Book not found"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res.json(book);</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Create returns 201; delete returns 204</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server/src/routes/books.ts</a:t>
            </a:r>
            <a:endParaRPr lang="en-US" sz="2400" dirty="0"/>
          </a:p>
        </p:txBody>
      </p:sp>
      <p:sp>
        <p:nvSpPr>
          <p:cNvPr id="6" name="Text 3"/>
          <p:cNvSpPr txBox="1"/>
          <p:nvPr/>
        </p:nvSpPr>
        <p:spPr>
          <a:xfrm>
            <a:off x="457200" y="2106168"/>
            <a:ext cx="11247120" cy="3409908"/>
          </a:xfrm>
          <a:prstGeom prst="rect">
            <a:avLst/>
          </a:prstGeom>
          <a:solidFill>
            <a:srgbClr val="1E293B"/>
          </a:solidFill>
          <a:ln/>
        </p:spPr>
        <p:txBody>
          <a:bodyPr wrap="square" lIns="127000" tIns="127000" rIns="127000" bIns="127000" rtlCol="0" anchor="t"/>
          <a:lstStyle/>
          <a:p>
            <a:pPr indent="0" marL="0">
              <a:buNone/>
            </a:pPr>
            <a:r>
              <a:rPr lang="en-US" sz="1622" dirty="0">
                <a:solidFill>
                  <a:srgbClr val="E2E8F0"/>
                </a:solidFill>
                <a:latin typeface="Consolas" pitchFamily="34" charset="0"/>
                <a:ea typeface="Consolas" pitchFamily="34" charset="-122"/>
                <a:cs typeface="Consolas" pitchFamily="34" charset="-120"/>
              </a:rPr>
              <a:t>booksRouter.post("/", (req, res) =&gt; {</a:t>
            </a: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  const parsed = parseNewBook(req.body);</a:t>
            </a: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  if (typeof parsed === "string") return res.status(400).json({ error: parsed });</a:t>
            </a: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  res.status(201).json(bookRepository.create(parsed));</a:t>
            </a: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a:t>
            </a:r>
            <a:endParaRPr lang="en-US" sz="1622" dirty="0"/>
          </a:p>
          <a:p>
            <a:pPr indent="0" marL="0">
              <a:buNone/>
            </a:pP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booksRouter.delete("/:id", (req, res) =&gt; {</a:t>
            </a: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  const id = parseId(req.params.id);</a:t>
            </a: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  if (id === null) return res.status(400).json({ error: "Invalid id" });</a:t>
            </a: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  if (!bookRepository.remove(id)) return res.status(404).json({ error: "Book not found" });</a:t>
            </a: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  res.status(204).end();</a:t>
            </a: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a:t>
            </a:r>
            <a:endParaRPr lang="en-US" sz="1622"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PATCH validates, then updates, then 404s if missing</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server/src/routes/books.ts</a:t>
            </a:r>
            <a:endParaRPr lang="en-US" sz="2400" dirty="0"/>
          </a:p>
        </p:txBody>
      </p:sp>
      <p:sp>
        <p:nvSpPr>
          <p:cNvPr id="6" name="Text 3"/>
          <p:cNvSpPr txBox="1"/>
          <p:nvPr/>
        </p:nvSpPr>
        <p:spPr>
          <a:xfrm>
            <a:off x="457200" y="2106168"/>
            <a:ext cx="11247120" cy="28917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booksRouter.patch("/:id", (req, res) =&gt;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id = parseId(req.params.id);</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if (id === null) return res.status(400).json({ error: "Invalid id"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parsed = parsePatch(req.body);</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if (typeof parsed === "string") return res.status(400).json({ error: parsed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book = bookRepository.update(id, parsed);</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if (!book) return res.status(404).json({ error: "Book not found"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res.json(book);</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index.ts wires JSON, routes, and one error handler</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server/src/index.ts</a:t>
            </a:r>
            <a:pPr indent="0" marL="0">
              <a:buNone/>
            </a:pPr>
            <a:r>
              <a:rPr lang="en-US" sz="2400" dirty="0">
                <a:solidFill>
                  <a:srgbClr val="F1F5F9"/>
                </a:solidFill>
                <a:latin typeface="Calibri" pitchFamily="34" charset="0"/>
                <a:ea typeface="Calibri" pitchFamily="34" charset="-122"/>
                <a:cs typeface="Calibri" pitchFamily="34" charset="-120"/>
              </a:rPr>
              <a:t> (excerpt)</a:t>
            </a:r>
            <a:endParaRPr lang="en-US" sz="2400" dirty="0"/>
          </a:p>
        </p:txBody>
      </p:sp>
      <p:sp>
        <p:nvSpPr>
          <p:cNvPr id="6" name="Text 3"/>
          <p:cNvSpPr txBox="1"/>
          <p:nvPr/>
        </p:nvSpPr>
        <p:spPr>
          <a:xfrm>
            <a:off x="457200" y="2106168"/>
            <a:ext cx="11247120" cy="34632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const app = express();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app.use(express.json());</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app.use("/api/books", booksRouter);</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app.use((err: unknown, _req: Request, res: Response, _next: NextFunction) =&gt;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console.error(err);</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res.status(500).json({ error: "Internal server error"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const PORT = Number(process.env.PORT ?? 3001);</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app.listen(PORT, () =&gt; console.log(`API listening on http://localhost:${PORT}`));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Test the API with curl before touching React</a:t>
            </a:r>
            <a:endParaRPr lang="en-US" dirty="0"/>
          </a:p>
        </p:txBody>
      </p:sp>
      <p:sp>
        <p:nvSpPr>
          <p:cNvPr id="4" name="Text 1"/>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terminal</a:t>
            </a:r>
            <a:endParaRPr lang="en-US" sz="2400" dirty="0"/>
          </a:p>
        </p:txBody>
      </p:sp>
      <p:sp>
        <p:nvSpPr>
          <p:cNvPr id="5" name="Text 2"/>
          <p:cNvSpPr txBox="1"/>
          <p:nvPr/>
        </p:nvSpPr>
        <p:spPr>
          <a:xfrm>
            <a:off x="457200" y="2106168"/>
            <a:ext cx="11247120" cy="23202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curl http://localhost:3001/api/books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curl -X POST http://localhost:3001/api/books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-H "Content-Type: application/json"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-d '{"title":"Dune","author":"Frank Herbert"}'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curl -X PATCH http://localhost:3001/api/books/1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-H "Content-Type: application/json" -d '{"status":"done"}'</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curl -i -X DELETE http://localhost:3001/api/books/1</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Three route mistakes</a:t>
            </a:r>
            <a:endParaRPr lang="en-US" dirty="0"/>
          </a:p>
        </p:txBody>
      </p:sp>
      <p:sp>
        <p:nvSpPr>
          <p:cNvPr id="3" name="Text 1"/>
          <p:cNvSpPr txBox="1"/>
          <p:nvPr/>
        </p:nvSpPr>
        <p:spPr>
          <a:xfrm>
            <a:off x="457200" y="228600"/>
            <a:ext cx="1554480" cy="274320"/>
          </a:xfrm>
          <a:prstGeom prst="roundRect">
            <a:avLst>
              <a:gd name="adj" fmla="val 26667"/>
            </a:avLst>
          </a:prstGeom>
          <a:solidFill>
            <a:srgbClr val="FB7185"/>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MISTAKES</a:t>
            </a:r>
            <a:endParaRPr lang="en-US" sz="1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3749040"/>
                <a:gridCol w="3749040"/>
                <a:gridCol w="3749040"/>
              </a:tblGrid>
              <a:tr h="0">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Mistake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Symptom</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Fix</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No express.json()</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req.body undefined; every POST fails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Register it before routes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Always returning 200</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Client can't tell failure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Proper status codes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/:id before /summary</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GET /api/books/summary → Invalid id</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Static routes before parameterized</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Try it + Milestone 3: break the API on purpose</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TRY IT</a:t>
            </a:r>
            <a:endParaRPr lang="en-US" sz="1200" dirty="0"/>
          </a:p>
        </p:txBody>
      </p:sp>
      <p:sp>
        <p:nvSpPr>
          <p:cNvPr id="5" name="Text 2"/>
          <p:cNvSpPr txBox="1"/>
          <p:nvPr/>
        </p:nvSpPr>
        <p:spPr>
          <a:xfrm>
            <a:off x="457200" y="1600200"/>
            <a:ext cx="11247120" cy="79248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"Build the router and </a:t>
            </a:r>
            <a:pPr indent="0" marL="0">
              <a:buNone/>
            </a:pPr>
            <a:r>
              <a:rPr lang="en-US" sz="2400" dirty="0">
                <a:solidFill>
                  <a:srgbClr val="38BDF8"/>
                </a:solidFill>
                <a:latin typeface="Consolas" pitchFamily="34" charset="0"/>
                <a:ea typeface="Consolas" pitchFamily="34" charset="-122"/>
                <a:cs typeface="Consolas" pitchFamily="34" charset="-120"/>
              </a:rPr>
              <a:t>index.ts</a:t>
            </a:r>
            <a:pPr indent="0" marL="0">
              <a:buNone/>
            </a:pPr>
            <a:r>
              <a:rPr lang="en-US" sz="2400" dirty="0">
                <a:solidFill>
                  <a:srgbClr val="F1F5F9"/>
                </a:solidFill>
                <a:latin typeface="Calibri" pitchFamily="34" charset="0"/>
                <a:ea typeface="Calibri" pitchFamily="34" charset="-122"/>
                <a:cs typeface="Calibri" pitchFamily="34" charset="-120"/>
              </a:rPr>
              <a:t>. POST an empty </a:t>
            </a:r>
            <a:pPr indent="0" marL="0">
              <a:buNone/>
            </a:pPr>
            <a:r>
              <a:rPr lang="en-US" sz="2400" dirty="0">
                <a:solidFill>
                  <a:srgbClr val="38BDF8"/>
                </a:solidFill>
                <a:latin typeface="Consolas" pitchFamily="34" charset="0"/>
                <a:ea typeface="Consolas" pitchFamily="34" charset="-122"/>
                <a:cs typeface="Consolas" pitchFamily="34" charset="-120"/>
              </a:rPr>
              <a:t>title</a:t>
            </a:r>
            <a:pPr indent="0" marL="0">
              <a:buNone/>
            </a:pPr>
            <a:r>
              <a:rPr lang="en-US" sz="2400" dirty="0">
                <a:solidFill>
                  <a:srgbClr val="F1F5F9"/>
                </a:solidFill>
                <a:latin typeface="Calibri" pitchFamily="34" charset="0"/>
                <a:ea typeface="Calibri" pitchFamily="34" charset="-122"/>
                <a:cs typeface="Calibri" pitchFamily="34" charset="-120"/>
              </a:rPr>
              <a:t>, then </a:t>
            </a:r>
            <a:pPr indent="0" marL="0">
              <a:buNone/>
            </a:pPr>
            <a:r>
              <a:rPr lang="en-US" sz="2400" dirty="0">
                <a:solidFill>
                  <a:srgbClr val="38BDF8"/>
                </a:solidFill>
                <a:latin typeface="Consolas" pitchFamily="34" charset="0"/>
                <a:ea typeface="Consolas" pitchFamily="34" charset="-122"/>
                <a:cs typeface="Consolas" pitchFamily="34" charset="-120"/>
              </a:rPr>
              <a:t>status: "finished"</a:t>
            </a:r>
            <a:pPr indent="0" marL="0">
              <a:buNone/>
            </a:pPr>
            <a:r>
              <a:rPr lang="en-US" sz="2400" dirty="0">
                <a:solidFill>
                  <a:srgbClr val="F1F5F9"/>
                </a:solidFill>
                <a:latin typeface="Calibri" pitchFamily="34" charset="0"/>
                <a:ea typeface="Calibri" pitchFamily="34" charset="-122"/>
                <a:cs typeface="Calibri" pitchFamily="34" charset="-120"/>
              </a:rPr>
              <a:t>, then GET </a:t>
            </a:r>
            <a:pPr indent="0" marL="0">
              <a:buNone/>
            </a:pPr>
            <a:r>
              <a:rPr lang="en-US" sz="2400" dirty="0">
                <a:solidFill>
                  <a:srgbClr val="38BDF8"/>
                </a:solidFill>
                <a:latin typeface="Consolas" pitchFamily="34" charset="0"/>
                <a:ea typeface="Consolas" pitchFamily="34" charset="-122"/>
                <a:cs typeface="Consolas" pitchFamily="34" charset="-120"/>
              </a:rPr>
              <a:t>/api/books/999</a:t>
            </a:r>
            <a:pPr indent="0" marL="0">
              <a:buNone/>
            </a:pPr>
            <a:r>
              <a:rPr lang="en-US" sz="2400" dirty="0">
                <a:solidFill>
                  <a:srgbClr val="F1F5F9"/>
                </a:solidFill>
                <a:latin typeface="Calibri" pitchFamily="34" charset="0"/>
                <a:ea typeface="Calibri" pitchFamily="34" charset="-122"/>
                <a:cs typeface="Calibri" pitchFamily="34" charset="-120"/>
              </a:rPr>
              <a:t>."</a:t>
            </a:r>
            <a:endParaRPr lang="en-US" sz="2400" dirty="0"/>
          </a:p>
        </p:txBody>
      </p:sp>
      <p:sp>
        <p:nvSpPr>
          <p:cNvPr id="6" name="Text 3"/>
          <p:cNvSpPr txBox="1"/>
          <p:nvPr/>
        </p:nvSpPr>
        <p:spPr>
          <a:xfrm>
            <a:off x="457200" y="2502408"/>
            <a:ext cx="11247120" cy="396240"/>
          </a:xfrm>
          <a:prstGeom prst="rect">
            <a:avLst/>
          </a:prstGeom>
          <a:noFill/>
          <a:ln/>
        </p:spPr>
        <p:txBody>
          <a:bodyPr wrap="square" lIns="0" tIns="0" rIns="0" bIns="0" rtlCol="0" anchor="t"/>
          <a:lstStyle/>
          <a:p>
            <a:pPr indent="0" marL="0">
              <a:buNone/>
            </a:pPr>
            <a:r>
              <a:rPr lang="en-US" sz="2400" b="1" dirty="0">
                <a:solidFill>
                  <a:srgbClr val="F1F5F9"/>
                </a:solidFill>
                <a:latin typeface="Calibri" pitchFamily="34" charset="0"/>
                <a:ea typeface="Calibri" pitchFamily="34" charset="-122"/>
                <a:cs typeface="Calibri" pitchFamily="34" charset="-120"/>
              </a:rPr>
              <a:t>~30 minutes</a:t>
            </a:r>
            <a:endParaRPr lang="en-US" sz="2400" dirty="0"/>
          </a:p>
        </p:txBody>
      </p:sp>
      <p:sp>
        <p:nvSpPr>
          <p:cNvPr id="7" name="Text 4"/>
          <p:cNvSpPr txBox="1"/>
          <p:nvPr/>
        </p:nvSpPr>
        <p:spPr>
          <a:xfrm>
            <a:off x="457200" y="3008376"/>
            <a:ext cx="11247120" cy="39624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Done = both bad POSTs return 400 with a message; 999 returns 404</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Components call one typed API module</a:t>
            </a:r>
            <a:endParaRPr lang="en-US" dirty="0"/>
          </a:p>
        </p:txBody>
      </p:sp>
      <p:sp>
        <p:nvSpPr>
          <p:cNvPr id="4" name="Text 1"/>
          <p:cNvSpPr txBox="1"/>
          <p:nvPr/>
        </p:nvSpPr>
        <p:spPr>
          <a:xfrm>
            <a:off x="457200" y="1600200"/>
            <a:ext cx="11247120" cy="146304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Components call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booksApi.list()</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never build URLs</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One place for errors, auth headers, URLs</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Browsers block cross-origin responses (CORS)</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A dev proxy removes CORS errors</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client/vite.config.ts</a:t>
            </a:r>
            <a:pPr indent="0" marL="0">
              <a:buNone/>
            </a:pPr>
            <a:r>
              <a:rPr lang="en-US" sz="2400" dirty="0">
                <a:solidFill>
                  <a:srgbClr val="F1F5F9"/>
                </a:solidFill>
                <a:latin typeface="Calibri" pitchFamily="34" charset="0"/>
                <a:ea typeface="Calibri" pitchFamily="34" charset="-122"/>
                <a:cs typeface="Calibri" pitchFamily="34" charset="-120"/>
              </a:rPr>
              <a:t> (excerpt)</a:t>
            </a:r>
            <a:endParaRPr lang="en-US" sz="2400" dirty="0"/>
          </a:p>
        </p:txBody>
      </p:sp>
      <p:sp>
        <p:nvSpPr>
          <p:cNvPr id="6" name="Text 3"/>
          <p:cNvSpPr txBox="1"/>
          <p:nvPr/>
        </p:nvSpPr>
        <p:spPr>
          <a:xfrm>
            <a:off x="457200" y="2106168"/>
            <a:ext cx="11247120" cy="26060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export default defineConfig({</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plugins: [react()],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server: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proxy: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"/api": "http://localhost:3001",</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Version note: tsconfig flags change what compiles</a:t>
            </a:r>
            <a:endParaRPr lang="en-US" dirty="0"/>
          </a:p>
        </p:txBody>
      </p:sp>
      <p:sp>
        <p:nvSpPr>
          <p:cNvPr id="3" name="Text 1"/>
          <p:cNvSpPr txBox="1"/>
          <p:nvPr/>
        </p:nvSpPr>
        <p:spPr>
          <a:xfrm>
            <a:off x="457200" y="228600"/>
            <a:ext cx="1554480" cy="274320"/>
          </a:xfrm>
          <a:prstGeom prst="roundRect">
            <a:avLst>
              <a:gd name="adj" fmla="val 26667"/>
            </a:avLst>
          </a:prstGeom>
          <a:solidFill>
            <a:srgbClr val="F97316"/>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VERSION NOTE</a:t>
            </a:r>
            <a:endParaRPr lang="en-US" sz="1200" dirty="0"/>
          </a:p>
        </p:txBody>
      </p:sp>
      <p:sp>
        <p:nvSpPr>
          <p:cNvPr id="5" name="Text 2"/>
          <p:cNvSpPr txBox="1"/>
          <p:nvPr/>
        </p:nvSpPr>
        <p:spPr>
          <a:xfrm>
            <a:off x="457200" y="1600200"/>
            <a:ext cx="11247120" cy="146304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Tailwind v4: add its Vite plugin (check docs)</a:t>
            </a:r>
            <a:endParaRPr lang="en-US" sz="2400" dirty="0"/>
          </a:p>
          <a:p>
            <a:pPr marL="342900" indent="-342900">
              <a:spcAft>
                <a:spcPts val="600"/>
              </a:spcAft>
              <a:buSzPct val="100000"/>
              <a:buChar char="•"/>
            </a:pPr>
            <a:r>
              <a:rPr lang="en-US" sz="2400" dirty="0">
                <a:solidFill>
                  <a:srgbClr val="38BDF8"/>
                </a:solidFill>
                <a:latin typeface="Consolas" pitchFamily="34" charset="0"/>
                <a:ea typeface="Consolas" pitchFamily="34" charset="-122"/>
                <a:cs typeface="Consolas" pitchFamily="34" charset="-120"/>
              </a:rPr>
              <a:t>verbatimModuleSyntax</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use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import type</a:t>
            </a:r>
            <a:endParaRPr lang="en-US" sz="2400" dirty="0"/>
          </a:p>
          <a:p>
            <a:pPr marL="342900" indent="-342900">
              <a:spcAft>
                <a:spcPts val="600"/>
              </a:spcAft>
              <a:buSzPct val="100000"/>
              <a:buChar char="•"/>
            </a:pPr>
            <a:r>
              <a:rPr lang="en-US" sz="2400" dirty="0">
                <a:solidFill>
                  <a:srgbClr val="38BDF8"/>
                </a:solidFill>
                <a:latin typeface="Consolas" pitchFamily="34" charset="0"/>
                <a:ea typeface="Consolas" pitchFamily="34" charset="-122"/>
                <a:cs typeface="Consolas" pitchFamily="34" charset="-120"/>
              </a:rPr>
              <a:t>erasableSyntaxOnly</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may ban parameter properties</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ApiError carries the HTTP status</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client/src/api/books.ts</a:t>
            </a:r>
            <a:endParaRPr lang="en-US" sz="2400" dirty="0"/>
          </a:p>
        </p:txBody>
      </p:sp>
      <p:sp>
        <p:nvSpPr>
          <p:cNvPr id="6" name="Text 3"/>
          <p:cNvSpPr txBox="1"/>
          <p:nvPr/>
        </p:nvSpPr>
        <p:spPr>
          <a:xfrm>
            <a:off x="457200" y="2106168"/>
            <a:ext cx="11247120" cy="28917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const BASE_URL: string = import.meta.env.VITE_API_URL ?? "";</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export class ApiError extends Error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status: number;</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constructor(status: number, message: string)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super(message);</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this.status = status;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fetch only rejects on network errors</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client/src/api/books.ts</a:t>
            </a:r>
            <a:endParaRPr lang="en-US" sz="2400" dirty="0"/>
          </a:p>
        </p:txBody>
      </p:sp>
      <p:sp>
        <p:nvSpPr>
          <p:cNvPr id="6" name="Text 3"/>
          <p:cNvSpPr txBox="1"/>
          <p:nvPr/>
        </p:nvSpPr>
        <p:spPr>
          <a:xfrm>
            <a:off x="457200" y="2106168"/>
            <a:ext cx="11247120" cy="3667397"/>
          </a:xfrm>
          <a:prstGeom prst="rect">
            <a:avLst/>
          </a:prstGeom>
          <a:solidFill>
            <a:srgbClr val="1E293B"/>
          </a:solidFill>
          <a:ln/>
        </p:spPr>
        <p:txBody>
          <a:bodyPr wrap="square" lIns="127000" tIns="127000" rIns="127000" bIns="127000" rtlCol="0" anchor="t"/>
          <a:lstStyle/>
          <a:p>
            <a:pPr indent="0" marL="0">
              <a:buNone/>
            </a:pPr>
            <a:r>
              <a:rPr lang="en-US" sz="1757" dirty="0">
                <a:solidFill>
                  <a:srgbClr val="E2E8F0"/>
                </a:solidFill>
                <a:latin typeface="Consolas" pitchFamily="34" charset="0"/>
                <a:ea typeface="Consolas" pitchFamily="34" charset="-122"/>
                <a:cs typeface="Consolas" pitchFamily="34" charset="-120"/>
              </a:rPr>
              <a:t>async function request&lt;T&gt;(path: string, init?: RequestInit): Promise&lt;T&gt; {</a:t>
            </a:r>
            <a:endParaRPr lang="en-US" sz="1757" dirty="0"/>
          </a:p>
          <a:p>
            <a:pPr indent="0" marL="0">
              <a:buNone/>
            </a:pPr>
            <a:r>
              <a:rPr lang="en-US" sz="1757" dirty="0">
                <a:solidFill>
                  <a:srgbClr val="E2E8F0"/>
                </a:solidFill>
                <a:latin typeface="Consolas" pitchFamily="34" charset="0"/>
                <a:ea typeface="Consolas" pitchFamily="34" charset="-122"/>
                <a:cs typeface="Consolas" pitchFamily="34" charset="-120"/>
              </a:rPr>
              <a:t>  const res = await fetch(`${BASE_URL}${path}`, {</a:t>
            </a:r>
            <a:endParaRPr lang="en-US" sz="1757" dirty="0"/>
          </a:p>
          <a:p>
            <a:pPr indent="0" marL="0">
              <a:buNone/>
            </a:pPr>
            <a:r>
              <a:rPr lang="en-US" sz="1757" dirty="0">
                <a:solidFill>
                  <a:srgbClr val="E2E8F0"/>
                </a:solidFill>
                <a:latin typeface="Consolas" pitchFamily="34" charset="0"/>
                <a:ea typeface="Consolas" pitchFamily="34" charset="-122"/>
                <a:cs typeface="Consolas" pitchFamily="34" charset="-120"/>
              </a:rPr>
              <a:t>    ...init,</a:t>
            </a:r>
            <a:endParaRPr lang="en-US" sz="1757" dirty="0"/>
          </a:p>
          <a:p>
            <a:pPr indent="0" marL="0">
              <a:buNone/>
            </a:pPr>
            <a:r>
              <a:rPr lang="en-US" sz="1757" dirty="0">
                <a:solidFill>
                  <a:srgbClr val="E2E8F0"/>
                </a:solidFill>
                <a:latin typeface="Consolas" pitchFamily="34" charset="0"/>
                <a:ea typeface="Consolas" pitchFamily="34" charset="-122"/>
                <a:cs typeface="Consolas" pitchFamily="34" charset="-120"/>
              </a:rPr>
              <a:t>    headers: { "Content-Type": "application/json", ...init?.headers },</a:t>
            </a:r>
            <a:endParaRPr lang="en-US" sz="1757" dirty="0"/>
          </a:p>
          <a:p>
            <a:pPr indent="0" marL="0">
              <a:buNone/>
            </a:pPr>
            <a:r>
              <a:rPr lang="en-US" sz="1757" dirty="0">
                <a:solidFill>
                  <a:srgbClr val="E2E8F0"/>
                </a:solidFill>
                <a:latin typeface="Consolas" pitchFamily="34" charset="0"/>
                <a:ea typeface="Consolas" pitchFamily="34" charset="-122"/>
                <a:cs typeface="Consolas" pitchFamily="34" charset="-120"/>
              </a:rPr>
              <a:t>  });</a:t>
            </a:r>
            <a:endParaRPr lang="en-US" sz="1757" dirty="0"/>
          </a:p>
          <a:p>
            <a:pPr indent="0" marL="0">
              <a:buNone/>
            </a:pPr>
            <a:r>
              <a:rPr lang="en-US" sz="1757" dirty="0">
                <a:solidFill>
                  <a:srgbClr val="E2E8F0"/>
                </a:solidFill>
                <a:latin typeface="Consolas" pitchFamily="34" charset="0"/>
                <a:ea typeface="Consolas" pitchFamily="34" charset="-122"/>
                <a:cs typeface="Consolas" pitchFamily="34" charset="-120"/>
              </a:rPr>
              <a:t>  if (!res.ok) {</a:t>
            </a:r>
            <a:endParaRPr lang="en-US" sz="1757" dirty="0"/>
          </a:p>
          <a:p>
            <a:pPr indent="0" marL="0">
              <a:buNone/>
            </a:pPr>
            <a:r>
              <a:rPr lang="en-US" sz="1757" dirty="0">
                <a:solidFill>
                  <a:srgbClr val="E2E8F0"/>
                </a:solidFill>
                <a:latin typeface="Consolas" pitchFamily="34" charset="0"/>
                <a:ea typeface="Consolas" pitchFamily="34" charset="-122"/>
                <a:cs typeface="Consolas" pitchFamily="34" charset="-120"/>
              </a:rPr>
              <a:t>    const body = (await res.json().catch(() =&gt; null)) as { error?: string } | null;</a:t>
            </a:r>
            <a:endParaRPr lang="en-US" sz="1757" dirty="0"/>
          </a:p>
          <a:p>
            <a:pPr indent="0" marL="0">
              <a:buNone/>
            </a:pPr>
            <a:r>
              <a:rPr lang="en-US" sz="1757" dirty="0">
                <a:solidFill>
                  <a:srgbClr val="E2E8F0"/>
                </a:solidFill>
                <a:latin typeface="Consolas" pitchFamily="34" charset="0"/>
                <a:ea typeface="Consolas" pitchFamily="34" charset="-122"/>
                <a:cs typeface="Consolas" pitchFamily="34" charset="-120"/>
              </a:rPr>
              <a:t>    throw new ApiError(res.status, body?.error ?? `Request failed (${res.status})`);</a:t>
            </a:r>
            <a:endParaRPr lang="en-US" sz="1757" dirty="0"/>
          </a:p>
          <a:p>
            <a:pPr indent="0" marL="0">
              <a:buNone/>
            </a:pPr>
            <a:r>
              <a:rPr lang="en-US" sz="1757" dirty="0">
                <a:solidFill>
                  <a:srgbClr val="E2E8F0"/>
                </a:solidFill>
                <a:latin typeface="Consolas" pitchFamily="34" charset="0"/>
                <a:ea typeface="Consolas" pitchFamily="34" charset="-122"/>
                <a:cs typeface="Consolas" pitchFamily="34" charset="-120"/>
              </a:rPr>
              <a:t>  }</a:t>
            </a:r>
            <a:endParaRPr lang="en-US" sz="1757" dirty="0"/>
          </a:p>
          <a:p>
            <a:pPr indent="0" marL="0">
              <a:buNone/>
            </a:pPr>
            <a:r>
              <a:rPr lang="en-US" sz="1757" dirty="0">
                <a:solidFill>
                  <a:srgbClr val="E2E8F0"/>
                </a:solidFill>
                <a:latin typeface="Consolas" pitchFamily="34" charset="0"/>
                <a:ea typeface="Consolas" pitchFamily="34" charset="-122"/>
                <a:cs typeface="Consolas" pitchFamily="34" charset="-120"/>
              </a:rPr>
              <a:t>  if (res.status === 204) return undefined as T;</a:t>
            </a:r>
            <a:endParaRPr lang="en-US" sz="1757" dirty="0"/>
          </a:p>
          <a:p>
            <a:pPr indent="0" marL="0">
              <a:buNone/>
            </a:pPr>
            <a:r>
              <a:rPr lang="en-US" sz="1757" dirty="0">
                <a:solidFill>
                  <a:srgbClr val="E2E8F0"/>
                </a:solidFill>
                <a:latin typeface="Consolas" pitchFamily="34" charset="0"/>
                <a:ea typeface="Consolas" pitchFamily="34" charset="-122"/>
                <a:cs typeface="Consolas" pitchFamily="34" charset="-120"/>
              </a:rPr>
              <a:t>  return (await res.json()) as T;</a:t>
            </a:r>
            <a:endParaRPr lang="en-US" sz="1757" dirty="0"/>
          </a:p>
          <a:p>
            <a:pPr indent="0" marL="0">
              <a:buNone/>
            </a:pPr>
            <a:r>
              <a:rPr lang="en-US" sz="1757" dirty="0">
                <a:solidFill>
                  <a:srgbClr val="E2E8F0"/>
                </a:solidFill>
                <a:latin typeface="Consolas" pitchFamily="34" charset="0"/>
                <a:ea typeface="Consolas" pitchFamily="34" charset="-122"/>
                <a:cs typeface="Consolas" pitchFamily="34" charset="-120"/>
              </a:rPr>
              <a:t>}</a:t>
            </a:r>
            <a:endParaRPr lang="en-US" sz="1757"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booksApi gives components four typed calls</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client/src/api/books.ts</a:t>
            </a:r>
            <a:endParaRPr lang="en-US" sz="2400" dirty="0"/>
          </a:p>
        </p:txBody>
      </p:sp>
      <p:sp>
        <p:nvSpPr>
          <p:cNvPr id="6" name="Text 3"/>
          <p:cNvSpPr txBox="1"/>
          <p:nvPr/>
        </p:nvSpPr>
        <p:spPr>
          <a:xfrm>
            <a:off x="457200" y="2106168"/>
            <a:ext cx="11247120" cy="2450176"/>
          </a:xfrm>
          <a:prstGeom prst="rect">
            <a:avLst/>
          </a:prstGeom>
          <a:solidFill>
            <a:srgbClr val="1E293B"/>
          </a:solidFill>
          <a:ln/>
        </p:spPr>
        <p:txBody>
          <a:bodyPr wrap="square" lIns="127000" tIns="127000" rIns="127000" bIns="127000" rtlCol="0" anchor="t"/>
          <a:lstStyle/>
          <a:p>
            <a:pPr indent="0" marL="0">
              <a:buNone/>
            </a:pPr>
            <a:r>
              <a:rPr lang="en-US" sz="1677" dirty="0">
                <a:solidFill>
                  <a:srgbClr val="E2E8F0"/>
                </a:solidFill>
                <a:latin typeface="Consolas" pitchFamily="34" charset="0"/>
                <a:ea typeface="Consolas" pitchFamily="34" charset="-122"/>
                <a:cs typeface="Consolas" pitchFamily="34" charset="-120"/>
              </a:rPr>
              <a:t>export const booksApi = {</a:t>
            </a:r>
            <a:endParaRPr lang="en-US" sz="1677" dirty="0"/>
          </a:p>
          <a:p>
            <a:pPr indent="0" marL="0">
              <a:buNone/>
            </a:pPr>
            <a:r>
              <a:rPr lang="en-US" sz="1677" dirty="0">
                <a:solidFill>
                  <a:srgbClr val="E2E8F0"/>
                </a:solidFill>
                <a:latin typeface="Consolas" pitchFamily="34" charset="0"/>
                <a:ea typeface="Consolas" pitchFamily="34" charset="-122"/>
                <a:cs typeface="Consolas" pitchFamily="34" charset="-120"/>
              </a:rPr>
              <a:t>  list: (signal?: AbortSignal) =&gt; request&lt;Book[]&gt;("/api/books", { signal }),</a:t>
            </a:r>
            <a:endParaRPr lang="en-US" sz="1677" dirty="0"/>
          </a:p>
          <a:p>
            <a:pPr indent="0" marL="0">
              <a:buNone/>
            </a:pPr>
            <a:r>
              <a:rPr lang="en-US" sz="1677" dirty="0">
                <a:solidFill>
                  <a:srgbClr val="E2E8F0"/>
                </a:solidFill>
                <a:latin typeface="Consolas" pitchFamily="34" charset="0"/>
                <a:ea typeface="Consolas" pitchFamily="34" charset="-122"/>
                <a:cs typeface="Consolas" pitchFamily="34" charset="-120"/>
              </a:rPr>
              <a:t>  create: (input: NewBook) =&gt;</a:t>
            </a:r>
            <a:endParaRPr lang="en-US" sz="1677" dirty="0"/>
          </a:p>
          <a:p>
            <a:pPr indent="0" marL="0">
              <a:buNone/>
            </a:pPr>
            <a:r>
              <a:rPr lang="en-US" sz="1677" dirty="0">
                <a:solidFill>
                  <a:srgbClr val="E2E8F0"/>
                </a:solidFill>
                <a:latin typeface="Consolas" pitchFamily="34" charset="0"/>
                <a:ea typeface="Consolas" pitchFamily="34" charset="-122"/>
                <a:cs typeface="Consolas" pitchFamily="34" charset="-120"/>
              </a:rPr>
              <a:t>    request&lt;Book&gt;("/api/books", { method: "POST", body: JSON.stringify(input) }),</a:t>
            </a:r>
            <a:endParaRPr lang="en-US" sz="1677" dirty="0"/>
          </a:p>
          <a:p>
            <a:pPr indent="0" marL="0">
              <a:buNone/>
            </a:pPr>
            <a:r>
              <a:rPr lang="en-US" sz="1677" dirty="0">
                <a:solidFill>
                  <a:srgbClr val="E2E8F0"/>
                </a:solidFill>
                <a:latin typeface="Consolas" pitchFamily="34" charset="0"/>
                <a:ea typeface="Consolas" pitchFamily="34" charset="-122"/>
                <a:cs typeface="Consolas" pitchFamily="34" charset="-120"/>
              </a:rPr>
              <a:t>  update: (id: number, patch: BookPatch) =&gt;</a:t>
            </a:r>
            <a:endParaRPr lang="en-US" sz="1677" dirty="0"/>
          </a:p>
          <a:p>
            <a:pPr indent="0" marL="0">
              <a:buNone/>
            </a:pPr>
            <a:r>
              <a:rPr lang="en-US" sz="1677" dirty="0">
                <a:solidFill>
                  <a:srgbClr val="E2E8F0"/>
                </a:solidFill>
                <a:latin typeface="Consolas" pitchFamily="34" charset="0"/>
                <a:ea typeface="Consolas" pitchFamily="34" charset="-122"/>
                <a:cs typeface="Consolas" pitchFamily="34" charset="-120"/>
              </a:rPr>
              <a:t>    request&lt;Book&gt;(`/api/books/${id}`, { method: "PATCH", body: JSON.stringify(patch) }),</a:t>
            </a:r>
            <a:endParaRPr lang="en-US" sz="1677" dirty="0"/>
          </a:p>
          <a:p>
            <a:pPr indent="0" marL="0">
              <a:buNone/>
            </a:pPr>
            <a:r>
              <a:rPr lang="en-US" sz="1677" dirty="0">
                <a:solidFill>
                  <a:srgbClr val="E2E8F0"/>
                </a:solidFill>
                <a:latin typeface="Consolas" pitchFamily="34" charset="0"/>
                <a:ea typeface="Consolas" pitchFamily="34" charset="-122"/>
                <a:cs typeface="Consolas" pitchFamily="34" charset="-120"/>
              </a:rPr>
              <a:t>  remove: (id: number) =&gt; request&lt;void&gt;(`/api/books/${id}`, { method: "DELETE" }),</a:t>
            </a:r>
            <a:endParaRPr lang="en-US" sz="1677" dirty="0"/>
          </a:p>
          <a:p>
            <a:pPr indent="0" marL="0">
              <a:buNone/>
            </a:pPr>
            <a:r>
              <a:rPr lang="en-US" sz="1677" dirty="0">
                <a:solidFill>
                  <a:srgbClr val="E2E8F0"/>
                </a:solidFill>
                <a:latin typeface="Consolas" pitchFamily="34" charset="0"/>
                <a:ea typeface="Consolas" pitchFamily="34" charset="-122"/>
                <a:cs typeface="Consolas" pitchFamily="34" charset="-120"/>
              </a:rPr>
              <a:t>};</a:t>
            </a:r>
            <a:endParaRPr lang="en-US" sz="1677"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Three client-layer mistakes</a:t>
            </a:r>
            <a:endParaRPr lang="en-US" dirty="0"/>
          </a:p>
        </p:txBody>
      </p:sp>
      <p:sp>
        <p:nvSpPr>
          <p:cNvPr id="3" name="Text 1"/>
          <p:cNvSpPr txBox="1"/>
          <p:nvPr/>
        </p:nvSpPr>
        <p:spPr>
          <a:xfrm>
            <a:off x="457200" y="228600"/>
            <a:ext cx="1554480" cy="274320"/>
          </a:xfrm>
          <a:prstGeom prst="roundRect">
            <a:avLst>
              <a:gd name="adj" fmla="val 26667"/>
            </a:avLst>
          </a:prstGeom>
          <a:solidFill>
            <a:srgbClr val="FB7185"/>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MISTAKES</a:t>
            </a:r>
            <a:endParaRPr lang="en-US" sz="12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3749040"/>
                <a:gridCol w="3749040"/>
                <a:gridCol w="3749040"/>
              </a:tblGrid>
              <a:tr h="0">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Mistake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Symptom</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Fix</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fetch("http://localhost:3001/...") in a component</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blocked by CORS policy</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Relative /api/... plus proxy</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Assume fetch throws on 404/500</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books.map is not a function</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Check res.ok and throw</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Secrets in VITE_ variables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Visible in browser bundle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Secrets stay on the server</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Try it + Milestone 4: prove the proxy works</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TRY IT</a:t>
            </a:r>
            <a:endParaRPr lang="en-US" sz="1200" dirty="0"/>
          </a:p>
        </p:txBody>
      </p:sp>
      <p:sp>
        <p:nvSpPr>
          <p:cNvPr id="5" name="Text 2"/>
          <p:cNvSpPr txBox="1"/>
          <p:nvPr/>
        </p:nvSpPr>
        <p:spPr>
          <a:xfrm>
            <a:off x="457200" y="1600200"/>
            <a:ext cx="11247120" cy="79248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"Scaffold the client; add proxy, </a:t>
            </a:r>
            <a:pPr indent="0" marL="0">
              <a:buNone/>
            </a:pPr>
            <a:r>
              <a:rPr lang="en-US" sz="2400" dirty="0">
                <a:solidFill>
                  <a:srgbClr val="38BDF8"/>
                </a:solidFill>
                <a:latin typeface="Consolas" pitchFamily="34" charset="0"/>
                <a:ea typeface="Consolas" pitchFamily="34" charset="-122"/>
                <a:cs typeface="Consolas" pitchFamily="34" charset="-120"/>
              </a:rPr>
              <a:t>types.ts</a:t>
            </a:r>
            <a:pPr indent="0" marL="0">
              <a:buNone/>
            </a:pPr>
            <a:r>
              <a:rPr lang="en-US" sz="2400" dirty="0">
                <a:solidFill>
                  <a:srgbClr val="F1F5F9"/>
                </a:solidFill>
                <a:latin typeface="Calibri" pitchFamily="34" charset="0"/>
                <a:ea typeface="Calibri" pitchFamily="34" charset="-122"/>
                <a:cs typeface="Calibri" pitchFamily="34" charset="-120"/>
              </a:rPr>
              <a:t>, </a:t>
            </a:r>
            <a:pPr indent="0" marL="0">
              <a:buNone/>
            </a:pPr>
            <a:r>
              <a:rPr lang="en-US" sz="2400" dirty="0">
                <a:solidFill>
                  <a:srgbClr val="38BDF8"/>
                </a:solidFill>
                <a:latin typeface="Consolas" pitchFamily="34" charset="0"/>
                <a:ea typeface="Consolas" pitchFamily="34" charset="-122"/>
                <a:cs typeface="Consolas" pitchFamily="34" charset="-120"/>
              </a:rPr>
              <a:t>api/books.ts</a:t>
            </a:r>
            <a:pPr indent="0" marL="0">
              <a:buNone/>
            </a:pPr>
            <a:r>
              <a:rPr lang="en-US" sz="2400" dirty="0">
                <a:solidFill>
                  <a:srgbClr val="F1F5F9"/>
                </a:solidFill>
                <a:latin typeface="Calibri" pitchFamily="34" charset="0"/>
                <a:ea typeface="Calibri" pitchFamily="34" charset="-122"/>
                <a:cs typeface="Calibri" pitchFamily="34" charset="-120"/>
              </a:rPr>
              <a:t>. Call </a:t>
            </a:r>
            <a:pPr indent="0" marL="0">
              <a:buNone/>
            </a:pPr>
            <a:r>
              <a:rPr lang="en-US" sz="2400" dirty="0">
                <a:solidFill>
                  <a:srgbClr val="38BDF8"/>
                </a:solidFill>
                <a:latin typeface="Consolas" pitchFamily="34" charset="0"/>
                <a:ea typeface="Consolas" pitchFamily="34" charset="-122"/>
                <a:cs typeface="Consolas" pitchFamily="34" charset="-120"/>
              </a:rPr>
              <a:t>booksApi.list().then(console.log)</a:t>
            </a:r>
            <a:pPr indent="0" marL="0">
              <a:buNone/>
            </a:pPr>
            <a:r>
              <a:rPr lang="en-US" sz="2400" dirty="0">
                <a:solidFill>
                  <a:srgbClr val="F1F5F9"/>
                </a:solidFill>
                <a:latin typeface="Calibri" pitchFamily="34" charset="0"/>
                <a:ea typeface="Calibri" pitchFamily="34" charset="-122"/>
                <a:cs typeface="Calibri" pitchFamily="34" charset="-120"/>
              </a:rPr>
              <a:t> from a temporary </a:t>
            </a:r>
            <a:pPr indent="0" marL="0">
              <a:buNone/>
            </a:pPr>
            <a:r>
              <a:rPr lang="en-US" sz="2400" dirty="0">
                <a:solidFill>
                  <a:srgbClr val="38BDF8"/>
                </a:solidFill>
                <a:latin typeface="Consolas" pitchFamily="34" charset="0"/>
                <a:ea typeface="Consolas" pitchFamily="34" charset="-122"/>
                <a:cs typeface="Consolas" pitchFamily="34" charset="-120"/>
              </a:rPr>
              <a:t>useEffect</a:t>
            </a:r>
            <a:pPr indent="0" marL="0">
              <a:buNone/>
            </a:pPr>
            <a:r>
              <a:rPr lang="en-US" sz="2400" dirty="0">
                <a:solidFill>
                  <a:srgbClr val="F1F5F9"/>
                </a:solidFill>
                <a:latin typeface="Calibri" pitchFamily="34" charset="0"/>
                <a:ea typeface="Calibri" pitchFamily="34" charset="-122"/>
                <a:cs typeface="Calibri" pitchFamily="34" charset="-120"/>
              </a:rPr>
              <a:t>."</a:t>
            </a:r>
            <a:endParaRPr lang="en-US" sz="2400" dirty="0"/>
          </a:p>
        </p:txBody>
      </p:sp>
      <p:sp>
        <p:nvSpPr>
          <p:cNvPr id="6" name="Text 3"/>
          <p:cNvSpPr txBox="1"/>
          <p:nvPr/>
        </p:nvSpPr>
        <p:spPr>
          <a:xfrm>
            <a:off x="457200" y="2502408"/>
            <a:ext cx="11247120" cy="396240"/>
          </a:xfrm>
          <a:prstGeom prst="rect">
            <a:avLst/>
          </a:prstGeom>
          <a:noFill/>
          <a:ln/>
        </p:spPr>
        <p:txBody>
          <a:bodyPr wrap="square" lIns="0" tIns="0" rIns="0" bIns="0" rtlCol="0" anchor="t"/>
          <a:lstStyle/>
          <a:p>
            <a:pPr indent="0" marL="0">
              <a:buNone/>
            </a:pPr>
            <a:r>
              <a:rPr lang="en-US" sz="2400" b="1" dirty="0">
                <a:solidFill>
                  <a:srgbClr val="F1F5F9"/>
                </a:solidFill>
                <a:latin typeface="Calibri" pitchFamily="34" charset="0"/>
                <a:ea typeface="Calibri" pitchFamily="34" charset="-122"/>
                <a:cs typeface="Calibri" pitchFamily="34" charset="-120"/>
              </a:rPr>
              <a:t>~20 minutes</a:t>
            </a:r>
            <a:endParaRPr lang="en-US" sz="2400" dirty="0"/>
          </a:p>
        </p:txBody>
      </p:sp>
      <p:sp>
        <p:nvSpPr>
          <p:cNvPr id="7" name="Text 4"/>
          <p:cNvSpPr txBox="1"/>
          <p:nvPr/>
        </p:nvSpPr>
        <p:spPr>
          <a:xfrm>
            <a:off x="457200" y="3008376"/>
            <a:ext cx="11247120" cy="39624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Done = seeded books logged; CORS error reproduced then fixed</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Reads are side effects, so use useEffect</a:t>
            </a:r>
            <a:endParaRPr lang="en-US" dirty="0"/>
          </a:p>
        </p:txBody>
      </p:sp>
      <p:sp>
        <p:nvSpPr>
          <p:cNvPr id="4" name="Text 1"/>
          <p:cNvSpPr txBox="1"/>
          <p:nvPr/>
        </p:nvSpPr>
        <p:spPr>
          <a:xfrm>
            <a:off x="457200" y="1600200"/>
            <a:ext cx="11247120" cy="146304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Keep three states: data, loading, error</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Fetch once on mount</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Cancel in cleanup so stale responses can't win</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Start in the loading state</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client/src/App.tsx</a:t>
            </a:r>
            <a:endParaRPr lang="en-US" sz="2400" dirty="0"/>
          </a:p>
        </p:txBody>
      </p:sp>
      <p:sp>
        <p:nvSpPr>
          <p:cNvPr id="6" name="Text 3"/>
          <p:cNvSpPr txBox="1"/>
          <p:nvPr/>
        </p:nvSpPr>
        <p:spPr>
          <a:xfrm>
            <a:off x="457200" y="2106168"/>
            <a:ext cx="11247120" cy="31775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const [books, setBooks] = useState&lt;Book[]&gt;([]);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const [loading, setLoading] = useState(true);</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const [loadError, setLoadError] = useState&lt;string | null&gt;(null);</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useEffect(() =&gt;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controller = new AbortController();</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booksApi</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.list(controller.signal)</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.then((data) =&gt; { setBooks(data); setLoadError(null); })</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Cancel quietly; don't report an abort as an error</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client/src/App.tsx</a:t>
            </a:r>
            <a:pPr indent="0" marL="0">
              <a:buNone/>
            </a:pPr>
            <a:r>
              <a:rPr lang="en-US" sz="2400" dirty="0">
                <a:solidFill>
                  <a:srgbClr val="F1F5F9"/>
                </a:solidFill>
                <a:latin typeface="Calibri" pitchFamily="34" charset="0"/>
                <a:ea typeface="Calibri" pitchFamily="34" charset="-122"/>
                <a:cs typeface="Calibri" pitchFamily="34" charset="-120"/>
              </a:rPr>
              <a:t> (continued)</a:t>
            </a:r>
            <a:endParaRPr lang="en-US" sz="2400" dirty="0"/>
          </a:p>
        </p:txBody>
      </p:sp>
      <p:sp>
        <p:nvSpPr>
          <p:cNvPr id="6" name="Text 3"/>
          <p:cNvSpPr txBox="1"/>
          <p:nvPr/>
        </p:nvSpPr>
        <p:spPr>
          <a:xfrm>
            <a:off x="457200" y="2106168"/>
            <a:ext cx="11247120" cy="31775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    .catch((err: unknown) =&gt;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if (err instanceof DOMException &amp;&amp; err.name === "AbortError") return;</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setLoadError(err instanceof Error ? err.message : "Could not load books");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.finally(() =&gt;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if (!controller.signal.aborted) setLoading(false);</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return () =&gt; controller.abort();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Render loading, error, empty, or the list</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client/src/App.tsx</a:t>
            </a:r>
            <a:pPr indent="0" marL="0">
              <a:buNone/>
            </a:pPr>
            <a:r>
              <a:rPr lang="en-US" sz="2400" dirty="0">
                <a:solidFill>
                  <a:srgbClr val="F1F5F9"/>
                </a:solidFill>
                <a:latin typeface="Calibri" pitchFamily="34" charset="0"/>
                <a:ea typeface="Calibri" pitchFamily="34" charset="-122"/>
                <a:cs typeface="Calibri" pitchFamily="34" charset="-120"/>
              </a:rPr>
              <a:t> (excerpt)</a:t>
            </a:r>
            <a:endParaRPr lang="en-US" sz="2400" dirty="0"/>
          </a:p>
        </p:txBody>
      </p:sp>
      <p:sp>
        <p:nvSpPr>
          <p:cNvPr id="6" name="Text 3"/>
          <p:cNvSpPr txBox="1"/>
          <p:nvPr/>
        </p:nvSpPr>
        <p:spPr>
          <a:xfrm>
            <a:off x="457200" y="2106168"/>
            <a:ext cx="11247120" cy="34632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if (loading) return &lt;p className="p-6 text-slate-500"&gt;Loading books…&lt;/p&gt;;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if (loadError) return &lt;p className="p-6 text-red-600"&gt;{loadError}&lt;/p&gt;;</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return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&lt;main className="mx-auto max-w-xl p-6"&gt;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&lt;h1 className="text-2xl font-bold"&gt;BookShelf&lt;/h1&gt;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{books.length === 0 ?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&lt;p className="mt-4 text-slate-500"&gt;No books yet.&lt;/p&gt;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 : ( /* &lt;ul&gt; with books.map(...), key={b.id} */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&lt;/main&gt;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Version note: StrictMode runs this effect twice</a:t>
            </a:r>
            <a:endParaRPr lang="en-US" dirty="0"/>
          </a:p>
        </p:txBody>
      </p:sp>
      <p:sp>
        <p:nvSpPr>
          <p:cNvPr id="3" name="Text 1"/>
          <p:cNvSpPr txBox="1"/>
          <p:nvPr/>
        </p:nvSpPr>
        <p:spPr>
          <a:xfrm>
            <a:off x="457200" y="228600"/>
            <a:ext cx="1554480" cy="274320"/>
          </a:xfrm>
          <a:prstGeom prst="roundRect">
            <a:avLst>
              <a:gd name="adj" fmla="val 26667"/>
            </a:avLst>
          </a:prstGeom>
          <a:solidFill>
            <a:srgbClr val="F97316"/>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VERSION NOTE</a:t>
            </a:r>
            <a:endParaRPr lang="en-US" sz="1200" dirty="0"/>
          </a:p>
        </p:txBody>
      </p:sp>
      <p:sp>
        <p:nvSpPr>
          <p:cNvPr id="5" name="Text 2"/>
          <p:cNvSpPr txBox="1"/>
          <p:nvPr/>
        </p:nvSpPr>
        <p:spPr>
          <a:xfrm>
            <a:off x="457200" y="1600200"/>
            <a:ext cx="11247120" cy="146304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Dev only: mount, unmount, re-mount</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You'll see two requests in Network</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Cleanup makes the first one harmless</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Three read mistakes</a:t>
            </a:r>
            <a:endParaRPr lang="en-US" dirty="0"/>
          </a:p>
        </p:txBody>
      </p:sp>
      <p:sp>
        <p:nvSpPr>
          <p:cNvPr id="3" name="Text 1"/>
          <p:cNvSpPr txBox="1"/>
          <p:nvPr/>
        </p:nvSpPr>
        <p:spPr>
          <a:xfrm>
            <a:off x="457200" y="228600"/>
            <a:ext cx="1554480" cy="274320"/>
          </a:xfrm>
          <a:prstGeom prst="roundRect">
            <a:avLst>
              <a:gd name="adj" fmla="val 26667"/>
            </a:avLst>
          </a:prstGeom>
          <a:solidFill>
            <a:srgbClr val="FB7185"/>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MISTAKES</a:t>
            </a:r>
            <a:endParaRPr lang="en-US" sz="12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3749040"/>
                <a:gridCol w="3749040"/>
                <a:gridCol w="3749040"/>
              </a:tblGrid>
              <a:tr h="0">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Mistake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Symptom</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Fix</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async effect callback</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Warning: effect callbacks are synchronous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Use .then() or inner async function</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Fetch in component body</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Infinite request loop</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Fetch inside useEffect with deps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books is undefined</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Cannot read properties of undefined (reading 'map')</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Initialize with []</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Try it + Milestone 5: see every state</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TRY IT</a:t>
            </a:r>
            <a:endParaRPr lang="en-US" sz="1200" dirty="0"/>
          </a:p>
        </p:txBody>
      </p:sp>
      <p:sp>
        <p:nvSpPr>
          <p:cNvPr id="5" name="Text 2"/>
          <p:cNvSpPr txBox="1"/>
          <p:nvPr/>
        </p:nvSpPr>
        <p:spPr>
          <a:xfrm>
            <a:off x="457200" y="1600200"/>
            <a:ext cx="11247120" cy="79248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"Stop the server, refresh (error). Restart, throttle to Slow 3G (loading). Render seeded books."</a:t>
            </a:r>
            <a:endParaRPr lang="en-US" sz="2400" dirty="0"/>
          </a:p>
        </p:txBody>
      </p:sp>
      <p:sp>
        <p:nvSpPr>
          <p:cNvPr id="6" name="Text 3"/>
          <p:cNvSpPr txBox="1"/>
          <p:nvPr/>
        </p:nvSpPr>
        <p:spPr>
          <a:xfrm>
            <a:off x="457200" y="2502408"/>
            <a:ext cx="11247120" cy="396240"/>
          </a:xfrm>
          <a:prstGeom prst="rect">
            <a:avLst/>
          </a:prstGeom>
          <a:noFill/>
          <a:ln/>
        </p:spPr>
        <p:txBody>
          <a:bodyPr wrap="square" lIns="0" tIns="0" rIns="0" bIns="0" rtlCol="0" anchor="t"/>
          <a:lstStyle/>
          <a:p>
            <a:pPr indent="0" marL="0">
              <a:buNone/>
            </a:pPr>
            <a:r>
              <a:rPr lang="en-US" sz="2400" b="1" dirty="0">
                <a:solidFill>
                  <a:srgbClr val="F1F5F9"/>
                </a:solidFill>
                <a:latin typeface="Calibri" pitchFamily="34" charset="0"/>
                <a:ea typeface="Calibri" pitchFamily="34" charset="-122"/>
                <a:cs typeface="Calibri" pitchFamily="34" charset="-120"/>
              </a:rPr>
              <a:t>~20 minutes</a:t>
            </a:r>
            <a:endParaRPr lang="en-US" sz="2400" dirty="0"/>
          </a:p>
        </p:txBody>
      </p:sp>
      <p:sp>
        <p:nvSpPr>
          <p:cNvPr id="7" name="Text 4"/>
          <p:cNvSpPr txBox="1"/>
          <p:nvPr/>
        </p:nvSpPr>
        <p:spPr>
          <a:xfrm>
            <a:off x="457200" y="3008376"/>
            <a:ext cx="11247120" cy="39624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Done = books survive a refresh</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Wait for the server, or update first and repair</a:t>
            </a:r>
            <a:endParaRPr lang="en-US" dirty="0"/>
          </a:p>
        </p:txBody>
      </p:sp>
      <p:sp>
        <p:nvSpPr>
          <p:cNvPr id="4" name="Text 1"/>
          <p:cNvSpPr txBox="1"/>
          <p:nvPr/>
        </p:nvSpPr>
        <p:spPr>
          <a:xfrm>
            <a:off x="457200" y="1600200"/>
            <a:ext cx="11247120" cy="176784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Left, </a:t>
            </a:r>
            <a:pPr indent="0" marL="0">
              <a:spcAft>
                <a:spcPts val="600"/>
              </a:spcAft>
              <a:buNone/>
            </a:pPr>
            <a:r>
              <a:rPr lang="en-US" sz="2400" b="1" dirty="0">
                <a:solidFill>
                  <a:srgbClr val="F1F5F9"/>
                </a:solidFill>
                <a:latin typeface="Calibri" pitchFamily="34" charset="0"/>
                <a:ea typeface="Calibri" pitchFamily="34" charset="-122"/>
                <a:cs typeface="Calibri" pitchFamily="34" charset="-120"/>
              </a:rPr>
              <a:t>Pessimistic:</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call API, then update UI. Simple, accurate. Use for create and delete.</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Right, </a:t>
            </a:r>
            <a:pPr indent="0" marL="0">
              <a:spcAft>
                <a:spcPts val="600"/>
              </a:spcAft>
              <a:buNone/>
            </a:pPr>
            <a:r>
              <a:rPr lang="en-US" sz="2400" b="1" dirty="0">
                <a:solidFill>
                  <a:srgbClr val="F1F5F9"/>
                </a:solidFill>
                <a:latin typeface="Calibri" pitchFamily="34" charset="0"/>
                <a:ea typeface="Calibri" pitchFamily="34" charset="-122"/>
                <a:cs typeface="Calibri" pitchFamily="34" charset="-120"/>
              </a:rPr>
              <a:t>Optimistic:</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update UI, call API, roll back on failure. Instant feel. Use for status changes.</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The form keeps its text if the save fails</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5" name="Text 2"/>
          <p:cNvSpPr txBox="1"/>
          <p:nvPr/>
        </p:nvSpPr>
        <p:spPr>
          <a:xfrm>
            <a:off x="457200" y="1600200"/>
            <a:ext cx="11247120" cy="376428"/>
          </a:xfrm>
          <a:prstGeom prst="rect">
            <a:avLst/>
          </a:prstGeom>
          <a:noFill/>
          <a:ln/>
        </p:spPr>
        <p:txBody>
          <a:bodyPr wrap="square" lIns="0" tIns="0" rIns="0" bIns="0" rtlCol="0" anchor="t"/>
          <a:lstStyle/>
          <a:p>
            <a:pPr indent="0" marL="0">
              <a:buNone/>
            </a:pPr>
            <a:r>
              <a:rPr lang="en-US" sz="2280" dirty="0">
                <a:solidFill>
                  <a:srgbClr val="38BDF8"/>
                </a:solidFill>
                <a:latin typeface="Consolas" pitchFamily="34" charset="0"/>
                <a:ea typeface="Consolas" pitchFamily="34" charset="-122"/>
                <a:cs typeface="Consolas" pitchFamily="34" charset="-120"/>
              </a:rPr>
              <a:t>client/src/components/AddBookForm.tsx</a:t>
            </a:r>
            <a:endParaRPr lang="en-US" sz="2280" dirty="0"/>
          </a:p>
        </p:txBody>
      </p:sp>
      <p:sp>
        <p:nvSpPr>
          <p:cNvPr id="6" name="Text 3"/>
          <p:cNvSpPr txBox="1"/>
          <p:nvPr/>
        </p:nvSpPr>
        <p:spPr>
          <a:xfrm>
            <a:off x="457200" y="2086356"/>
            <a:ext cx="11247120" cy="4120515"/>
          </a:xfrm>
          <a:prstGeom prst="rect">
            <a:avLst/>
          </a:prstGeom>
          <a:solidFill>
            <a:srgbClr val="1E293B"/>
          </a:solidFill>
          <a:ln/>
        </p:spPr>
        <p:txBody>
          <a:bodyPr wrap="square" lIns="127000" tIns="127000" rIns="127000" bIns="127000" rtlCol="0" anchor="t"/>
          <a:lstStyle/>
          <a:p>
            <a:pPr indent="0" marL="0">
              <a:buNone/>
            </a:pPr>
            <a:r>
              <a:rPr lang="en-US" sz="1710" dirty="0">
                <a:solidFill>
                  <a:srgbClr val="E2E8F0"/>
                </a:solidFill>
                <a:latin typeface="Consolas" pitchFamily="34" charset="0"/>
                <a:ea typeface="Consolas" pitchFamily="34" charset="-122"/>
                <a:cs typeface="Consolas" pitchFamily="34" charset="-120"/>
              </a:rPr>
              <a:t>const handleSubmit = async (e: FormEvent&lt;HTMLFormElement&gt;) =&gt; {</a:t>
            </a:r>
            <a:endParaRPr lang="en-US" sz="1710" dirty="0"/>
          </a:p>
          <a:p>
            <a:pPr indent="0" marL="0">
              <a:buNone/>
            </a:pPr>
            <a:r>
              <a:rPr lang="en-US" sz="1710" dirty="0">
                <a:solidFill>
                  <a:srgbClr val="E2E8F0"/>
                </a:solidFill>
                <a:latin typeface="Consolas" pitchFamily="34" charset="0"/>
                <a:ea typeface="Consolas" pitchFamily="34" charset="-122"/>
                <a:cs typeface="Consolas" pitchFamily="34" charset="-120"/>
              </a:rPr>
              <a:t>  e.preventDefault();</a:t>
            </a:r>
            <a:endParaRPr lang="en-US" sz="1710" dirty="0"/>
          </a:p>
          <a:p>
            <a:pPr indent="0" marL="0">
              <a:buNone/>
            </a:pPr>
            <a:r>
              <a:rPr lang="en-US" sz="1710" dirty="0">
                <a:solidFill>
                  <a:srgbClr val="E2E8F0"/>
                </a:solidFill>
                <a:latin typeface="Consolas" pitchFamily="34" charset="0"/>
                <a:ea typeface="Consolas" pitchFamily="34" charset="-122"/>
                <a:cs typeface="Consolas" pitchFamily="34" charset="-120"/>
              </a:rPr>
              <a:t>  if (!title.trim() || !author.trim()) return;</a:t>
            </a:r>
            <a:endParaRPr lang="en-US" sz="1710" dirty="0"/>
          </a:p>
          <a:p>
            <a:pPr indent="0" marL="0">
              <a:buNone/>
            </a:pPr>
            <a:r>
              <a:rPr lang="en-US" sz="1710" dirty="0">
                <a:solidFill>
                  <a:srgbClr val="E2E8F0"/>
                </a:solidFill>
                <a:latin typeface="Consolas" pitchFamily="34" charset="0"/>
                <a:ea typeface="Consolas" pitchFamily="34" charset="-122"/>
                <a:cs typeface="Consolas" pitchFamily="34" charset="-120"/>
              </a:rPr>
              <a:t>  setSubmitting(true);</a:t>
            </a:r>
            <a:endParaRPr lang="en-US" sz="1710" dirty="0"/>
          </a:p>
          <a:p>
            <a:pPr indent="0" marL="0">
              <a:buNone/>
            </a:pPr>
            <a:r>
              <a:rPr lang="en-US" sz="1710" dirty="0">
                <a:solidFill>
                  <a:srgbClr val="E2E8F0"/>
                </a:solidFill>
                <a:latin typeface="Consolas" pitchFamily="34" charset="0"/>
                <a:ea typeface="Consolas" pitchFamily="34" charset="-122"/>
                <a:cs typeface="Consolas" pitchFamily="34" charset="-120"/>
              </a:rPr>
              <a:t>  try {</a:t>
            </a:r>
            <a:endParaRPr lang="en-US" sz="1710" dirty="0"/>
          </a:p>
          <a:p>
            <a:pPr indent="0" marL="0">
              <a:buNone/>
            </a:pPr>
            <a:r>
              <a:rPr lang="en-US" sz="1710" dirty="0">
                <a:solidFill>
                  <a:srgbClr val="E2E8F0"/>
                </a:solidFill>
                <a:latin typeface="Consolas" pitchFamily="34" charset="0"/>
                <a:ea typeface="Consolas" pitchFamily="34" charset="-122"/>
                <a:cs typeface="Consolas" pitchFamily="34" charset="-120"/>
              </a:rPr>
              <a:t>    await onAdd({ title: title.trim(), author: author.trim() });</a:t>
            </a:r>
            <a:endParaRPr lang="en-US" sz="1710" dirty="0"/>
          </a:p>
          <a:p>
            <a:pPr indent="0" marL="0">
              <a:buNone/>
            </a:pPr>
            <a:r>
              <a:rPr lang="en-US" sz="1710" dirty="0">
                <a:solidFill>
                  <a:srgbClr val="E2E8F0"/>
                </a:solidFill>
                <a:latin typeface="Consolas" pitchFamily="34" charset="0"/>
                <a:ea typeface="Consolas" pitchFamily="34" charset="-122"/>
                <a:cs typeface="Consolas" pitchFamily="34" charset="-120"/>
              </a:rPr>
              <a:t>    setTitle("");</a:t>
            </a:r>
            <a:endParaRPr lang="en-US" sz="1710" dirty="0"/>
          </a:p>
          <a:p>
            <a:pPr indent="0" marL="0">
              <a:buNone/>
            </a:pPr>
            <a:r>
              <a:rPr lang="en-US" sz="1710" dirty="0">
                <a:solidFill>
                  <a:srgbClr val="E2E8F0"/>
                </a:solidFill>
                <a:latin typeface="Consolas" pitchFamily="34" charset="0"/>
                <a:ea typeface="Consolas" pitchFamily="34" charset="-122"/>
                <a:cs typeface="Consolas" pitchFamily="34" charset="-120"/>
              </a:rPr>
              <a:t>    setAuthor("");</a:t>
            </a:r>
            <a:endParaRPr lang="en-US" sz="1710" dirty="0"/>
          </a:p>
          <a:p>
            <a:pPr indent="0" marL="0">
              <a:buNone/>
            </a:pPr>
            <a:r>
              <a:rPr lang="en-US" sz="1710" dirty="0">
                <a:solidFill>
                  <a:srgbClr val="E2E8F0"/>
                </a:solidFill>
                <a:latin typeface="Consolas" pitchFamily="34" charset="0"/>
                <a:ea typeface="Consolas" pitchFamily="34" charset="-122"/>
                <a:cs typeface="Consolas" pitchFamily="34" charset="-120"/>
              </a:rPr>
              <a:t>  } catch {</a:t>
            </a:r>
            <a:endParaRPr lang="en-US" sz="1710" dirty="0"/>
          </a:p>
          <a:p>
            <a:pPr indent="0" marL="0">
              <a:buNone/>
            </a:pPr>
            <a:r>
              <a:rPr lang="en-US" sz="1710" dirty="0">
                <a:solidFill>
                  <a:srgbClr val="E2E8F0"/>
                </a:solidFill>
                <a:latin typeface="Consolas" pitchFamily="34" charset="0"/>
                <a:ea typeface="Consolas" pitchFamily="34" charset="-122"/>
                <a:cs typeface="Consolas" pitchFamily="34" charset="-120"/>
              </a:rPr>
              <a:t>    // parent shows the error; keep typed text</a:t>
            </a:r>
            <a:endParaRPr lang="en-US" sz="1710" dirty="0"/>
          </a:p>
          <a:p>
            <a:pPr indent="0" marL="0">
              <a:buNone/>
            </a:pPr>
            <a:r>
              <a:rPr lang="en-US" sz="1710" dirty="0">
                <a:solidFill>
                  <a:srgbClr val="E2E8F0"/>
                </a:solidFill>
                <a:latin typeface="Consolas" pitchFamily="34" charset="0"/>
                <a:ea typeface="Consolas" pitchFamily="34" charset="-122"/>
                <a:cs typeface="Consolas" pitchFamily="34" charset="-120"/>
              </a:rPr>
              <a:t>  } finally {</a:t>
            </a:r>
            <a:endParaRPr lang="en-US" sz="1710" dirty="0"/>
          </a:p>
          <a:p>
            <a:pPr indent="0" marL="0">
              <a:buNone/>
            </a:pPr>
            <a:r>
              <a:rPr lang="en-US" sz="1710" dirty="0">
                <a:solidFill>
                  <a:srgbClr val="E2E8F0"/>
                </a:solidFill>
                <a:latin typeface="Consolas" pitchFamily="34" charset="0"/>
                <a:ea typeface="Consolas" pitchFamily="34" charset="-122"/>
                <a:cs typeface="Consolas" pitchFamily="34" charset="-120"/>
              </a:rPr>
              <a:t>    setSubmitting(false);</a:t>
            </a:r>
            <a:endParaRPr lang="en-US" sz="1710" dirty="0"/>
          </a:p>
          <a:p>
            <a:pPr indent="0" marL="0">
              <a:buNone/>
            </a:pPr>
            <a:r>
              <a:rPr lang="en-US" sz="1710" dirty="0">
                <a:solidFill>
                  <a:srgbClr val="E2E8F0"/>
                </a:solidFill>
                <a:latin typeface="Consolas" pitchFamily="34" charset="0"/>
                <a:ea typeface="Consolas" pitchFamily="34" charset="-122"/>
                <a:cs typeface="Consolas" pitchFamily="34" charset="-120"/>
              </a:rPr>
              <a:t>  }</a:t>
            </a:r>
            <a:endParaRPr lang="en-US" sz="1710" dirty="0"/>
          </a:p>
          <a:p>
            <a:pPr indent="0" marL="0">
              <a:buNone/>
            </a:pPr>
            <a:r>
              <a:rPr lang="en-US" sz="1710" dirty="0">
                <a:solidFill>
                  <a:srgbClr val="E2E8F0"/>
                </a:solidFill>
                <a:latin typeface="Consolas" pitchFamily="34" charset="0"/>
                <a:ea typeface="Consolas" pitchFamily="34" charset="-122"/>
                <a:cs typeface="Consolas" pitchFamily="34" charset="-120"/>
              </a:rPr>
              <a:t>};</a:t>
            </a:r>
            <a:endParaRPr lang="en-US" sz="171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Create waits for the server's book</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client/src/App.tsx</a:t>
            </a:r>
            <a:endParaRPr lang="en-US" sz="2400" dirty="0"/>
          </a:p>
        </p:txBody>
      </p:sp>
      <p:sp>
        <p:nvSpPr>
          <p:cNvPr id="6" name="Text 3"/>
          <p:cNvSpPr txBox="1"/>
          <p:nvPr/>
        </p:nvSpPr>
        <p:spPr>
          <a:xfrm>
            <a:off x="457200" y="2106168"/>
            <a:ext cx="11247120" cy="40347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const message = (err: unknown) =&gt;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err instanceof Error ? err.message : "Something went wrong";</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const handleAdd = async (input: NewBook) =&gt;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try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created = await booksApi.create(input);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setBooks((prev) =&gt; [created, ...prev]);</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setActionError(null);</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 catch (err)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setActionError(message(err));</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throw err; // lets the form keep its text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Status changes update instantly and roll back on failure</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client/src/App.tsx</a:t>
            </a:r>
            <a:endParaRPr lang="en-US" sz="2400" dirty="0"/>
          </a:p>
        </p:txBody>
      </p:sp>
      <p:sp>
        <p:nvSpPr>
          <p:cNvPr id="6" name="Text 3"/>
          <p:cNvSpPr txBox="1"/>
          <p:nvPr/>
        </p:nvSpPr>
        <p:spPr>
          <a:xfrm>
            <a:off x="457200" y="2106168"/>
            <a:ext cx="11247120" cy="3091508"/>
          </a:xfrm>
          <a:prstGeom prst="rect">
            <a:avLst/>
          </a:prstGeom>
          <a:solidFill>
            <a:srgbClr val="1E293B"/>
          </a:solidFill>
          <a:ln/>
        </p:spPr>
        <p:txBody>
          <a:bodyPr wrap="square" lIns="127000" tIns="127000" rIns="127000" bIns="127000" rtlCol="0" anchor="t"/>
          <a:lstStyle/>
          <a:p>
            <a:pPr indent="0" marL="0">
              <a:buNone/>
            </a:pPr>
            <a:r>
              <a:rPr lang="en-US" sz="1587" dirty="0">
                <a:solidFill>
                  <a:srgbClr val="E2E8F0"/>
                </a:solidFill>
                <a:latin typeface="Consolas" pitchFamily="34" charset="0"/>
                <a:ea typeface="Consolas" pitchFamily="34" charset="-122"/>
                <a:cs typeface="Consolas" pitchFamily="34" charset="-120"/>
              </a:rPr>
              <a:t>const handleStatusChange = async (book: Book, next: BookStatus) =&gt; {</a:t>
            </a: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  const previous = book.status;</a:t>
            </a: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  setBooks((prev) =&gt; prev.map((b) =&gt; (b.id === book.id ? { ...b, status: next } : b)));</a:t>
            </a: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  try {</a:t>
            </a: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    await booksApi.update(book.id, { status: next });</a:t>
            </a: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    setActionError(null);</a:t>
            </a: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  } catch (err) {</a:t>
            </a: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    setBooks((prev) =&gt; prev.map((b) =&gt; (b.id === book.id ? { ...b, status: previous } : b)));</a:t>
            </a: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    setActionError(message(err));</a:t>
            </a: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  }</a:t>
            </a:r>
            <a:endParaRPr lang="en-US" sz="1587" dirty="0"/>
          </a:p>
          <a:p>
            <a:pPr indent="0" marL="0">
              <a:buNone/>
            </a:pPr>
            <a:r>
              <a:rPr lang="en-US" sz="1587" dirty="0">
                <a:solidFill>
                  <a:srgbClr val="E2E8F0"/>
                </a:solidFill>
                <a:latin typeface="Consolas" pitchFamily="34" charset="0"/>
                <a:ea typeface="Consolas" pitchFamily="34" charset="-122"/>
                <a:cs typeface="Consolas" pitchFamily="34" charset="-120"/>
              </a:rPr>
              <a:t>};</a:t>
            </a:r>
            <a:endParaRPr lang="en-US" sz="1587"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Delete confirms, then waits, then removes</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client/src/App.tsx</a:t>
            </a:r>
            <a:endParaRPr lang="en-US" sz="2400" dirty="0"/>
          </a:p>
        </p:txBody>
      </p:sp>
      <p:sp>
        <p:nvSpPr>
          <p:cNvPr id="6" name="Text 3"/>
          <p:cNvSpPr txBox="1"/>
          <p:nvPr/>
        </p:nvSpPr>
        <p:spPr>
          <a:xfrm>
            <a:off x="457200" y="2106168"/>
            <a:ext cx="11247120" cy="31775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const handleDelete = async (id: number) =&gt;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if (!window.confirm("Delete this book?")) return;</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try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await booksApi.remove(id);</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setBooks((prev) =&gt; prev.filter((b) =&gt; b.id !== id));</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setActionError(null);</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 catch (err)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setActionError(message(err));</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Three write mistakes</a:t>
            </a:r>
            <a:endParaRPr lang="en-US" dirty="0"/>
          </a:p>
        </p:txBody>
      </p:sp>
      <p:sp>
        <p:nvSpPr>
          <p:cNvPr id="3" name="Text 1"/>
          <p:cNvSpPr txBox="1"/>
          <p:nvPr/>
        </p:nvSpPr>
        <p:spPr>
          <a:xfrm>
            <a:off x="457200" y="228600"/>
            <a:ext cx="1554480" cy="274320"/>
          </a:xfrm>
          <a:prstGeom prst="roundRect">
            <a:avLst>
              <a:gd name="adj" fmla="val 26667"/>
            </a:avLst>
          </a:prstGeom>
          <a:solidFill>
            <a:srgbClr val="FB7185"/>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MISTAKES</a:t>
            </a:r>
            <a:endParaRPr lang="en-US" sz="12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3749040"/>
                <a:gridCol w="3749040"/>
                <a:gridCol w="3749040"/>
              </a:tblGrid>
              <a:tr h="0">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Mistake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Symptom</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Fix</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books.push(created); setBooks(books)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UI doesn't update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New array via setBooks((prev) =&gt; [...])</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Client-generated IDs (Date.now())</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Collisions; IDs mismatch the database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Use the server's response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Optimistic update, no rollback</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UI says saved; refresh shows it wasn't</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Roll back and tell the user</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Try it + Milestone 6: fail every write</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TRY IT</a:t>
            </a:r>
            <a:endParaRPr lang="en-US" sz="1200" dirty="0"/>
          </a:p>
        </p:txBody>
      </p:sp>
      <p:sp>
        <p:nvSpPr>
          <p:cNvPr id="5" name="Text 2"/>
          <p:cNvSpPr txBox="1"/>
          <p:nvPr/>
        </p:nvSpPr>
        <p:spPr>
          <a:xfrm>
            <a:off x="457200" y="1600200"/>
            <a:ext cx="11247120" cy="79248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"Stop the server, then try to add a book. Restart and retry. Build add, status change (optimistic), and delete."</a:t>
            </a:r>
            <a:endParaRPr lang="en-US" sz="2400" dirty="0"/>
          </a:p>
        </p:txBody>
      </p:sp>
      <p:sp>
        <p:nvSpPr>
          <p:cNvPr id="6" name="Text 3"/>
          <p:cNvSpPr txBox="1"/>
          <p:nvPr/>
        </p:nvSpPr>
        <p:spPr>
          <a:xfrm>
            <a:off x="457200" y="2502408"/>
            <a:ext cx="11247120" cy="396240"/>
          </a:xfrm>
          <a:prstGeom prst="rect">
            <a:avLst/>
          </a:prstGeom>
          <a:noFill/>
          <a:ln/>
        </p:spPr>
        <p:txBody>
          <a:bodyPr wrap="square" lIns="0" tIns="0" rIns="0" bIns="0" rtlCol="0" anchor="t"/>
          <a:lstStyle/>
          <a:p>
            <a:pPr indent="0" marL="0">
              <a:buNone/>
            </a:pPr>
            <a:r>
              <a:rPr lang="en-US" sz="2400" b="1" dirty="0">
                <a:solidFill>
                  <a:srgbClr val="F1F5F9"/>
                </a:solidFill>
                <a:latin typeface="Calibri" pitchFamily="34" charset="0"/>
                <a:ea typeface="Calibri" pitchFamily="34" charset="-122"/>
                <a:cs typeface="Calibri" pitchFamily="34" charset="-120"/>
              </a:rPr>
              <a:t>~40 minutes</a:t>
            </a:r>
            <a:endParaRPr lang="en-US" sz="2400" dirty="0"/>
          </a:p>
        </p:txBody>
      </p:sp>
      <p:sp>
        <p:nvSpPr>
          <p:cNvPr id="7" name="Text 4"/>
          <p:cNvSpPr txBox="1"/>
          <p:nvPr/>
        </p:nvSpPr>
        <p:spPr>
          <a:xfrm>
            <a:off x="457200" y="3008376"/>
            <a:ext cx="11247120" cy="39624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Done = error shown and typed text kept; every failure path tested</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Query parameters move work into the database</a:t>
            </a:r>
            <a:endParaRPr lang="en-US" dirty="0"/>
          </a:p>
        </p:txBody>
      </p:sp>
      <p:sp>
        <p:nvSpPr>
          <p:cNvPr id="4" name="Text 1"/>
          <p:cNvSpPr txBox="1"/>
          <p:nvPr/>
        </p:nvSpPr>
        <p:spPr>
          <a:xfrm>
            <a:off x="457200" y="1600200"/>
            <a:ext cx="11247120" cy="195072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38BDF8"/>
                </a:solidFill>
                <a:latin typeface="Consolas" pitchFamily="34" charset="0"/>
                <a:ea typeface="Consolas" pitchFamily="34" charset="-122"/>
                <a:cs typeface="Consolas" pitchFamily="34" charset="-120"/>
              </a:rPr>
              <a:t>GET /api/books?status=reading&amp;q=dune&amp;limit=10&amp;offset=20</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Filter: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WHERE status = ?</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Search: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title LIKE ?</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Paginate: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LIMIT</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and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OFFSET</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This is a breaking API change</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97536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Left, </a:t>
            </a:r>
            <a:pPr indent="0" marL="0">
              <a:spcAft>
                <a:spcPts val="600"/>
              </a:spcAft>
              <a:buNone/>
            </a:pPr>
            <a:r>
              <a:rPr lang="en-US" sz="2400" b="1" dirty="0">
                <a:solidFill>
                  <a:srgbClr val="F1F5F9"/>
                </a:solidFill>
                <a:latin typeface="Calibri" pitchFamily="34" charset="0"/>
                <a:ea typeface="Calibri" pitchFamily="34" charset="-122"/>
                <a:cs typeface="Calibri" pitchFamily="34" charset="-120"/>
              </a:rPr>
              <a:t>Before:</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response is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Book[]</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function list(): Book[]</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Right, </a:t>
            </a:r>
            <a:pPr indent="0" marL="0">
              <a:spcAft>
                <a:spcPts val="600"/>
              </a:spcAft>
              <a:buNone/>
            </a:pPr>
            <a:r>
              <a:rPr lang="en-US" sz="2400" b="1" dirty="0">
                <a:solidFill>
                  <a:srgbClr val="F1F5F9"/>
                </a:solidFill>
                <a:latin typeface="Calibri" pitchFamily="34" charset="0"/>
                <a:ea typeface="Calibri" pitchFamily="34" charset="-122"/>
                <a:cs typeface="Calibri" pitchFamily="34" charset="-120"/>
              </a:rPr>
              <a:t>After:</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response is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 items, total }</a:t>
            </a:r>
            <a:endParaRPr lang="en-US" sz="2400" dirty="0"/>
          </a:p>
        </p:txBody>
      </p:sp>
      <p:sp>
        <p:nvSpPr>
          <p:cNvPr id="6" name="Text 3"/>
          <p:cNvSpPr txBox="1"/>
          <p:nvPr/>
        </p:nvSpPr>
        <p:spPr>
          <a:xfrm>
            <a:off x="457200" y="2648712"/>
            <a:ext cx="11247120" cy="20345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export interface ListOptions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status?: BookStatus;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q?: string;</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limit: number;</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offset: number;</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Build the WHERE clause from fixed strings</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server/src/bookRepository.ts</a:t>
            </a:r>
            <a:pPr indent="0" marL="0">
              <a:buNone/>
            </a:pPr>
            <a:r>
              <a:rPr lang="en-US" sz="2400" dirty="0">
                <a:solidFill>
                  <a:srgbClr val="F1F5F9"/>
                </a:solidFill>
                <a:latin typeface="Calibri" pitchFamily="34" charset="0"/>
                <a:ea typeface="Calibri" pitchFamily="34" charset="-122"/>
                <a:cs typeface="Calibri" pitchFamily="34" charset="-120"/>
              </a:rPr>
              <a:t> (replace </a:t>
            </a:r>
            <a:pPr indent="0" marL="0">
              <a:buNone/>
            </a:pPr>
            <a:r>
              <a:rPr lang="en-US" sz="2400" dirty="0">
                <a:solidFill>
                  <a:srgbClr val="38BDF8"/>
                </a:solidFill>
                <a:latin typeface="Consolas" pitchFamily="34" charset="0"/>
                <a:ea typeface="Consolas" pitchFamily="34" charset="-122"/>
                <a:cs typeface="Consolas" pitchFamily="34" charset="-120"/>
              </a:rPr>
              <a:t>list</a:t>
            </a:r>
            <a:pPr indent="0" marL="0">
              <a:buNone/>
            </a:pPr>
            <a:r>
              <a:rPr lang="en-US" sz="2400" dirty="0">
                <a:solidFill>
                  <a:srgbClr val="F1F5F9"/>
                </a:solidFill>
                <a:latin typeface="Calibri" pitchFamily="34" charset="0"/>
                <a:ea typeface="Calibri" pitchFamily="34" charset="-122"/>
                <a:cs typeface="Calibri" pitchFamily="34" charset="-120"/>
              </a:rPr>
              <a:t>)</a:t>
            </a:r>
            <a:endParaRPr lang="en-US" sz="2400" dirty="0"/>
          </a:p>
        </p:txBody>
      </p:sp>
      <p:sp>
        <p:nvSpPr>
          <p:cNvPr id="6" name="Text 3"/>
          <p:cNvSpPr txBox="1"/>
          <p:nvPr/>
        </p:nvSpPr>
        <p:spPr>
          <a:xfrm>
            <a:off x="457200" y="2106168"/>
            <a:ext cx="11247120" cy="31775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function list(opts: ListOptions): { items: Book[]; total: number }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where: string[] =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params: (string | number)[] = [];</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if (opts.status) { where.push("status = ?"); params.push(opts.status);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if (opts.q)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where.push("(title LIKE ? OR author LIKE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params.push(`%${opts.q}%`, `%${opts.q}%`);</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clause = where.length ? `WHERE ${where.join(" AND ")}` : "";</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One clause feeds both the count and the page</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server/src/bookRepository.ts</a:t>
            </a:r>
            <a:pPr indent="0" marL="0">
              <a:buNone/>
            </a:pPr>
            <a:r>
              <a:rPr lang="en-US" sz="2400" dirty="0">
                <a:solidFill>
                  <a:srgbClr val="F1F5F9"/>
                </a:solidFill>
                <a:latin typeface="Calibri" pitchFamily="34" charset="0"/>
                <a:ea typeface="Calibri" pitchFamily="34" charset="-122"/>
                <a:cs typeface="Calibri" pitchFamily="34" charset="-120"/>
              </a:rPr>
              <a:t> (continued)</a:t>
            </a:r>
            <a:endParaRPr lang="en-US" sz="2400" dirty="0"/>
          </a:p>
        </p:txBody>
      </p:sp>
      <p:sp>
        <p:nvSpPr>
          <p:cNvPr id="6" name="Text 3"/>
          <p:cNvSpPr txBox="1"/>
          <p:nvPr/>
        </p:nvSpPr>
        <p:spPr>
          <a:xfrm>
            <a:off x="457200" y="2106168"/>
            <a:ext cx="11247120" cy="2894930"/>
          </a:xfrm>
          <a:prstGeom prst="rect">
            <a:avLst/>
          </a:prstGeom>
          <a:solidFill>
            <a:srgbClr val="1E293B"/>
          </a:solidFill>
          <a:ln/>
        </p:spPr>
        <p:txBody>
          <a:bodyPr wrap="square" lIns="127000" tIns="127000" rIns="127000" bIns="127000" rtlCol="0" anchor="t"/>
          <a:lstStyle/>
          <a:p>
            <a:pPr indent="0" marL="0">
              <a:buNone/>
            </a:pPr>
            <a:r>
              <a:rPr lang="en-US" sz="1622" dirty="0">
                <a:solidFill>
                  <a:srgbClr val="E2E8F0"/>
                </a:solidFill>
                <a:latin typeface="Consolas" pitchFamily="34" charset="0"/>
                <a:ea typeface="Consolas" pitchFamily="34" charset="-122"/>
                <a:cs typeface="Consolas" pitchFamily="34" charset="-120"/>
              </a:rPr>
              <a:t>  const total = (</a:t>
            </a: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    db.prepare(`SELECT COUNT(*) AS n FROM books ${clause}`).get(...params) as { n: number }</a:t>
            </a: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  ).n;</a:t>
            </a:r>
            <a:endParaRPr lang="en-US" sz="1622" dirty="0"/>
          </a:p>
          <a:p>
            <a:pPr indent="0" marL="0">
              <a:buNone/>
            </a:pP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  const rows = db</a:t>
            </a: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    .prepare(`SELECT * FROM books ${clause} ORDER BY id DESC LIMIT ? OFFSET ?`)</a:t>
            </a: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    .all(...params, opts.limit, opts.offset) as BookRow[];</a:t>
            </a:r>
            <a:endParaRPr lang="en-US" sz="1622" dirty="0"/>
          </a:p>
          <a:p>
            <a:pPr indent="0" marL="0">
              <a:buNone/>
            </a:pP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  return { items: rows.map(toBook), total };</a:t>
            </a:r>
            <a:endParaRPr lang="en-US" sz="1622" dirty="0"/>
          </a:p>
          <a:p>
            <a:pPr indent="0" marL="0">
              <a:buNone/>
            </a:pPr>
            <a:r>
              <a:rPr lang="en-US" sz="1622" dirty="0">
                <a:solidFill>
                  <a:srgbClr val="E2E8F0"/>
                </a:solidFill>
                <a:latin typeface="Consolas" pitchFamily="34" charset="0"/>
                <a:ea typeface="Consolas" pitchFamily="34" charset="-122"/>
                <a:cs typeface="Consolas" pitchFamily="34" charset="-120"/>
              </a:rPr>
              <a:t>}</a:t>
            </a:r>
            <a:endParaRPr lang="en-US" sz="1622"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Clamp client numbers before trusting them</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server/src/routes/books.ts</a:t>
            </a:r>
            <a:endParaRPr lang="en-US" sz="2400" dirty="0"/>
          </a:p>
        </p:txBody>
      </p:sp>
      <p:sp>
        <p:nvSpPr>
          <p:cNvPr id="6" name="Text 3"/>
          <p:cNvSpPr txBox="1"/>
          <p:nvPr/>
        </p:nvSpPr>
        <p:spPr>
          <a:xfrm>
            <a:off x="457200" y="2106168"/>
            <a:ext cx="11247120" cy="1698364"/>
          </a:xfrm>
          <a:prstGeom prst="rect">
            <a:avLst/>
          </a:prstGeom>
          <a:solidFill>
            <a:srgbClr val="1E293B"/>
          </a:solidFill>
          <a:ln/>
        </p:spPr>
        <p:txBody>
          <a:bodyPr wrap="square" lIns="127000" tIns="127000" rIns="127000" bIns="127000" rtlCol="0" anchor="t"/>
          <a:lstStyle/>
          <a:p>
            <a:pPr indent="0" marL="0">
              <a:buNone/>
            </a:pPr>
            <a:r>
              <a:rPr lang="en-US" sz="1736" dirty="0">
                <a:solidFill>
                  <a:srgbClr val="E2E8F0"/>
                </a:solidFill>
                <a:latin typeface="Consolas" pitchFamily="34" charset="0"/>
                <a:ea typeface="Consolas" pitchFamily="34" charset="-122"/>
                <a:cs typeface="Consolas" pitchFamily="34" charset="-120"/>
              </a:rPr>
              <a:t>function clampInt(raw: unknown, fallback: number, min: number, max: number): number {</a:t>
            </a:r>
            <a:endParaRPr lang="en-US" sz="1736" dirty="0"/>
          </a:p>
          <a:p>
            <a:pPr indent="0" marL="0">
              <a:buNone/>
            </a:pPr>
            <a:r>
              <a:rPr lang="en-US" sz="1736" dirty="0">
                <a:solidFill>
                  <a:srgbClr val="E2E8F0"/>
                </a:solidFill>
                <a:latin typeface="Consolas" pitchFamily="34" charset="0"/>
                <a:ea typeface="Consolas" pitchFamily="34" charset="-122"/>
                <a:cs typeface="Consolas" pitchFamily="34" charset="-120"/>
              </a:rPr>
              <a:t>  const n = typeof raw === "string" ? Number.parseInt(raw, 10) : Number.NaN;</a:t>
            </a:r>
            <a:endParaRPr lang="en-US" sz="1736" dirty="0"/>
          </a:p>
          <a:p>
            <a:pPr indent="0" marL="0">
              <a:buNone/>
            </a:pPr>
            <a:r>
              <a:rPr lang="en-US" sz="1736" dirty="0">
                <a:solidFill>
                  <a:srgbClr val="E2E8F0"/>
                </a:solidFill>
                <a:latin typeface="Consolas" pitchFamily="34" charset="0"/>
                <a:ea typeface="Consolas" pitchFamily="34" charset="-122"/>
                <a:cs typeface="Consolas" pitchFamily="34" charset="-120"/>
              </a:rPr>
              <a:t>  if (Number.isNaN(n)) return fallback;</a:t>
            </a:r>
            <a:endParaRPr lang="en-US" sz="1736" dirty="0"/>
          </a:p>
          <a:p>
            <a:pPr indent="0" marL="0">
              <a:buNone/>
            </a:pPr>
            <a:r>
              <a:rPr lang="en-US" sz="1736" dirty="0">
                <a:solidFill>
                  <a:srgbClr val="E2E8F0"/>
                </a:solidFill>
                <a:latin typeface="Consolas" pitchFamily="34" charset="0"/>
                <a:ea typeface="Consolas" pitchFamily="34" charset="-122"/>
                <a:cs typeface="Consolas" pitchFamily="34" charset="-120"/>
              </a:rPr>
              <a:t>  return Math.min(Math.max(n, min), max);</a:t>
            </a:r>
            <a:endParaRPr lang="en-US" sz="1736" dirty="0"/>
          </a:p>
          <a:p>
            <a:pPr indent="0" marL="0">
              <a:buNone/>
            </a:pPr>
            <a:r>
              <a:rPr lang="en-US" sz="1736" dirty="0">
                <a:solidFill>
                  <a:srgbClr val="E2E8F0"/>
                </a:solidFill>
                <a:latin typeface="Consolas" pitchFamily="34" charset="0"/>
                <a:ea typeface="Consolas" pitchFamily="34" charset="-122"/>
                <a:cs typeface="Consolas" pitchFamily="34" charset="-120"/>
              </a:rPr>
              <a:t>}</a:t>
            </a:r>
            <a:endParaRPr lang="en-US" sz="1736"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The list route validates, clamps, then queries</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server/src/routes/books.ts</a:t>
            </a:r>
            <a:pPr indent="0" marL="0">
              <a:buNone/>
            </a:pPr>
            <a:r>
              <a:rPr lang="en-US" sz="2400" dirty="0">
                <a:solidFill>
                  <a:srgbClr val="F1F5F9"/>
                </a:solidFill>
                <a:latin typeface="Calibri" pitchFamily="34" charset="0"/>
                <a:ea typeface="Calibri" pitchFamily="34" charset="-122"/>
                <a:cs typeface="Calibri" pitchFamily="34" charset="-120"/>
              </a:rPr>
              <a:t> (replace the </a:t>
            </a:r>
            <a:pPr indent="0" marL="0">
              <a:buNone/>
            </a:pPr>
            <a:r>
              <a:rPr lang="en-US" sz="2400" dirty="0">
                <a:solidFill>
                  <a:srgbClr val="38BDF8"/>
                </a:solidFill>
                <a:latin typeface="Consolas" pitchFamily="34" charset="0"/>
                <a:ea typeface="Consolas" pitchFamily="34" charset="-122"/>
                <a:cs typeface="Consolas" pitchFamily="34" charset="-120"/>
              </a:rPr>
              <a:t>GET "/"</a:t>
            </a:r>
            <a:pPr indent="0" marL="0">
              <a:buNone/>
            </a:pPr>
            <a:r>
              <a:rPr lang="en-US" sz="2400" dirty="0">
                <a:solidFill>
                  <a:srgbClr val="F1F5F9"/>
                </a:solidFill>
                <a:latin typeface="Calibri" pitchFamily="34" charset="0"/>
                <a:ea typeface="Calibri" pitchFamily="34" charset="-122"/>
                <a:cs typeface="Calibri" pitchFamily="34" charset="-120"/>
              </a:rPr>
              <a:t> route)</a:t>
            </a:r>
            <a:endParaRPr lang="en-US" sz="2400" dirty="0"/>
          </a:p>
        </p:txBody>
      </p:sp>
      <p:sp>
        <p:nvSpPr>
          <p:cNvPr id="6" name="Text 3"/>
          <p:cNvSpPr txBox="1"/>
          <p:nvPr/>
        </p:nvSpPr>
        <p:spPr>
          <a:xfrm>
            <a:off x="457200" y="2106168"/>
            <a:ext cx="11247120" cy="3143112"/>
          </a:xfrm>
          <a:prstGeom prst="rect">
            <a:avLst/>
          </a:prstGeom>
          <a:solidFill>
            <a:srgbClr val="1E293B"/>
          </a:solidFill>
          <a:ln/>
        </p:spPr>
        <p:txBody>
          <a:bodyPr wrap="square" lIns="127000" tIns="127000" rIns="127000" bIns="127000" rtlCol="0" anchor="t"/>
          <a:lstStyle/>
          <a:p>
            <a:pPr indent="0" marL="0">
              <a:buNone/>
            </a:pPr>
            <a:r>
              <a:rPr lang="en-US" sz="1778" dirty="0">
                <a:solidFill>
                  <a:srgbClr val="E2E8F0"/>
                </a:solidFill>
                <a:latin typeface="Consolas" pitchFamily="34" charset="0"/>
                <a:ea typeface="Consolas" pitchFamily="34" charset="-122"/>
                <a:cs typeface="Consolas" pitchFamily="34" charset="-120"/>
              </a:rPr>
              <a:t>booksRouter.get("/", (req, res) =&gt; {</a:t>
            </a:r>
            <a:endParaRPr lang="en-US" sz="1778" dirty="0"/>
          </a:p>
          <a:p>
            <a:pPr indent="0" marL="0">
              <a:buNone/>
            </a:pPr>
            <a:r>
              <a:rPr lang="en-US" sz="1778" dirty="0">
                <a:solidFill>
                  <a:srgbClr val="E2E8F0"/>
                </a:solidFill>
                <a:latin typeface="Consolas" pitchFamily="34" charset="0"/>
                <a:ea typeface="Consolas" pitchFamily="34" charset="-122"/>
                <a:cs typeface="Consolas" pitchFamily="34" charset="-120"/>
              </a:rPr>
              <a:t>  const { status, q } = req.query;</a:t>
            </a:r>
            <a:endParaRPr lang="en-US" sz="1778" dirty="0"/>
          </a:p>
          <a:p>
            <a:pPr indent="0" marL="0">
              <a:buNone/>
            </a:pPr>
            <a:r>
              <a:rPr lang="en-US" sz="1778" dirty="0">
                <a:solidFill>
                  <a:srgbClr val="E2E8F0"/>
                </a:solidFill>
                <a:latin typeface="Consolas" pitchFamily="34" charset="0"/>
                <a:ea typeface="Consolas" pitchFamily="34" charset="-122"/>
                <a:cs typeface="Consolas" pitchFamily="34" charset="-120"/>
              </a:rPr>
              <a:t>  if (status !== undefined &amp;&amp; !isStatus(status))</a:t>
            </a:r>
            <a:endParaRPr lang="en-US" sz="1778" dirty="0"/>
          </a:p>
          <a:p>
            <a:pPr indent="0" marL="0">
              <a:buNone/>
            </a:pPr>
            <a:r>
              <a:rPr lang="en-US" sz="1778" dirty="0">
                <a:solidFill>
                  <a:srgbClr val="E2E8F0"/>
                </a:solidFill>
                <a:latin typeface="Consolas" pitchFamily="34" charset="0"/>
                <a:ea typeface="Consolas" pitchFamily="34" charset="-122"/>
                <a:cs typeface="Consolas" pitchFamily="34" charset="-120"/>
              </a:rPr>
              <a:t>    return res.status(400).json({ error: "status is invalid" });</a:t>
            </a:r>
            <a:endParaRPr lang="en-US" sz="1778" dirty="0"/>
          </a:p>
          <a:p>
            <a:pPr indent="0" marL="0">
              <a:buNone/>
            </a:pPr>
            <a:r>
              <a:rPr lang="en-US" sz="1778" dirty="0">
                <a:solidFill>
                  <a:srgbClr val="E2E8F0"/>
                </a:solidFill>
                <a:latin typeface="Consolas" pitchFamily="34" charset="0"/>
                <a:ea typeface="Consolas" pitchFamily="34" charset="-122"/>
                <a:cs typeface="Consolas" pitchFamily="34" charset="-120"/>
              </a:rPr>
              <a:t>  const limit = clampInt(req.query.limit, 10, 1, 50);</a:t>
            </a:r>
            <a:endParaRPr lang="en-US" sz="1778" dirty="0"/>
          </a:p>
          <a:p>
            <a:pPr indent="0" marL="0">
              <a:buNone/>
            </a:pPr>
            <a:r>
              <a:rPr lang="en-US" sz="1778" dirty="0">
                <a:solidFill>
                  <a:srgbClr val="E2E8F0"/>
                </a:solidFill>
                <a:latin typeface="Consolas" pitchFamily="34" charset="0"/>
                <a:ea typeface="Consolas" pitchFamily="34" charset="-122"/>
                <a:cs typeface="Consolas" pitchFamily="34" charset="-120"/>
              </a:rPr>
              <a:t>  const offset = clampInt(req.query.offset, 0, 0, Number.MAX_SAFE_INTEGER);</a:t>
            </a:r>
            <a:endParaRPr lang="en-US" sz="1778" dirty="0"/>
          </a:p>
          <a:p>
            <a:pPr indent="0" marL="0">
              <a:buNone/>
            </a:pPr>
            <a:r>
              <a:rPr lang="en-US" sz="1778" dirty="0">
                <a:solidFill>
                  <a:srgbClr val="E2E8F0"/>
                </a:solidFill>
                <a:latin typeface="Consolas" pitchFamily="34" charset="0"/>
                <a:ea typeface="Consolas" pitchFamily="34" charset="-122"/>
                <a:cs typeface="Consolas" pitchFamily="34" charset="-120"/>
              </a:rPr>
              <a:t>  const search = typeof q === "string" ? q.trim() : "";</a:t>
            </a:r>
            <a:endParaRPr lang="en-US" sz="1778" dirty="0"/>
          </a:p>
          <a:p>
            <a:pPr indent="0" marL="0">
              <a:buNone/>
            </a:pPr>
            <a:endParaRPr lang="en-US" sz="1778" dirty="0"/>
          </a:p>
          <a:p>
            <a:pPr indent="0" marL="0">
              <a:buNone/>
            </a:pPr>
            <a:r>
              <a:rPr lang="en-US" sz="1778" dirty="0">
                <a:solidFill>
                  <a:srgbClr val="E2E8F0"/>
                </a:solidFill>
                <a:latin typeface="Consolas" pitchFamily="34" charset="0"/>
                <a:ea typeface="Consolas" pitchFamily="34" charset="-122"/>
                <a:cs typeface="Consolas" pitchFamily="34" charset="-120"/>
              </a:rPr>
              <a:t>  res.json(bookRepository.list({ status, q: search || undefined, limit, offset }));</a:t>
            </a:r>
            <a:endParaRPr lang="en-US" sz="1778" dirty="0"/>
          </a:p>
          <a:p>
            <a:pPr indent="0" marL="0">
              <a:buNone/>
            </a:pPr>
            <a:r>
              <a:rPr lang="en-US" sz="1778" dirty="0">
                <a:solidFill>
                  <a:srgbClr val="E2E8F0"/>
                </a:solidFill>
                <a:latin typeface="Consolas" pitchFamily="34" charset="0"/>
                <a:ea typeface="Consolas" pitchFamily="34" charset="-122"/>
                <a:cs typeface="Consolas" pitchFamily="34" charset="-120"/>
              </a:rPr>
              <a:t>});</a:t>
            </a:r>
            <a:endParaRPr lang="en-US" sz="1778"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The client builds the query string</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client/src/api/books.ts</a:t>
            </a:r>
            <a:pPr indent="0" marL="0">
              <a:buNone/>
            </a:pPr>
            <a:r>
              <a:rPr lang="en-US" sz="2400" dirty="0">
                <a:solidFill>
                  <a:srgbClr val="F1F5F9"/>
                </a:solidFill>
                <a:latin typeface="Calibri" pitchFamily="34" charset="0"/>
                <a:ea typeface="Calibri" pitchFamily="34" charset="-122"/>
                <a:cs typeface="Calibri" pitchFamily="34" charset="-120"/>
              </a:rPr>
              <a:t> (excerpt)</a:t>
            </a:r>
            <a:endParaRPr lang="en-US" sz="2400" dirty="0"/>
          </a:p>
        </p:txBody>
      </p:sp>
      <p:sp>
        <p:nvSpPr>
          <p:cNvPr id="6" name="Text 3"/>
          <p:cNvSpPr txBox="1"/>
          <p:nvPr/>
        </p:nvSpPr>
        <p:spPr>
          <a:xfrm>
            <a:off x="457200" y="2106168"/>
            <a:ext cx="11247120" cy="3376323"/>
          </a:xfrm>
          <a:prstGeom prst="rect">
            <a:avLst/>
          </a:prstGeom>
          <a:solidFill>
            <a:srgbClr val="1E293B"/>
          </a:solidFill>
          <a:ln/>
        </p:spPr>
        <p:txBody>
          <a:bodyPr wrap="square" lIns="127000" tIns="127000" rIns="127000" bIns="127000" rtlCol="0" anchor="t"/>
          <a:lstStyle/>
          <a:p>
            <a:pPr indent="0" marL="0">
              <a:buNone/>
            </a:pPr>
            <a:r>
              <a:rPr lang="en-US" sz="1604" dirty="0">
                <a:solidFill>
                  <a:srgbClr val="E2E8F0"/>
                </a:solidFill>
                <a:latin typeface="Consolas" pitchFamily="34" charset="0"/>
                <a:ea typeface="Consolas" pitchFamily="34" charset="-122"/>
                <a:cs typeface="Consolas" pitchFamily="34" charset="-120"/>
              </a:rPr>
              <a:t>export interface ListParams { status?: BookStatus; q?: string; page: number; limit: number }</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export interface ListResponse { items: Book[]; total: number }</a:t>
            </a:r>
            <a:endParaRPr lang="en-US" sz="1604" dirty="0"/>
          </a:p>
          <a:p>
            <a:pPr indent="0" marL="0">
              <a:buNone/>
            </a:pP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 inside booksApi:</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list: (p: ListParams, signal?: AbortSignal) =&gt; {</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  const qs = new URLSearchParams();</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  if (p.status) qs.set("status", p.status);</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  if (p.q) qs.set("q", p.q);</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  qs.set("limit", String(p.limit));</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  qs.set("offset", String((p.page - 1) * p.limit));</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  return request&lt;ListResponse&gt;(`/api/books?${qs.toString()}`, { signal });</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a:t>
            </a:r>
            <a:endParaRPr lang="en-US" sz="1604"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Dependencies make useEffect re-fetch on filter changes</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5" name="Text 2"/>
          <p:cNvSpPr txBox="1"/>
          <p:nvPr/>
        </p:nvSpPr>
        <p:spPr>
          <a:xfrm>
            <a:off x="457200" y="1600200"/>
            <a:ext cx="11247120" cy="376428"/>
          </a:xfrm>
          <a:prstGeom prst="rect">
            <a:avLst/>
          </a:prstGeom>
          <a:noFill/>
          <a:ln/>
        </p:spPr>
        <p:txBody>
          <a:bodyPr wrap="square" lIns="0" tIns="0" rIns="0" bIns="0" rtlCol="0" anchor="t"/>
          <a:lstStyle/>
          <a:p>
            <a:pPr indent="0" marL="0">
              <a:buNone/>
            </a:pPr>
            <a:r>
              <a:rPr lang="en-US" sz="2280" dirty="0">
                <a:solidFill>
                  <a:srgbClr val="38BDF8"/>
                </a:solidFill>
                <a:latin typeface="Consolas" pitchFamily="34" charset="0"/>
                <a:ea typeface="Consolas" pitchFamily="34" charset="-122"/>
                <a:cs typeface="Consolas" pitchFamily="34" charset="-120"/>
              </a:rPr>
              <a:t>client/src/App.tsx</a:t>
            </a:r>
            <a:pPr indent="0" marL="0">
              <a:buNone/>
            </a:pPr>
            <a:r>
              <a:rPr lang="en-US" sz="2280" dirty="0">
                <a:solidFill>
                  <a:srgbClr val="F1F5F9"/>
                </a:solidFill>
                <a:latin typeface="Calibri" pitchFamily="34" charset="0"/>
                <a:ea typeface="Calibri" pitchFamily="34" charset="-122"/>
                <a:cs typeface="Calibri" pitchFamily="34" charset="-120"/>
              </a:rPr>
              <a:t> (excerpt)</a:t>
            </a:r>
            <a:endParaRPr lang="en-US" sz="2280" dirty="0"/>
          </a:p>
        </p:txBody>
      </p:sp>
      <p:sp>
        <p:nvSpPr>
          <p:cNvPr id="6" name="Text 3"/>
          <p:cNvSpPr txBox="1"/>
          <p:nvPr/>
        </p:nvSpPr>
        <p:spPr>
          <a:xfrm>
            <a:off x="457200" y="2086356"/>
            <a:ext cx="11247120" cy="3986381"/>
          </a:xfrm>
          <a:prstGeom prst="rect">
            <a:avLst/>
          </a:prstGeom>
          <a:solidFill>
            <a:srgbClr val="1E293B"/>
          </a:solidFill>
          <a:ln/>
        </p:spPr>
        <p:txBody>
          <a:bodyPr wrap="square" lIns="127000" tIns="127000" rIns="127000" bIns="127000" rtlCol="0" anchor="t"/>
          <a:lstStyle/>
          <a:p>
            <a:pPr indent="0" marL="0">
              <a:buNone/>
            </a:pPr>
            <a:r>
              <a:rPr lang="en-US" sz="1650" dirty="0">
                <a:solidFill>
                  <a:srgbClr val="E2E8F0"/>
                </a:solidFill>
                <a:latin typeface="Consolas" pitchFamily="34" charset="0"/>
                <a:ea typeface="Consolas" pitchFamily="34" charset="-122"/>
                <a:cs typeface="Consolas" pitchFamily="34" charset="-120"/>
              </a:rPr>
              <a:t>const [status, setStatus] = useState&lt;BookStatus | ""&gt;("");</a:t>
            </a:r>
            <a:endParaRPr lang="en-US" sz="1650" dirty="0"/>
          </a:p>
          <a:p>
            <a:pPr indent="0" marL="0">
              <a:buNone/>
            </a:pPr>
            <a:r>
              <a:rPr lang="en-US" sz="1650" dirty="0">
                <a:solidFill>
                  <a:srgbClr val="E2E8F0"/>
                </a:solidFill>
                <a:latin typeface="Consolas" pitchFamily="34" charset="0"/>
                <a:ea typeface="Consolas" pitchFamily="34" charset="-122"/>
                <a:cs typeface="Consolas" pitchFamily="34" charset="-120"/>
              </a:rPr>
              <a:t>const [q, setQ] = useState("");</a:t>
            </a:r>
            <a:endParaRPr lang="en-US" sz="1650" dirty="0"/>
          </a:p>
          <a:p>
            <a:pPr indent="0" marL="0">
              <a:buNone/>
            </a:pPr>
            <a:r>
              <a:rPr lang="en-US" sz="1650" dirty="0">
                <a:solidFill>
                  <a:srgbClr val="E2E8F0"/>
                </a:solidFill>
                <a:latin typeface="Consolas" pitchFamily="34" charset="0"/>
                <a:ea typeface="Consolas" pitchFamily="34" charset="-122"/>
                <a:cs typeface="Consolas" pitchFamily="34" charset="-120"/>
              </a:rPr>
              <a:t>const [page, setPage] = useState(1);</a:t>
            </a:r>
            <a:endParaRPr lang="en-US" sz="1650" dirty="0"/>
          </a:p>
          <a:p>
            <a:pPr indent="0" marL="0">
              <a:buNone/>
            </a:pPr>
            <a:r>
              <a:rPr lang="en-US" sz="1650" dirty="0">
                <a:solidFill>
                  <a:srgbClr val="E2E8F0"/>
                </a:solidFill>
                <a:latin typeface="Consolas" pitchFamily="34" charset="0"/>
                <a:ea typeface="Consolas" pitchFamily="34" charset="-122"/>
                <a:cs typeface="Consolas" pitchFamily="34" charset="-120"/>
              </a:rPr>
              <a:t>const [total, setTotal] = useState(0);</a:t>
            </a:r>
            <a:endParaRPr lang="en-US" sz="1650" dirty="0"/>
          </a:p>
          <a:p>
            <a:pPr indent="0" marL="0">
              <a:buNone/>
            </a:pPr>
            <a:endParaRPr lang="en-US" sz="1650" dirty="0"/>
          </a:p>
          <a:p>
            <a:pPr indent="0" marL="0">
              <a:buNone/>
            </a:pPr>
            <a:r>
              <a:rPr lang="en-US" sz="1650" dirty="0">
                <a:solidFill>
                  <a:srgbClr val="E2E8F0"/>
                </a:solidFill>
                <a:latin typeface="Consolas" pitchFamily="34" charset="0"/>
                <a:ea typeface="Consolas" pitchFamily="34" charset="-122"/>
                <a:cs typeface="Consolas" pitchFamily="34" charset="-120"/>
              </a:rPr>
              <a:t>useEffect(() =&gt; {</a:t>
            </a:r>
            <a:endParaRPr lang="en-US" sz="1650" dirty="0"/>
          </a:p>
          <a:p>
            <a:pPr indent="0" marL="0">
              <a:buNone/>
            </a:pPr>
            <a:r>
              <a:rPr lang="en-US" sz="1650" dirty="0">
                <a:solidFill>
                  <a:srgbClr val="E2E8F0"/>
                </a:solidFill>
                <a:latin typeface="Consolas" pitchFamily="34" charset="0"/>
                <a:ea typeface="Consolas" pitchFamily="34" charset="-122"/>
                <a:cs typeface="Consolas" pitchFamily="34" charset="-120"/>
              </a:rPr>
              <a:t>  const controller = new AbortController();</a:t>
            </a:r>
            <a:endParaRPr lang="en-US" sz="1650" dirty="0"/>
          </a:p>
          <a:p>
            <a:pPr indent="0" marL="0">
              <a:buNone/>
            </a:pPr>
            <a:r>
              <a:rPr lang="en-US" sz="1650" dirty="0">
                <a:solidFill>
                  <a:srgbClr val="E2E8F0"/>
                </a:solidFill>
                <a:latin typeface="Consolas" pitchFamily="34" charset="0"/>
                <a:ea typeface="Consolas" pitchFamily="34" charset="-122"/>
                <a:cs typeface="Consolas" pitchFamily="34" charset="-120"/>
              </a:rPr>
              <a:t>  setLoading(true);</a:t>
            </a:r>
            <a:endParaRPr lang="en-US" sz="1650" dirty="0"/>
          </a:p>
          <a:p>
            <a:pPr indent="0" marL="0">
              <a:buNone/>
            </a:pPr>
            <a:r>
              <a:rPr lang="en-US" sz="1650" dirty="0">
                <a:solidFill>
                  <a:srgbClr val="E2E8F0"/>
                </a:solidFill>
                <a:latin typeface="Consolas" pitchFamily="34" charset="0"/>
                <a:ea typeface="Consolas" pitchFamily="34" charset="-122"/>
                <a:cs typeface="Consolas" pitchFamily="34" charset="-120"/>
              </a:rPr>
              <a:t>  booksApi</a:t>
            </a:r>
            <a:endParaRPr lang="en-US" sz="1650" dirty="0"/>
          </a:p>
          <a:p>
            <a:pPr indent="0" marL="0">
              <a:buNone/>
            </a:pPr>
            <a:r>
              <a:rPr lang="en-US" sz="1650" dirty="0">
                <a:solidFill>
                  <a:srgbClr val="E2E8F0"/>
                </a:solidFill>
                <a:latin typeface="Consolas" pitchFamily="34" charset="0"/>
                <a:ea typeface="Consolas" pitchFamily="34" charset="-122"/>
                <a:cs typeface="Consolas" pitchFamily="34" charset="-120"/>
              </a:rPr>
              <a:t>    .list({ status: status || undefined, q, page, limit: LIMIT }, controller.signal)</a:t>
            </a:r>
            <a:endParaRPr lang="en-US" sz="1650" dirty="0"/>
          </a:p>
          <a:p>
            <a:pPr indent="0" marL="0">
              <a:buNone/>
            </a:pPr>
            <a:r>
              <a:rPr lang="en-US" sz="1650" dirty="0">
                <a:solidFill>
                  <a:srgbClr val="E2E8F0"/>
                </a:solidFill>
                <a:latin typeface="Consolas" pitchFamily="34" charset="0"/>
                <a:ea typeface="Consolas" pitchFamily="34" charset="-122"/>
                <a:cs typeface="Consolas" pitchFamily="34" charset="-120"/>
              </a:rPr>
              <a:t>    .then((res) =&gt; { setBooks(res.items); setTotal(res.total); setLoadError(null); })</a:t>
            </a:r>
            <a:endParaRPr lang="en-US" sz="1650" dirty="0"/>
          </a:p>
          <a:p>
            <a:pPr indent="0" marL="0">
              <a:buNone/>
            </a:pPr>
            <a:r>
              <a:rPr lang="en-US" sz="1650" dirty="0">
                <a:solidFill>
                  <a:srgbClr val="E2E8F0"/>
                </a:solidFill>
                <a:latin typeface="Consolas" pitchFamily="34" charset="0"/>
                <a:ea typeface="Consolas" pitchFamily="34" charset="-122"/>
                <a:cs typeface="Consolas" pitchFamily="34" charset="-120"/>
              </a:rPr>
              <a:t>    // .catch / .finally as in 3.9</a:t>
            </a:r>
            <a:endParaRPr lang="en-US" sz="1650" dirty="0"/>
          </a:p>
          <a:p>
            <a:pPr indent="0" marL="0">
              <a:buNone/>
            </a:pPr>
            <a:r>
              <a:rPr lang="en-US" sz="1650" dirty="0">
                <a:solidFill>
                  <a:srgbClr val="E2E8F0"/>
                </a:solidFill>
                <a:latin typeface="Consolas" pitchFamily="34" charset="0"/>
                <a:ea typeface="Consolas" pitchFamily="34" charset="-122"/>
                <a:cs typeface="Consolas" pitchFamily="34" charset="-120"/>
              </a:rPr>
              <a:t>  return () =&gt; controller.abort();</a:t>
            </a:r>
            <a:endParaRPr lang="en-US" sz="1650" dirty="0"/>
          </a:p>
          <a:p>
            <a:pPr indent="0" marL="0">
              <a:buNone/>
            </a:pPr>
            <a:r>
              <a:rPr lang="en-US" sz="1650" dirty="0">
                <a:solidFill>
                  <a:srgbClr val="E2E8F0"/>
                </a:solidFill>
                <a:latin typeface="Consolas" pitchFamily="34" charset="0"/>
                <a:ea typeface="Consolas" pitchFamily="34" charset="-122"/>
                <a:cs typeface="Consolas" pitchFamily="34" charset="-120"/>
              </a:rPr>
              <a:t>}, [status, q, page]);</a:t>
            </a:r>
            <a:endParaRPr lang="en-US" sz="165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Reset to page 1 whenever a filter changes</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client/src/App.tsx</a:t>
            </a:r>
            <a:pPr indent="0" marL="0">
              <a:buNone/>
            </a:pPr>
            <a:r>
              <a:rPr lang="en-US" sz="2400" dirty="0">
                <a:solidFill>
                  <a:srgbClr val="F1F5F9"/>
                </a:solidFill>
                <a:latin typeface="Calibri" pitchFamily="34" charset="0"/>
                <a:ea typeface="Calibri" pitchFamily="34" charset="-122"/>
                <a:cs typeface="Calibri" pitchFamily="34" charset="-120"/>
              </a:rPr>
              <a:t> (excerpt)</a:t>
            </a:r>
            <a:endParaRPr lang="en-US" sz="2400" dirty="0"/>
          </a:p>
        </p:txBody>
      </p:sp>
      <p:sp>
        <p:nvSpPr>
          <p:cNvPr id="6" name="Text 3"/>
          <p:cNvSpPr txBox="1"/>
          <p:nvPr/>
        </p:nvSpPr>
        <p:spPr>
          <a:xfrm>
            <a:off x="457200" y="2106168"/>
            <a:ext cx="11247120" cy="3479343"/>
          </a:xfrm>
          <a:prstGeom prst="rect">
            <a:avLst/>
          </a:prstGeom>
          <a:solidFill>
            <a:srgbClr val="1E293B"/>
          </a:solidFill>
          <a:ln/>
        </p:spPr>
        <p:txBody>
          <a:bodyPr wrap="square" lIns="127000" tIns="127000" rIns="127000" bIns="127000" rtlCol="0" anchor="t"/>
          <a:lstStyle/>
          <a:p>
            <a:pPr indent="0" marL="0">
              <a:buNone/>
            </a:pPr>
            <a:r>
              <a:rPr lang="en-US" sz="1658" dirty="0">
                <a:solidFill>
                  <a:srgbClr val="E2E8F0"/>
                </a:solidFill>
                <a:latin typeface="Consolas" pitchFamily="34" charset="0"/>
                <a:ea typeface="Consolas" pitchFamily="34" charset="-122"/>
                <a:cs typeface="Consolas" pitchFamily="34" charset="-120"/>
              </a:rPr>
              <a:t>const totalPages = Math.max(1, Math.ceil(total / LIMIT));</a:t>
            </a:r>
            <a:endParaRPr lang="en-US" sz="1658" dirty="0"/>
          </a:p>
          <a:p>
            <a:pPr indent="0" marL="0">
              <a:buNone/>
            </a:pPr>
            <a:endParaRPr lang="en-US" sz="1658" dirty="0"/>
          </a:p>
          <a:p>
            <a:pPr indent="0" marL="0">
              <a:buNone/>
            </a:pPr>
            <a:r>
              <a:rPr lang="en-US" sz="1658" dirty="0">
                <a:solidFill>
                  <a:srgbClr val="E2E8F0"/>
                </a:solidFill>
                <a:latin typeface="Consolas" pitchFamily="34" charset="0"/>
                <a:ea typeface="Consolas" pitchFamily="34" charset="-122"/>
                <a:cs typeface="Consolas" pitchFamily="34" charset="-120"/>
              </a:rPr>
              <a:t>&lt;select value={status} onChange={(e) =&gt; {</a:t>
            </a:r>
            <a:endParaRPr lang="en-US" sz="1658" dirty="0"/>
          </a:p>
          <a:p>
            <a:pPr indent="0" marL="0">
              <a:buNone/>
            </a:pPr>
            <a:r>
              <a:rPr lang="en-US" sz="1658" dirty="0">
                <a:solidFill>
                  <a:srgbClr val="E2E8F0"/>
                </a:solidFill>
                <a:latin typeface="Consolas" pitchFamily="34" charset="0"/>
                <a:ea typeface="Consolas" pitchFamily="34" charset="-122"/>
                <a:cs typeface="Consolas" pitchFamily="34" charset="-120"/>
              </a:rPr>
              <a:t>  setStatus(e.target.value as BookStatus | "");</a:t>
            </a:r>
            <a:endParaRPr lang="en-US" sz="1658" dirty="0"/>
          </a:p>
          <a:p>
            <a:pPr indent="0" marL="0">
              <a:buNone/>
            </a:pPr>
            <a:r>
              <a:rPr lang="en-US" sz="1658" dirty="0">
                <a:solidFill>
                  <a:srgbClr val="E2E8F0"/>
                </a:solidFill>
                <a:latin typeface="Consolas" pitchFamily="34" charset="0"/>
                <a:ea typeface="Consolas" pitchFamily="34" charset="-122"/>
                <a:cs typeface="Consolas" pitchFamily="34" charset="-120"/>
              </a:rPr>
              <a:t>  setPage(1);</a:t>
            </a:r>
            <a:endParaRPr lang="en-US" sz="1658" dirty="0"/>
          </a:p>
          <a:p>
            <a:pPr indent="0" marL="0">
              <a:buNone/>
            </a:pPr>
            <a:r>
              <a:rPr lang="en-US" sz="1658" dirty="0">
                <a:solidFill>
                  <a:srgbClr val="E2E8F0"/>
                </a:solidFill>
                <a:latin typeface="Consolas" pitchFamily="34" charset="0"/>
                <a:ea typeface="Consolas" pitchFamily="34" charset="-122"/>
                <a:cs typeface="Consolas" pitchFamily="34" charset="-120"/>
              </a:rPr>
              <a:t>}}&gt;</a:t>
            </a:r>
            <a:endParaRPr lang="en-US" sz="1658" dirty="0"/>
          </a:p>
          <a:p>
            <a:pPr indent="0" marL="0">
              <a:buNone/>
            </a:pPr>
            <a:r>
              <a:rPr lang="en-US" sz="1658" dirty="0">
                <a:solidFill>
                  <a:srgbClr val="E2E8F0"/>
                </a:solidFill>
                <a:latin typeface="Consolas" pitchFamily="34" charset="0"/>
                <a:ea typeface="Consolas" pitchFamily="34" charset="-122"/>
                <a:cs typeface="Consolas" pitchFamily="34" charset="-120"/>
              </a:rPr>
              <a:t>  {/* All / To read / Reading / Done options */}</a:t>
            </a:r>
            <a:endParaRPr lang="en-US" sz="1658" dirty="0"/>
          </a:p>
          <a:p>
            <a:pPr indent="0" marL="0">
              <a:buNone/>
            </a:pPr>
            <a:r>
              <a:rPr lang="en-US" sz="1658" dirty="0">
                <a:solidFill>
                  <a:srgbClr val="E2E8F0"/>
                </a:solidFill>
                <a:latin typeface="Consolas" pitchFamily="34" charset="0"/>
                <a:ea typeface="Consolas" pitchFamily="34" charset="-122"/>
                <a:cs typeface="Consolas" pitchFamily="34" charset="-120"/>
              </a:rPr>
              <a:t>&lt;/select&gt;</a:t>
            </a:r>
            <a:endParaRPr lang="en-US" sz="1658" dirty="0"/>
          </a:p>
          <a:p>
            <a:pPr indent="0" marL="0">
              <a:buNone/>
            </a:pPr>
            <a:endParaRPr lang="en-US" sz="1658" dirty="0"/>
          </a:p>
          <a:p>
            <a:pPr indent="0" marL="0">
              <a:buNone/>
            </a:pPr>
            <a:r>
              <a:rPr lang="en-US" sz="1658" dirty="0">
                <a:solidFill>
                  <a:srgbClr val="E2E8F0"/>
                </a:solidFill>
                <a:latin typeface="Consolas" pitchFamily="34" charset="0"/>
                <a:ea typeface="Consolas" pitchFamily="34" charset="-122"/>
                <a:cs typeface="Consolas" pitchFamily="34" charset="-120"/>
              </a:rPr>
              <a:t>&lt;button disabled={page &lt;= 1} onClick={() =&gt; setPage((p) =&gt; p - 1)}&gt;Prev&lt;/button&gt;</a:t>
            </a:r>
            <a:endParaRPr lang="en-US" sz="1658" dirty="0"/>
          </a:p>
          <a:p>
            <a:pPr indent="0" marL="0">
              <a:buNone/>
            </a:pPr>
            <a:r>
              <a:rPr lang="en-US" sz="1658" dirty="0">
                <a:solidFill>
                  <a:srgbClr val="E2E8F0"/>
                </a:solidFill>
                <a:latin typeface="Consolas" pitchFamily="34" charset="0"/>
                <a:ea typeface="Consolas" pitchFamily="34" charset="-122"/>
                <a:cs typeface="Consolas" pitchFamily="34" charset="-120"/>
              </a:rPr>
              <a:t>&lt;span&gt;Page {page} of {totalPages}&lt;/span&gt;</a:t>
            </a:r>
            <a:endParaRPr lang="en-US" sz="1658" dirty="0"/>
          </a:p>
          <a:p>
            <a:pPr indent="0" marL="0">
              <a:buNone/>
            </a:pPr>
            <a:r>
              <a:rPr lang="en-US" sz="1658" dirty="0">
                <a:solidFill>
                  <a:srgbClr val="E2E8F0"/>
                </a:solidFill>
                <a:latin typeface="Consolas" pitchFamily="34" charset="0"/>
                <a:ea typeface="Consolas" pitchFamily="34" charset="-122"/>
                <a:cs typeface="Consolas" pitchFamily="34" charset="-120"/>
              </a:rPr>
              <a:t>&lt;button disabled={page &gt;= totalPages} onClick={() =&gt; setPage((p) =&gt; p + 1)}&gt;Next&lt;/button&gt;</a:t>
            </a:r>
            <a:endParaRPr lang="en-US" sz="1658"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JOIN combines related tables in one query</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DB</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SQL</a:t>
            </a:r>
            <a:endParaRPr lang="en-US" sz="2400" dirty="0"/>
          </a:p>
        </p:txBody>
      </p:sp>
      <p:sp>
        <p:nvSpPr>
          <p:cNvPr id="6" name="Text 3"/>
          <p:cNvSpPr txBox="1"/>
          <p:nvPr/>
        </p:nvSpPr>
        <p:spPr>
          <a:xfrm>
            <a:off x="457200" y="2106168"/>
            <a:ext cx="11247120" cy="17487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SELECT b.*, ROUND(AVG(r.rating), 1) AS avg_rating,</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COUNT(r.id) AS review_count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FROM books b</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LEFT JOIN reviews r ON r.book_id = b.id</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GROUP BY b.id;</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N+1 turns one list into 21 requests</a:t>
            </a:r>
            <a:endParaRPr lang="en-US" dirty="0"/>
          </a:p>
        </p:txBody>
      </p:sp>
      <p:sp>
        <p:nvSpPr>
          <p:cNvPr id="4" name="Text 1"/>
          <p:cNvSpPr txBox="1"/>
          <p:nvPr/>
        </p:nvSpPr>
        <p:spPr>
          <a:xfrm>
            <a:off x="457200" y="1600200"/>
            <a:ext cx="11247120" cy="1371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Left, </a:t>
            </a:r>
            <a:pPr indent="0" marL="0">
              <a:spcAft>
                <a:spcPts val="600"/>
              </a:spcAft>
              <a:buNone/>
            </a:pPr>
            <a:r>
              <a:rPr lang="en-US" sz="2400" b="1" dirty="0">
                <a:solidFill>
                  <a:srgbClr val="F1F5F9"/>
                </a:solidFill>
                <a:latin typeface="Calibri" pitchFamily="34" charset="0"/>
                <a:ea typeface="Calibri" pitchFamily="34" charset="-122"/>
                <a:cs typeface="Calibri" pitchFamily="34" charset="-120"/>
              </a:rPr>
              <a:t>N+1 (bad):</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fetch 20 books, then 20 ×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GET /api/books/:id/reviews</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 21 round trips</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Right, </a:t>
            </a:r>
            <a:pPr indent="0" marL="0">
              <a:spcAft>
                <a:spcPts val="600"/>
              </a:spcAft>
              <a:buNone/>
            </a:pPr>
            <a:r>
              <a:rPr lang="en-US" sz="2400" b="1" dirty="0">
                <a:solidFill>
                  <a:srgbClr val="F1F5F9"/>
                </a:solidFill>
                <a:latin typeface="Calibri" pitchFamily="34" charset="0"/>
                <a:ea typeface="Calibri" pitchFamily="34" charset="-122"/>
                <a:cs typeface="Calibri" pitchFamily="34" charset="-120"/>
              </a:rPr>
              <a:t>One query (good):</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database combines the data; one response</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An index makes joins and filters fast</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DB</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SQL</a:t>
            </a:r>
            <a:endParaRPr lang="en-US" sz="2400" dirty="0"/>
          </a:p>
        </p:txBody>
      </p:sp>
      <p:sp>
        <p:nvSpPr>
          <p:cNvPr id="6" name="Text 3"/>
          <p:cNvSpPr txBox="1"/>
          <p:nvPr/>
        </p:nvSpPr>
        <p:spPr>
          <a:xfrm>
            <a:off x="457200" y="2106168"/>
            <a:ext cx="11247120" cy="6057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CREATE INDEX IF NOT EXISTS idx_reviews_book_id ON reviews(book_id);</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Three query mistakes</a:t>
            </a:r>
            <a:endParaRPr lang="en-US" dirty="0"/>
          </a:p>
        </p:txBody>
      </p:sp>
      <p:sp>
        <p:nvSpPr>
          <p:cNvPr id="3" name="Text 1"/>
          <p:cNvSpPr txBox="1"/>
          <p:nvPr/>
        </p:nvSpPr>
        <p:spPr>
          <a:xfrm>
            <a:off x="457200" y="228600"/>
            <a:ext cx="1554480" cy="274320"/>
          </a:xfrm>
          <a:prstGeom prst="roundRect">
            <a:avLst>
              <a:gd name="adj" fmla="val 26667"/>
            </a:avLst>
          </a:prstGeom>
          <a:solidFill>
            <a:srgbClr val="FB7185"/>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MISTAKES</a:t>
            </a:r>
            <a:endParaRPr lang="en-US" sz="1200" dirty="0"/>
          </a:p>
        </p:txBody>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3749040"/>
                <a:gridCol w="3749040"/>
                <a:gridCol w="3749040"/>
              </a:tblGrid>
              <a:tr h="0">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Mistake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Symptom</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Fix</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Fetch all, filter in React</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Slow load, huge responses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Filter and paginate on the server</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No setPage(1) on filter change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"No results" though page 1 has matches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Reset page in handlers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Filter missing from effect deps</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Dropdown does nothing until refresh</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Add it to the dependency array</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Try it + Milestone 7: filter, search, paginate</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TRY IT</a:t>
            </a:r>
            <a:endParaRPr lang="en-US" sz="1200" dirty="0"/>
          </a:p>
        </p:txBody>
      </p:sp>
      <p:sp>
        <p:nvSpPr>
          <p:cNvPr id="5" name="Text 2"/>
          <p:cNvSpPr txBox="1"/>
          <p:nvPr/>
        </p:nvSpPr>
        <p:spPr>
          <a:xfrm>
            <a:off x="457200" y="1600200"/>
            <a:ext cx="11247120" cy="79248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"Curl </a:t>
            </a:r>
            <a:pPr indent="0" marL="0">
              <a:buNone/>
            </a:pPr>
            <a:r>
              <a:rPr lang="en-US" sz="2400" dirty="0">
                <a:solidFill>
                  <a:srgbClr val="38BDF8"/>
                </a:solidFill>
                <a:latin typeface="Consolas" pitchFamily="34" charset="0"/>
                <a:ea typeface="Consolas" pitchFamily="34" charset="-122"/>
                <a:cs typeface="Consolas" pitchFamily="34" charset="-120"/>
              </a:rPr>
              <a:t>?limit=2&amp;offset=2</a:t>
            </a:r>
            <a:pPr indent="0" marL="0">
              <a:buNone/>
            </a:pPr>
            <a:r>
              <a:rPr lang="en-US" sz="2400" dirty="0">
                <a:solidFill>
                  <a:srgbClr val="F1F5F9"/>
                </a:solidFill>
                <a:latin typeface="Calibri" pitchFamily="34" charset="0"/>
                <a:ea typeface="Calibri" pitchFamily="34" charset="-122"/>
                <a:cs typeface="Calibri" pitchFamily="34" charset="-120"/>
              </a:rPr>
              <a:t>, </a:t>
            </a:r>
            <a:pPr indent="0" marL="0">
              <a:buNone/>
            </a:pPr>
            <a:r>
              <a:rPr lang="en-US" sz="2400" dirty="0">
                <a:solidFill>
                  <a:srgbClr val="38BDF8"/>
                </a:solidFill>
                <a:latin typeface="Consolas" pitchFamily="34" charset="0"/>
                <a:ea typeface="Consolas" pitchFamily="34" charset="-122"/>
                <a:cs typeface="Consolas" pitchFamily="34" charset="-120"/>
              </a:rPr>
              <a:t>?limit=abc</a:t>
            </a:r>
            <a:pPr indent="0" marL="0">
              <a:buNone/>
            </a:pPr>
            <a:r>
              <a:rPr lang="en-US" sz="2400" dirty="0">
                <a:solidFill>
                  <a:srgbClr val="F1F5F9"/>
                </a:solidFill>
                <a:latin typeface="Calibri" pitchFamily="34" charset="0"/>
                <a:ea typeface="Calibri" pitchFamily="34" charset="-122"/>
                <a:cs typeface="Calibri" pitchFamily="34" charset="-120"/>
              </a:rPr>
              <a:t>, </a:t>
            </a:r>
            <a:pPr indent="0" marL="0">
              <a:buNone/>
            </a:pPr>
            <a:r>
              <a:rPr lang="en-US" sz="2400" dirty="0">
                <a:solidFill>
                  <a:srgbClr val="38BDF8"/>
                </a:solidFill>
                <a:latin typeface="Consolas" pitchFamily="34" charset="0"/>
                <a:ea typeface="Consolas" pitchFamily="34" charset="-122"/>
                <a:cs typeface="Consolas" pitchFamily="34" charset="-120"/>
              </a:rPr>
              <a:t>?status=finished</a:t>
            </a:r>
            <a:pPr indent="0" marL="0">
              <a:buNone/>
            </a:pPr>
            <a:r>
              <a:rPr lang="en-US" sz="2400" dirty="0">
                <a:solidFill>
                  <a:srgbClr val="F1F5F9"/>
                </a:solidFill>
                <a:latin typeface="Calibri" pitchFamily="34" charset="0"/>
                <a:ea typeface="Calibri" pitchFamily="34" charset="-122"/>
                <a:cs typeface="Calibri" pitchFamily="34" charset="-120"/>
              </a:rPr>
              <a:t>. Then add status filter, search, pagination."</a:t>
            </a:r>
            <a:endParaRPr lang="en-US" sz="2400" dirty="0"/>
          </a:p>
        </p:txBody>
      </p:sp>
      <p:sp>
        <p:nvSpPr>
          <p:cNvPr id="6" name="Text 3"/>
          <p:cNvSpPr txBox="1"/>
          <p:nvPr/>
        </p:nvSpPr>
        <p:spPr>
          <a:xfrm>
            <a:off x="457200" y="2502408"/>
            <a:ext cx="11247120" cy="396240"/>
          </a:xfrm>
          <a:prstGeom prst="rect">
            <a:avLst/>
          </a:prstGeom>
          <a:noFill/>
          <a:ln/>
        </p:spPr>
        <p:txBody>
          <a:bodyPr wrap="square" lIns="0" tIns="0" rIns="0" bIns="0" rtlCol="0" anchor="t"/>
          <a:lstStyle/>
          <a:p>
            <a:pPr indent="0" marL="0">
              <a:buNone/>
            </a:pPr>
            <a:r>
              <a:rPr lang="en-US" sz="2400" b="1" dirty="0">
                <a:solidFill>
                  <a:srgbClr val="F1F5F9"/>
                </a:solidFill>
                <a:latin typeface="Calibri" pitchFamily="34" charset="0"/>
                <a:ea typeface="Calibri" pitchFamily="34" charset="-122"/>
                <a:cs typeface="Calibri" pitchFamily="34" charset="-120"/>
              </a:rPr>
              <a:t>~35 minutes</a:t>
            </a:r>
            <a:endParaRPr lang="en-US" sz="2400" dirty="0"/>
          </a:p>
        </p:txBody>
      </p:sp>
      <p:sp>
        <p:nvSpPr>
          <p:cNvPr id="7" name="Text 4"/>
          <p:cNvSpPr txBox="1"/>
          <p:nvPr/>
        </p:nvSpPr>
        <p:spPr>
          <a:xfrm>
            <a:off x="457200" y="3008376"/>
            <a:ext cx="11247120" cy="39624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Done = second page and correct </a:t>
            </a:r>
            <a:pPr indent="0" marL="0">
              <a:buNone/>
            </a:pPr>
            <a:r>
              <a:rPr lang="en-US" sz="2400" dirty="0">
                <a:solidFill>
                  <a:srgbClr val="38BDF8"/>
                </a:solidFill>
                <a:latin typeface="Consolas" pitchFamily="34" charset="0"/>
                <a:ea typeface="Consolas" pitchFamily="34" charset="-122"/>
                <a:cs typeface="Consolas" pitchFamily="34" charset="-120"/>
              </a:rPr>
              <a:t>total</a:t>
            </a:r>
            <a:pPr indent="0" marL="0">
              <a:buNone/>
            </a:pPr>
            <a:r>
              <a:rPr lang="en-US" sz="2400" dirty="0">
                <a:solidFill>
                  <a:srgbClr val="F1F5F9"/>
                </a:solidFill>
                <a:latin typeface="Calibri" pitchFamily="34" charset="0"/>
                <a:ea typeface="Calibri" pitchFamily="34" charset="-122"/>
                <a:cs typeface="Calibri" pitchFamily="34" charset="-120"/>
              </a:rPr>
              <a:t>; filters work end to end</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The repository is an adapter</a:t>
            </a:r>
            <a:endParaRPr lang="en-US" dirty="0"/>
          </a:p>
        </p:txBody>
      </p:sp>
      <p:sp>
        <p:nvSpPr>
          <p:cNvPr id="4" name="Text 1"/>
          <p:cNvSpPr txBox="1"/>
          <p:nvPr/>
        </p:nvSpPr>
        <p:spPr>
          <a:xfrm>
            <a:off x="457200" y="1600200"/>
            <a:ext cx="11247120" cy="146304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All SQL lives in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bookRepository.ts</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Swap databases by rewriting that one file</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One ripple: network calls become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async</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Version note: treat driver sketches as sketches</a:t>
            </a:r>
            <a:endParaRPr lang="en-US" dirty="0"/>
          </a:p>
        </p:txBody>
      </p:sp>
      <p:sp>
        <p:nvSpPr>
          <p:cNvPr id="3" name="Text 1"/>
          <p:cNvSpPr txBox="1"/>
          <p:nvPr/>
        </p:nvSpPr>
        <p:spPr>
          <a:xfrm>
            <a:off x="457200" y="228600"/>
            <a:ext cx="1554480" cy="274320"/>
          </a:xfrm>
          <a:prstGeom prst="roundRect">
            <a:avLst>
              <a:gd name="adj" fmla="val 26667"/>
            </a:avLst>
          </a:prstGeom>
          <a:solidFill>
            <a:srgbClr val="F97316"/>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VERSION NOTE</a:t>
            </a:r>
            <a:endParaRPr lang="en-US" sz="1200" dirty="0"/>
          </a:p>
        </p:txBody>
      </p:sp>
      <p:sp>
        <p:nvSpPr>
          <p:cNvPr id="5" name="Text 2"/>
          <p:cNvSpPr txBox="1"/>
          <p:nvPr/>
        </p:nvSpPr>
        <p:spPr>
          <a:xfrm>
            <a:off x="457200" y="1600200"/>
            <a:ext cx="11247120" cy="146304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38BDF8"/>
                </a:solidFill>
                <a:latin typeface="Consolas" pitchFamily="34" charset="0"/>
                <a:ea typeface="Consolas" pitchFamily="34" charset="-122"/>
                <a:cs typeface="Consolas" pitchFamily="34" charset="-120"/>
              </a:rPr>
              <a:t>pg</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and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mongodb</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APIs change between majors</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Postgres uses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$1, $2</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placeholders</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MongoDB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_id</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is an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ObjectId</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not a number</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Postgres: same job, $1 placeholders, await</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server/src/bookRepository.pg.ts</a:t>
            </a:r>
            <a:pPr indent="0" marL="0">
              <a:buNone/>
            </a:pPr>
            <a:r>
              <a:rPr lang="en-US" sz="2400" dirty="0">
                <a:solidFill>
                  <a:srgbClr val="F1F5F9"/>
                </a:solidFill>
                <a:latin typeface="Calibri" pitchFamily="34" charset="0"/>
                <a:ea typeface="Calibri" pitchFamily="34" charset="-122"/>
                <a:cs typeface="Calibri" pitchFamily="34" charset="-120"/>
              </a:rPr>
              <a:t> (illustrative, not part of the project)</a:t>
            </a:r>
            <a:endParaRPr lang="en-US" sz="2400" dirty="0"/>
          </a:p>
        </p:txBody>
      </p:sp>
      <p:sp>
        <p:nvSpPr>
          <p:cNvPr id="6" name="Text 3"/>
          <p:cNvSpPr txBox="1"/>
          <p:nvPr/>
        </p:nvSpPr>
        <p:spPr>
          <a:xfrm>
            <a:off x="457200" y="2106168"/>
            <a:ext cx="11247120" cy="34632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import { Pool } from "pg";</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const pool = new Pool({ connectionString: process.env.DATABASE_URL });</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export async function listByStatus(status: string)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const { rows } = await pool.query(</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`SELECT id, title, author, status, created_at AS "createdAt"</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FROM books WHERE status = $1 ORDER BY id DESC`,</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[status]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return rows;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MongoDB: same job, no SQL</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79248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server/src/bookRepository.mongo.ts</a:t>
            </a:r>
            <a:pPr indent="0" marL="0">
              <a:buNone/>
            </a:pPr>
            <a:r>
              <a:rPr lang="en-US" sz="2400" dirty="0">
                <a:solidFill>
                  <a:srgbClr val="F1F5F9"/>
                </a:solidFill>
                <a:latin typeface="Calibri" pitchFamily="34" charset="0"/>
                <a:ea typeface="Calibri" pitchFamily="34" charset="-122"/>
                <a:cs typeface="Calibri" pitchFamily="34" charset="-120"/>
              </a:rPr>
              <a:t> (illustrative, not part of the project)</a:t>
            </a:r>
            <a:endParaRPr lang="en-US" sz="2400" dirty="0"/>
          </a:p>
        </p:txBody>
      </p:sp>
      <p:sp>
        <p:nvSpPr>
          <p:cNvPr id="6" name="Text 3"/>
          <p:cNvSpPr txBox="1"/>
          <p:nvPr/>
        </p:nvSpPr>
        <p:spPr>
          <a:xfrm>
            <a:off x="457200" y="2502408"/>
            <a:ext cx="11247120" cy="1819656"/>
          </a:xfrm>
          <a:prstGeom prst="rect">
            <a:avLst/>
          </a:prstGeom>
          <a:solidFill>
            <a:srgbClr val="1E293B"/>
          </a:solidFill>
          <a:ln/>
        </p:spPr>
        <p:txBody>
          <a:bodyPr wrap="square" lIns="127000" tIns="127000" rIns="127000" bIns="127000" rtlCol="0" anchor="t"/>
          <a:lstStyle/>
          <a:p>
            <a:pPr indent="0" marL="0">
              <a:buNone/>
            </a:pPr>
            <a:r>
              <a:rPr lang="en-US" sz="1181" dirty="0">
                <a:solidFill>
                  <a:srgbClr val="E2E8F0"/>
                </a:solidFill>
                <a:latin typeface="Consolas" pitchFamily="34" charset="0"/>
                <a:ea typeface="Consolas" pitchFamily="34" charset="-122"/>
                <a:cs typeface="Consolas" pitchFamily="34" charset="-120"/>
              </a:rPr>
              <a:t>import { MongoClient } from "mongodb";</a:t>
            </a:r>
            <a:endParaRPr lang="en-US" sz="1181" dirty="0"/>
          </a:p>
          <a:p>
            <a:pPr indent="0" marL="0">
              <a:buNone/>
            </a:pPr>
            <a:endParaRPr lang="en-US" sz="1181" dirty="0"/>
          </a:p>
          <a:p>
            <a:pPr indent="0" marL="0">
              <a:buNone/>
            </a:pPr>
            <a:r>
              <a:rPr lang="en-US" sz="1181" dirty="0">
                <a:solidFill>
                  <a:srgbClr val="E2E8F0"/>
                </a:solidFill>
                <a:latin typeface="Consolas" pitchFamily="34" charset="0"/>
                <a:ea typeface="Consolas" pitchFamily="34" charset="-122"/>
                <a:cs typeface="Consolas" pitchFamily="34" charset="-120"/>
              </a:rPr>
              <a:t>const client = new MongoClient(process.env.MONGODB_URI!);</a:t>
            </a:r>
            <a:endParaRPr lang="en-US" sz="1181" dirty="0"/>
          </a:p>
          <a:p>
            <a:pPr indent="0" marL="0">
              <a:buNone/>
            </a:pPr>
            <a:r>
              <a:rPr lang="en-US" sz="1181" dirty="0">
                <a:solidFill>
                  <a:srgbClr val="E2E8F0"/>
                </a:solidFill>
                <a:latin typeface="Consolas" pitchFamily="34" charset="0"/>
                <a:ea typeface="Consolas" pitchFamily="34" charset="-122"/>
                <a:cs typeface="Consolas" pitchFamily="34" charset="-120"/>
              </a:rPr>
              <a:t>const books = client.db("bookshelf").collection&lt;{ title: string; author: string; status: string; createdAt: Date }&gt;("books");</a:t>
            </a:r>
            <a:endParaRPr lang="en-US" sz="1181" dirty="0"/>
          </a:p>
          <a:p>
            <a:pPr indent="0" marL="0">
              <a:buNone/>
            </a:pPr>
            <a:endParaRPr lang="en-US" sz="1181" dirty="0"/>
          </a:p>
          <a:p>
            <a:pPr indent="0" marL="0">
              <a:buNone/>
            </a:pPr>
            <a:r>
              <a:rPr lang="en-US" sz="1181" dirty="0">
                <a:solidFill>
                  <a:srgbClr val="E2E8F0"/>
                </a:solidFill>
                <a:latin typeface="Consolas" pitchFamily="34" charset="0"/>
                <a:ea typeface="Consolas" pitchFamily="34" charset="-122"/>
                <a:cs typeface="Consolas" pitchFamily="34" charset="-120"/>
              </a:rPr>
              <a:t>export async function listByStatus(status: string) {</a:t>
            </a:r>
            <a:endParaRPr lang="en-US" sz="1181" dirty="0"/>
          </a:p>
          <a:p>
            <a:pPr indent="0" marL="0">
              <a:buNone/>
            </a:pPr>
            <a:r>
              <a:rPr lang="en-US" sz="1181" dirty="0">
                <a:solidFill>
                  <a:srgbClr val="E2E8F0"/>
                </a:solidFill>
                <a:latin typeface="Consolas" pitchFamily="34" charset="0"/>
                <a:ea typeface="Consolas" pitchFamily="34" charset="-122"/>
                <a:cs typeface="Consolas" pitchFamily="34" charset="-120"/>
              </a:rPr>
              <a:t>  return books.find({ status }).sort({ _id: -1 }).toArray();</a:t>
            </a:r>
            <a:endParaRPr lang="en-US" sz="1181" dirty="0"/>
          </a:p>
          <a:p>
            <a:pPr indent="0" marL="0">
              <a:buNone/>
            </a:pPr>
            <a:r>
              <a:rPr lang="en-US" sz="1181" dirty="0">
                <a:solidFill>
                  <a:srgbClr val="E2E8F0"/>
                </a:solidFill>
                <a:latin typeface="Consolas" pitchFamily="34" charset="0"/>
                <a:ea typeface="Consolas" pitchFamily="34" charset="-122"/>
                <a:cs typeface="Consolas" pitchFamily="34" charset="-120"/>
              </a:rPr>
              <a:t>}</a:t>
            </a:r>
            <a:endParaRPr lang="en-US" sz="1181"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Secrets stay on the server</a:t>
            </a:r>
            <a:endParaRPr lang="en-US" dirty="0"/>
          </a:p>
        </p:txBody>
      </p:sp>
      <p:sp>
        <p:nvSpPr>
          <p:cNvPr id="4" name="Text 1"/>
          <p:cNvSpPr txBox="1"/>
          <p:nvPr/>
        </p:nvSpPr>
        <p:spPr>
          <a:xfrm>
            <a:off x="457200" y="1600200"/>
            <a:ext cx="11247120" cy="24384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DB URLs in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process.env</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.env</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never committed</a:t>
            </a:r>
            <a:endParaRPr lang="en-US" sz="2400" dirty="0"/>
          </a:p>
          <a:p>
            <a:pPr marL="342900" indent="-342900">
              <a:spcAft>
                <a:spcPts val="600"/>
              </a:spcAft>
              <a:buSzPct val="100000"/>
              <a:buChar char="•"/>
            </a:pPr>
            <a:r>
              <a:rPr lang="en-US" sz="2400" dirty="0">
                <a:solidFill>
                  <a:srgbClr val="38BDF8"/>
                </a:solidFill>
                <a:latin typeface="Consolas" pitchFamily="34" charset="0"/>
                <a:ea typeface="Consolas" pitchFamily="34" charset="-122"/>
                <a:cs typeface="Consolas" pitchFamily="34" charset="-120"/>
              </a:rPr>
              <a:t>VITE_</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variables are public</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Hosted Postgres or Atlas: backups, persistence</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Least privilege; keep validating input</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Auth comes in a later lesson</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Four production mistakes</a:t>
            </a:r>
            <a:endParaRPr lang="en-US" dirty="0"/>
          </a:p>
        </p:txBody>
      </p:sp>
      <p:sp>
        <p:nvSpPr>
          <p:cNvPr id="3" name="Text 1"/>
          <p:cNvSpPr txBox="1"/>
          <p:nvPr/>
        </p:nvSpPr>
        <p:spPr>
          <a:xfrm>
            <a:off x="457200" y="228600"/>
            <a:ext cx="1554480" cy="274320"/>
          </a:xfrm>
          <a:prstGeom prst="roundRect">
            <a:avLst>
              <a:gd name="adj" fmla="val 26667"/>
            </a:avLst>
          </a:prstGeom>
          <a:solidFill>
            <a:srgbClr val="FB7185"/>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MISTAKES</a:t>
            </a:r>
            <a:endParaRPr lang="en-US" sz="1200" dirty="0"/>
          </a:p>
        </p:txBody>
      </p:sp>
      <p:graphicFrame>
        <p:nvGraphicFramePr>
          <p:cNvPr id="99"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914400"/>
        </p:xfrm>
        <a:graphic>
          <a:graphicData uri="http://schemas.openxmlformats.org/drawingml/2006/table">
            <a:tbl>
              <a:tblPr/>
              <a:tblGrid>
                <a:gridCol w="3749040"/>
                <a:gridCol w="3749040"/>
                <a:gridCol w="3749040"/>
              </a:tblGrid>
              <a:tr h="0">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Mistake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Symptom</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c>
                  <a:txBody>
                    <a:bodyPr/>
                    <a:lstStyle/>
                    <a:p>
                      <a:pPr indent="0" marL="0">
                        <a:buNone/>
                      </a:pPr>
                      <a:r>
                        <a:rPr lang="en-US" sz="2000" b="1" dirty="0">
                          <a:solidFill>
                            <a:srgbClr val="F1F5F9"/>
                          </a:solidFill>
                          <a:latin typeface="Calibri" pitchFamily="34" charset="0"/>
                          <a:ea typeface="Calibri" pitchFamily="34" charset="-122"/>
                          <a:cs typeface="Calibri" pitchFamily="34" charset="-120"/>
                        </a:rPr>
                        <a:t>Fix</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C4A6E"/>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Commit .env or DB file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Credentials in Git history</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.gitignore; rotate if leaked</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VITE_DATABASE_URL</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Connection string in browser bundle</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Database access only on server</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SQLite on temporary filesystem</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Data resets on deploy</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2000" dirty="0">
                          <a:solidFill>
                            <a:srgbClr val="F1F5F9"/>
                          </a:solidFill>
                          <a:latin typeface="Calibri" pitchFamily="34" charset="0"/>
                          <a:ea typeface="Calibri" pitchFamily="34" charset="-122"/>
                          <a:cs typeface="Calibri" pitchFamily="34" charset="-120"/>
                        </a:rPr>
                        <a:t>Persistent storage or hosted DB</a:t>
                      </a:r>
                      <a:endParaRPr lang="en-US" sz="20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Try it + Milestone 8: harden the server</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TRY IT</a:t>
            </a:r>
            <a:endParaRPr lang="en-US" sz="1200" dirty="0"/>
          </a:p>
        </p:txBody>
      </p:sp>
      <p:sp>
        <p:nvSpPr>
          <p:cNvPr id="4" name="Text 2"/>
          <p:cNvSpPr txBox="1"/>
          <p:nvPr/>
        </p:nvSpPr>
        <p:spPr>
          <a:xfrm>
            <a:off x="214884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6" name="Text 3"/>
          <p:cNvSpPr txBox="1"/>
          <p:nvPr/>
        </p:nvSpPr>
        <p:spPr>
          <a:xfrm>
            <a:off x="457200" y="1600200"/>
            <a:ext cx="11247120" cy="118872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"Add </a:t>
            </a:r>
            <a:pPr indent="0" marL="0">
              <a:buNone/>
            </a:pPr>
            <a:r>
              <a:rPr lang="en-US" sz="2400" dirty="0">
                <a:solidFill>
                  <a:srgbClr val="38BDF8"/>
                </a:solidFill>
                <a:latin typeface="Consolas" pitchFamily="34" charset="0"/>
                <a:ea typeface="Consolas" pitchFamily="34" charset="-122"/>
                <a:cs typeface="Consolas" pitchFamily="34" charset="-120"/>
              </a:rPr>
              <a:t>.env</a:t>
            </a:r>
            <a:pPr indent="0" marL="0">
              <a:buNone/>
            </a:pPr>
            <a:r>
              <a:rPr lang="en-US" sz="2400" dirty="0">
                <a:solidFill>
                  <a:srgbClr val="F1F5F9"/>
                </a:solidFill>
                <a:latin typeface="Calibri" pitchFamily="34" charset="0"/>
                <a:ea typeface="Calibri" pitchFamily="34" charset="-122"/>
                <a:cs typeface="Calibri" pitchFamily="34" charset="-120"/>
              </a:rPr>
              <a:t>, </a:t>
            </a:r>
            <a:pPr indent="0" marL="0">
              <a:buNone/>
            </a:pPr>
            <a:r>
              <a:rPr lang="en-US" sz="2400" dirty="0">
                <a:solidFill>
                  <a:srgbClr val="38BDF8"/>
                </a:solidFill>
                <a:latin typeface="Consolas" pitchFamily="34" charset="0"/>
                <a:ea typeface="Consolas" pitchFamily="34" charset="-122"/>
                <a:cs typeface="Consolas" pitchFamily="34" charset="-120"/>
              </a:rPr>
              <a:t>*.db</a:t>
            </a:r>
            <a:pPr indent="0" marL="0">
              <a:buNone/>
            </a:pPr>
            <a:r>
              <a:rPr lang="en-US" sz="2400" dirty="0">
                <a:solidFill>
                  <a:srgbClr val="F1F5F9"/>
                </a:solidFill>
                <a:latin typeface="Calibri" pitchFamily="34" charset="0"/>
                <a:ea typeface="Calibri" pitchFamily="34" charset="-122"/>
                <a:cs typeface="Calibri" pitchFamily="34" charset="-120"/>
              </a:rPr>
              <a:t>, </a:t>
            </a:r>
            <a:pPr indent="0" marL="0">
              <a:buNone/>
            </a:pPr>
            <a:r>
              <a:rPr lang="en-US" sz="2400" dirty="0">
                <a:solidFill>
                  <a:srgbClr val="38BDF8"/>
                </a:solidFill>
                <a:latin typeface="Consolas" pitchFamily="34" charset="0"/>
                <a:ea typeface="Consolas" pitchFamily="34" charset="-122"/>
                <a:cs typeface="Consolas" pitchFamily="34" charset="-120"/>
              </a:rPr>
              <a:t>*.db-wal</a:t>
            </a:r>
            <a:pPr indent="0" marL="0">
              <a:buNone/>
            </a:pPr>
            <a:r>
              <a:rPr lang="en-US" sz="2400" dirty="0">
                <a:solidFill>
                  <a:srgbClr val="F1F5F9"/>
                </a:solidFill>
                <a:latin typeface="Calibri" pitchFamily="34" charset="0"/>
                <a:ea typeface="Calibri" pitchFamily="34" charset="-122"/>
                <a:cs typeface="Calibri" pitchFamily="34" charset="-120"/>
              </a:rPr>
              <a:t>, </a:t>
            </a:r>
            <a:pPr indent="0" marL="0">
              <a:buNone/>
            </a:pPr>
            <a:r>
              <a:rPr lang="en-US" sz="2400" dirty="0">
                <a:solidFill>
                  <a:srgbClr val="38BDF8"/>
                </a:solidFill>
                <a:latin typeface="Consolas" pitchFamily="34" charset="0"/>
                <a:ea typeface="Consolas" pitchFamily="34" charset="-122"/>
                <a:cs typeface="Consolas" pitchFamily="34" charset="-120"/>
              </a:rPr>
              <a:t>*.db-shm</a:t>
            </a:r>
            <a:pPr indent="0" marL="0">
              <a:buNone/>
            </a:pPr>
            <a:r>
              <a:rPr lang="en-US" sz="2400" dirty="0">
                <a:solidFill>
                  <a:srgbClr val="F1F5F9"/>
                </a:solidFill>
                <a:latin typeface="Calibri" pitchFamily="34" charset="0"/>
                <a:ea typeface="Calibri" pitchFamily="34" charset="-122"/>
                <a:cs typeface="Calibri" pitchFamily="34" charset="-120"/>
              </a:rPr>
              <a:t> to </a:t>
            </a:r>
            <a:pPr indent="0" marL="0">
              <a:buNone/>
            </a:pPr>
            <a:r>
              <a:rPr lang="en-US" sz="2400" dirty="0">
                <a:solidFill>
                  <a:srgbClr val="38BDF8"/>
                </a:solidFill>
                <a:latin typeface="Consolas" pitchFamily="34" charset="0"/>
                <a:ea typeface="Consolas" pitchFamily="34" charset="-122"/>
                <a:cs typeface="Consolas" pitchFamily="34" charset="-120"/>
              </a:rPr>
              <a:t>server/.gitignore</a:t>
            </a:r>
            <a:pPr indent="0" marL="0">
              <a:buNone/>
            </a:pPr>
            <a:r>
              <a:rPr lang="en-US" sz="2400" dirty="0">
                <a:solidFill>
                  <a:srgbClr val="F1F5F9"/>
                </a:solidFill>
                <a:latin typeface="Calibri" pitchFamily="34" charset="0"/>
                <a:ea typeface="Calibri" pitchFamily="34" charset="-122"/>
                <a:cs typeface="Calibri" pitchFamily="34" charset="-120"/>
              </a:rPr>
              <a:t>. Add a health route. Start with </a:t>
            </a:r>
            <a:pPr indent="0" marL="0">
              <a:buNone/>
            </a:pPr>
            <a:r>
              <a:rPr lang="en-US" sz="2400" dirty="0">
                <a:solidFill>
                  <a:srgbClr val="38BDF8"/>
                </a:solidFill>
                <a:latin typeface="Consolas" pitchFamily="34" charset="0"/>
                <a:ea typeface="Consolas" pitchFamily="34" charset="-122"/>
                <a:cs typeface="Consolas" pitchFamily="34" charset="-120"/>
              </a:rPr>
              <a:t>PORT=4000</a:t>
            </a:r>
            <a:pPr indent="0" marL="0">
              <a:buNone/>
            </a:pPr>
            <a:r>
              <a:rPr lang="en-US" sz="2400" dirty="0">
                <a:solidFill>
                  <a:srgbClr val="F1F5F9"/>
                </a:solidFill>
                <a:latin typeface="Calibri" pitchFamily="34" charset="0"/>
                <a:ea typeface="Calibri" pitchFamily="34" charset="-122"/>
                <a:cs typeface="Calibri" pitchFamily="34" charset="-120"/>
              </a:rPr>
              <a:t>. Write a 3-sentence README note on moving to Postgres."</a:t>
            </a:r>
            <a:endParaRPr lang="en-US" sz="2400" dirty="0"/>
          </a:p>
        </p:txBody>
      </p:sp>
      <p:sp>
        <p:nvSpPr>
          <p:cNvPr id="7" name="Text 4"/>
          <p:cNvSpPr txBox="1"/>
          <p:nvPr/>
        </p:nvSpPr>
        <p:spPr>
          <a:xfrm>
            <a:off x="457200" y="2898648"/>
            <a:ext cx="11247120" cy="6057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app.get("/api/health", (_req, res) =&gt; res.json({ ok: true }));</a:t>
            </a:r>
            <a:endParaRPr lang="en-US" sz="1800" dirty="0"/>
          </a:p>
        </p:txBody>
      </p:sp>
      <p:sp>
        <p:nvSpPr>
          <p:cNvPr id="8" name="Text 5"/>
          <p:cNvSpPr txBox="1"/>
          <p:nvPr/>
        </p:nvSpPr>
        <p:spPr>
          <a:xfrm>
            <a:off x="457200" y="3614166"/>
            <a:ext cx="11247120" cy="396240"/>
          </a:xfrm>
          <a:prstGeom prst="rect">
            <a:avLst/>
          </a:prstGeom>
          <a:noFill/>
          <a:ln/>
        </p:spPr>
        <p:txBody>
          <a:bodyPr wrap="square" lIns="0" tIns="0" rIns="0" bIns="0" rtlCol="0" anchor="t"/>
          <a:lstStyle/>
          <a:p>
            <a:pPr indent="0" marL="0">
              <a:buNone/>
            </a:pPr>
            <a:r>
              <a:rPr lang="en-US" sz="2400" b="1" dirty="0">
                <a:solidFill>
                  <a:srgbClr val="F1F5F9"/>
                </a:solidFill>
                <a:latin typeface="Calibri" pitchFamily="34" charset="0"/>
                <a:ea typeface="Calibri" pitchFamily="34" charset="-122"/>
                <a:cs typeface="Calibri" pitchFamily="34" charset="-120"/>
              </a:rPr>
              <a:t>~15 minutes</a:t>
            </a:r>
            <a:endParaRPr lang="en-US" sz="2400" dirty="0"/>
          </a:p>
        </p:txBody>
      </p:sp>
      <p:sp>
        <p:nvSpPr>
          <p:cNvPr id="9" name="Text 6"/>
          <p:cNvSpPr txBox="1"/>
          <p:nvPr/>
        </p:nvSpPr>
        <p:spPr>
          <a:xfrm>
            <a:off x="457200" y="4120134"/>
            <a:ext cx="11247120" cy="39624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Done = server runs on port 4000; health returns </a:t>
            </a:r>
            <a:pPr indent="0" marL="0">
              <a:buNone/>
            </a:pPr>
            <a:r>
              <a:rPr lang="en-US" sz="2400" dirty="0">
                <a:solidFill>
                  <a:srgbClr val="38BDF8"/>
                </a:solidFill>
                <a:latin typeface="Consolas" pitchFamily="34" charset="0"/>
                <a:ea typeface="Consolas" pitchFamily="34" charset="-122"/>
                <a:cs typeface="Consolas" pitchFamily="34" charset="-120"/>
              </a:rPr>
              <a:t>{ ok: true }</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Every section builds on the one before it</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DIAGRAM</a:t>
            </a:r>
            <a:endParaRPr lang="en-US" sz="1200" dirty="0"/>
          </a:p>
        </p:txBody>
      </p:sp>
      <p:sp>
        <p:nvSpPr>
          <p:cNvPr id="5" name="Text 2"/>
          <p:cNvSpPr txBox="1"/>
          <p:nvPr/>
        </p:nvSpPr>
        <p:spPr>
          <a:xfrm>
            <a:off x="457200" y="1645920"/>
            <a:ext cx="1371600" cy="914400"/>
          </a:xfrm>
          <a:prstGeom prst="rect">
            <a:avLst/>
          </a:prstGeom>
          <a:noFill/>
          <a:ln/>
        </p:spPr>
        <p:txBody>
          <a:bodyPr wrap="square" lIns="0" tIns="0" rIns="0" bIns="0" rtlCol="0" anchor="ctr"/>
          <a:lstStyle/>
          <a:p>
            <a:pPr indent="0" marL="0">
              <a:buNone/>
            </a:pPr>
            <a:r>
              <a:rPr lang="en-US" sz="1800" b="1" dirty="0">
                <a:solidFill>
                  <a:srgbClr val="94A3B8"/>
                </a:solidFill>
                <a:latin typeface="Calibri" pitchFamily="34" charset="0"/>
                <a:ea typeface="Calibri" pitchFamily="34" charset="-122"/>
                <a:cs typeface="Calibri" pitchFamily="34" charset="-120"/>
              </a:rPr>
              <a:t>CONCEPTS</a:t>
            </a:r>
            <a:endParaRPr lang="en-US" sz="1800" dirty="0"/>
          </a:p>
        </p:txBody>
      </p:sp>
      <p:sp>
        <p:nvSpPr>
          <p:cNvPr id="6" name="Text 3"/>
          <p:cNvSpPr txBox="1"/>
          <p:nvPr/>
        </p:nvSpPr>
        <p:spPr>
          <a:xfrm>
            <a:off x="1920240" y="1645920"/>
            <a:ext cx="2103120" cy="914400"/>
          </a:xfrm>
          <a:prstGeom prst="roundRect">
            <a:avLst>
              <a:gd name="adj" fmla="val 10000"/>
            </a:avLst>
          </a:prstGeom>
          <a:solidFill>
            <a:srgbClr val="1E293B"/>
          </a:solidFill>
          <a:ln/>
        </p:spPr>
        <p:txBody>
          <a:bodyPr wrap="square" lIns="50800" tIns="50800" rIns="50800" bIns="50800" rtlCol="0" anchor="ctr"/>
          <a:lstStyle/>
          <a:p>
            <a:pPr algn="ctr" indent="0" marL="0">
              <a:buNone/>
            </a:pPr>
            <a:r>
              <a:rPr lang="en-US" sz="1800" dirty="0">
                <a:solidFill>
                  <a:srgbClr val="F1F5F9"/>
                </a:solidFill>
                <a:latin typeface="Calibri" pitchFamily="34" charset="0"/>
                <a:ea typeface="Calibri" pitchFamily="34" charset="-122"/>
                <a:cs typeface="Calibri" pitchFamily="34" charset="-120"/>
              </a:rPr>
              <a:t>3.1 Data path</a:t>
            </a:r>
            <a:endParaRPr lang="en-US" sz="1800" dirty="0"/>
          </a:p>
        </p:txBody>
      </p:sp>
      <p:sp>
        <p:nvSpPr>
          <p:cNvPr id="7" name="Shape 4"/>
          <p:cNvSpPr/>
          <p:nvPr/>
        </p:nvSpPr>
        <p:spPr>
          <a:xfrm>
            <a:off x="4041648" y="2103120"/>
            <a:ext cx="329184" cy="0"/>
          </a:xfrm>
          <a:prstGeom prst="line">
            <a:avLst/>
          </a:prstGeom>
          <a:noFill/>
          <a:ln w="25400">
            <a:solidFill>
              <a:srgbClr val="94A3B8"/>
            </a:solidFill>
            <a:prstDash val="solid"/>
            <a:tailEnd type="triangle"/>
          </a:ln>
        </p:spPr>
      </p:sp>
      <p:sp>
        <p:nvSpPr>
          <p:cNvPr id="8" name="Text 5"/>
          <p:cNvSpPr txBox="1"/>
          <p:nvPr/>
        </p:nvSpPr>
        <p:spPr>
          <a:xfrm>
            <a:off x="4389120" y="1645920"/>
            <a:ext cx="2103120" cy="914400"/>
          </a:xfrm>
          <a:prstGeom prst="roundRect">
            <a:avLst>
              <a:gd name="adj" fmla="val 10000"/>
            </a:avLst>
          </a:prstGeom>
          <a:solidFill>
            <a:srgbClr val="1E293B"/>
          </a:solidFill>
          <a:ln/>
        </p:spPr>
        <p:txBody>
          <a:bodyPr wrap="square" lIns="50800" tIns="50800" rIns="50800" bIns="50800" rtlCol="0" anchor="ctr"/>
          <a:lstStyle/>
          <a:p>
            <a:pPr algn="ctr" indent="0" marL="0">
              <a:buNone/>
            </a:pPr>
            <a:r>
              <a:rPr lang="en-US" sz="1800" dirty="0">
                <a:solidFill>
                  <a:srgbClr val="F1F5F9"/>
                </a:solidFill>
                <a:latin typeface="Calibri" pitchFamily="34" charset="0"/>
                <a:ea typeface="Calibri" pitchFamily="34" charset="-122"/>
                <a:cs typeface="Calibri" pitchFamily="34" charset="-120"/>
              </a:rPr>
              <a:t>3.2 Where data lives</a:t>
            </a:r>
            <a:endParaRPr lang="en-US" sz="1800" dirty="0"/>
          </a:p>
        </p:txBody>
      </p:sp>
      <p:sp>
        <p:nvSpPr>
          <p:cNvPr id="9" name="Shape 6"/>
          <p:cNvSpPr/>
          <p:nvPr/>
        </p:nvSpPr>
        <p:spPr>
          <a:xfrm>
            <a:off x="6510528" y="2103120"/>
            <a:ext cx="329184" cy="0"/>
          </a:xfrm>
          <a:prstGeom prst="line">
            <a:avLst/>
          </a:prstGeom>
          <a:noFill/>
          <a:ln w="25400">
            <a:solidFill>
              <a:srgbClr val="94A3B8"/>
            </a:solidFill>
            <a:prstDash val="solid"/>
            <a:tailEnd type="triangle"/>
          </a:ln>
        </p:spPr>
      </p:sp>
      <p:sp>
        <p:nvSpPr>
          <p:cNvPr id="10" name="Text 7"/>
          <p:cNvSpPr txBox="1"/>
          <p:nvPr/>
        </p:nvSpPr>
        <p:spPr>
          <a:xfrm>
            <a:off x="6858000" y="1645920"/>
            <a:ext cx="2103120" cy="914400"/>
          </a:xfrm>
          <a:prstGeom prst="roundRect">
            <a:avLst>
              <a:gd name="adj" fmla="val 10000"/>
            </a:avLst>
          </a:prstGeom>
          <a:solidFill>
            <a:srgbClr val="1E293B"/>
          </a:solidFill>
          <a:ln/>
        </p:spPr>
        <p:txBody>
          <a:bodyPr wrap="square" lIns="50800" tIns="50800" rIns="50800" bIns="50800" rtlCol="0" anchor="ctr"/>
          <a:lstStyle/>
          <a:p>
            <a:pPr algn="ctr" indent="0" marL="0">
              <a:buNone/>
            </a:pPr>
            <a:r>
              <a:rPr lang="en-US" sz="1800" dirty="0">
                <a:solidFill>
                  <a:srgbClr val="F1F5F9"/>
                </a:solidFill>
                <a:latin typeface="Calibri" pitchFamily="34" charset="0"/>
                <a:ea typeface="Calibri" pitchFamily="34" charset="-122"/>
                <a:cs typeface="Calibri" pitchFamily="34" charset="-120"/>
              </a:rPr>
              <a:t>3.3 Choose a database</a:t>
            </a:r>
            <a:endParaRPr lang="en-US" sz="1800" dirty="0"/>
          </a:p>
        </p:txBody>
      </p:sp>
      <p:sp>
        <p:nvSpPr>
          <p:cNvPr id="11" name="Shape 8"/>
          <p:cNvSpPr/>
          <p:nvPr/>
        </p:nvSpPr>
        <p:spPr>
          <a:xfrm>
            <a:off x="8979408" y="2103120"/>
            <a:ext cx="329184" cy="0"/>
          </a:xfrm>
          <a:prstGeom prst="line">
            <a:avLst/>
          </a:prstGeom>
          <a:noFill/>
          <a:ln w="25400">
            <a:solidFill>
              <a:srgbClr val="94A3B8"/>
            </a:solidFill>
            <a:prstDash val="solid"/>
            <a:tailEnd type="triangle"/>
          </a:ln>
        </p:spPr>
      </p:sp>
      <p:sp>
        <p:nvSpPr>
          <p:cNvPr id="12" name="Text 9"/>
          <p:cNvSpPr txBox="1"/>
          <p:nvPr/>
        </p:nvSpPr>
        <p:spPr>
          <a:xfrm>
            <a:off x="9326880" y="1645920"/>
            <a:ext cx="2103120" cy="914400"/>
          </a:xfrm>
          <a:prstGeom prst="roundRect">
            <a:avLst>
              <a:gd name="adj" fmla="val 10000"/>
            </a:avLst>
          </a:prstGeom>
          <a:solidFill>
            <a:srgbClr val="1E293B"/>
          </a:solidFill>
          <a:ln/>
        </p:spPr>
        <p:txBody>
          <a:bodyPr wrap="square" lIns="50800" tIns="50800" rIns="50800" bIns="50800" rtlCol="0" anchor="ctr"/>
          <a:lstStyle/>
          <a:p>
            <a:pPr algn="ctr" indent="0" marL="0">
              <a:buNone/>
            </a:pPr>
            <a:r>
              <a:rPr lang="en-US" sz="1800" dirty="0">
                <a:solidFill>
                  <a:srgbClr val="F1F5F9"/>
                </a:solidFill>
                <a:latin typeface="Calibri" pitchFamily="34" charset="0"/>
                <a:ea typeface="Calibri" pitchFamily="34" charset="-122"/>
                <a:cs typeface="Calibri" pitchFamily="34" charset="-120"/>
              </a:rPr>
              <a:t>3.4 Model and type data</a:t>
            </a:r>
            <a:endParaRPr lang="en-US" sz="1800" dirty="0"/>
          </a:p>
        </p:txBody>
      </p:sp>
      <p:sp>
        <p:nvSpPr>
          <p:cNvPr id="13" name="Text 10"/>
          <p:cNvSpPr txBox="1"/>
          <p:nvPr/>
        </p:nvSpPr>
        <p:spPr>
          <a:xfrm>
            <a:off x="457200" y="3063240"/>
            <a:ext cx="1371600" cy="914400"/>
          </a:xfrm>
          <a:prstGeom prst="rect">
            <a:avLst/>
          </a:prstGeom>
          <a:noFill/>
          <a:ln/>
        </p:spPr>
        <p:txBody>
          <a:bodyPr wrap="square" lIns="0" tIns="0" rIns="0" bIns="0" rtlCol="0" anchor="ctr"/>
          <a:lstStyle/>
          <a:p>
            <a:pPr indent="0" marL="0">
              <a:buNone/>
            </a:pPr>
            <a:r>
              <a:rPr lang="en-US" sz="1800" b="1" dirty="0">
                <a:solidFill>
                  <a:srgbClr val="94A3B8"/>
                </a:solidFill>
                <a:latin typeface="Calibri" pitchFamily="34" charset="0"/>
                <a:ea typeface="Calibri" pitchFamily="34" charset="-122"/>
                <a:cs typeface="Calibri" pitchFamily="34" charset="-120"/>
              </a:rPr>
              <a:t>SERVER</a:t>
            </a:r>
            <a:endParaRPr lang="en-US" sz="1800" dirty="0"/>
          </a:p>
        </p:txBody>
      </p:sp>
      <p:sp>
        <p:nvSpPr>
          <p:cNvPr id="14" name="Text 11"/>
          <p:cNvSpPr txBox="1"/>
          <p:nvPr/>
        </p:nvSpPr>
        <p:spPr>
          <a:xfrm>
            <a:off x="1920240" y="3063240"/>
            <a:ext cx="2103120" cy="914400"/>
          </a:xfrm>
          <a:prstGeom prst="roundRect">
            <a:avLst>
              <a:gd name="adj" fmla="val 10000"/>
            </a:avLst>
          </a:prstGeom>
          <a:solidFill>
            <a:srgbClr val="1E293B"/>
          </a:solidFill>
          <a:ln/>
        </p:spPr>
        <p:txBody>
          <a:bodyPr wrap="square" lIns="50800" tIns="50800" rIns="50800" bIns="50800" rtlCol="0" anchor="ctr"/>
          <a:lstStyle/>
          <a:p>
            <a:pPr algn="ctr" indent="0" marL="0">
              <a:buNone/>
            </a:pPr>
            <a:r>
              <a:rPr lang="en-US" sz="1800" dirty="0">
                <a:solidFill>
                  <a:srgbClr val="F1F5F9"/>
                </a:solidFill>
                <a:latin typeface="Calibri" pitchFamily="34" charset="0"/>
                <a:ea typeface="Calibri" pitchFamily="34" charset="-122"/>
                <a:cs typeface="Calibri" pitchFamily="34" charset="-120"/>
              </a:rPr>
              <a:t>3.5 SQLite and schema</a:t>
            </a:r>
            <a:endParaRPr lang="en-US" sz="1800" dirty="0"/>
          </a:p>
        </p:txBody>
      </p:sp>
      <p:sp>
        <p:nvSpPr>
          <p:cNvPr id="15" name="Shape 12"/>
          <p:cNvSpPr/>
          <p:nvPr/>
        </p:nvSpPr>
        <p:spPr>
          <a:xfrm>
            <a:off x="4041648" y="3520440"/>
            <a:ext cx="329184" cy="0"/>
          </a:xfrm>
          <a:prstGeom prst="line">
            <a:avLst/>
          </a:prstGeom>
          <a:noFill/>
          <a:ln w="25400">
            <a:solidFill>
              <a:srgbClr val="94A3B8"/>
            </a:solidFill>
            <a:prstDash val="solid"/>
            <a:tailEnd type="triangle"/>
          </a:ln>
        </p:spPr>
      </p:sp>
      <p:sp>
        <p:nvSpPr>
          <p:cNvPr id="16" name="Text 13"/>
          <p:cNvSpPr txBox="1"/>
          <p:nvPr/>
        </p:nvSpPr>
        <p:spPr>
          <a:xfrm>
            <a:off x="4389120" y="3063240"/>
            <a:ext cx="2103120" cy="914400"/>
          </a:xfrm>
          <a:prstGeom prst="roundRect">
            <a:avLst>
              <a:gd name="adj" fmla="val 10000"/>
            </a:avLst>
          </a:prstGeom>
          <a:solidFill>
            <a:srgbClr val="1E293B"/>
          </a:solidFill>
          <a:ln/>
        </p:spPr>
        <p:txBody>
          <a:bodyPr wrap="square" lIns="50800" tIns="50800" rIns="50800" bIns="50800" rtlCol="0" anchor="ctr"/>
          <a:lstStyle/>
          <a:p>
            <a:pPr algn="ctr" indent="0" marL="0">
              <a:buNone/>
            </a:pPr>
            <a:r>
              <a:rPr lang="en-US" sz="1800" dirty="0">
                <a:solidFill>
                  <a:srgbClr val="F1F5F9"/>
                </a:solidFill>
                <a:latin typeface="Calibri" pitchFamily="34" charset="0"/>
                <a:ea typeface="Calibri" pitchFamily="34" charset="-122"/>
                <a:cs typeface="Calibri" pitchFamily="34" charset="-120"/>
              </a:rPr>
              <a:t>3.6 Repository and SQL</a:t>
            </a:r>
            <a:endParaRPr lang="en-US" sz="1800" dirty="0"/>
          </a:p>
        </p:txBody>
      </p:sp>
      <p:sp>
        <p:nvSpPr>
          <p:cNvPr id="17" name="Shape 14"/>
          <p:cNvSpPr/>
          <p:nvPr/>
        </p:nvSpPr>
        <p:spPr>
          <a:xfrm>
            <a:off x="6510528" y="3520440"/>
            <a:ext cx="329184" cy="0"/>
          </a:xfrm>
          <a:prstGeom prst="line">
            <a:avLst/>
          </a:prstGeom>
          <a:noFill/>
          <a:ln w="25400">
            <a:solidFill>
              <a:srgbClr val="94A3B8"/>
            </a:solidFill>
            <a:prstDash val="solid"/>
            <a:tailEnd type="triangle"/>
          </a:ln>
        </p:spPr>
      </p:sp>
      <p:sp>
        <p:nvSpPr>
          <p:cNvPr id="18" name="Text 15"/>
          <p:cNvSpPr txBox="1"/>
          <p:nvPr/>
        </p:nvSpPr>
        <p:spPr>
          <a:xfrm>
            <a:off x="6858000" y="3063240"/>
            <a:ext cx="2103120" cy="914400"/>
          </a:xfrm>
          <a:prstGeom prst="roundRect">
            <a:avLst>
              <a:gd name="adj" fmla="val 10000"/>
            </a:avLst>
          </a:prstGeom>
          <a:solidFill>
            <a:srgbClr val="1E293B"/>
          </a:solidFill>
          <a:ln/>
        </p:spPr>
        <p:txBody>
          <a:bodyPr wrap="square" lIns="50800" tIns="50800" rIns="50800" bIns="50800" rtlCol="0" anchor="ctr"/>
          <a:lstStyle/>
          <a:p>
            <a:pPr algn="ctr" indent="0" marL="0">
              <a:buNone/>
            </a:pPr>
            <a:r>
              <a:rPr lang="en-US" sz="1800" dirty="0">
                <a:solidFill>
                  <a:srgbClr val="F1F5F9"/>
                </a:solidFill>
                <a:latin typeface="Calibri" pitchFamily="34" charset="0"/>
                <a:ea typeface="Calibri" pitchFamily="34" charset="-122"/>
                <a:cs typeface="Calibri" pitchFamily="34" charset="-120"/>
              </a:rPr>
              <a:t>3.7 REST routes and validation</a:t>
            </a:r>
            <a:endParaRPr lang="en-US" sz="1800" dirty="0"/>
          </a:p>
        </p:txBody>
      </p:sp>
      <p:sp>
        <p:nvSpPr>
          <p:cNvPr id="19" name="Shape 16"/>
          <p:cNvSpPr/>
          <p:nvPr/>
        </p:nvSpPr>
        <p:spPr>
          <a:xfrm>
            <a:off x="8979408" y="3520440"/>
            <a:ext cx="329184" cy="0"/>
          </a:xfrm>
          <a:prstGeom prst="line">
            <a:avLst/>
          </a:prstGeom>
          <a:noFill/>
          <a:ln w="25400">
            <a:solidFill>
              <a:srgbClr val="94A3B8"/>
            </a:solidFill>
            <a:prstDash val="solid"/>
            <a:tailEnd type="triangle"/>
          </a:ln>
        </p:spPr>
      </p:sp>
      <p:sp>
        <p:nvSpPr>
          <p:cNvPr id="20" name="Text 17"/>
          <p:cNvSpPr txBox="1"/>
          <p:nvPr/>
        </p:nvSpPr>
        <p:spPr>
          <a:xfrm>
            <a:off x="9326880" y="3063240"/>
            <a:ext cx="2103120" cy="914400"/>
          </a:xfrm>
          <a:prstGeom prst="roundRect">
            <a:avLst>
              <a:gd name="adj" fmla="val 10000"/>
            </a:avLst>
          </a:prstGeom>
          <a:solidFill>
            <a:srgbClr val="F97316"/>
          </a:solidFill>
          <a:ln/>
        </p:spPr>
        <p:txBody>
          <a:bodyPr wrap="square" lIns="50800" tIns="50800" rIns="50800" bIns="50800" rtlCol="0" anchor="ctr"/>
          <a:lstStyle/>
          <a:p>
            <a:pPr algn="ctr" indent="0" marL="0">
              <a:buNone/>
            </a:pPr>
            <a:r>
              <a:rPr lang="en-US" sz="1800" dirty="0">
                <a:solidFill>
                  <a:srgbClr val="0F172A"/>
                </a:solidFill>
                <a:latin typeface="Calibri" pitchFamily="34" charset="0"/>
                <a:ea typeface="Calibri" pitchFamily="34" charset="-122"/>
                <a:cs typeface="Calibri" pitchFamily="34" charset="-120"/>
              </a:rPr>
              <a:t>3.12 Production: swap DB, secrets</a:t>
            </a:r>
            <a:endParaRPr lang="en-US" sz="1800" dirty="0"/>
          </a:p>
        </p:txBody>
      </p:sp>
      <p:sp>
        <p:nvSpPr>
          <p:cNvPr id="21" name="Text 18"/>
          <p:cNvSpPr txBox="1"/>
          <p:nvPr/>
        </p:nvSpPr>
        <p:spPr>
          <a:xfrm>
            <a:off x="457200" y="4480560"/>
            <a:ext cx="1371600" cy="914400"/>
          </a:xfrm>
          <a:prstGeom prst="rect">
            <a:avLst/>
          </a:prstGeom>
          <a:noFill/>
          <a:ln/>
        </p:spPr>
        <p:txBody>
          <a:bodyPr wrap="square" lIns="0" tIns="0" rIns="0" bIns="0" rtlCol="0" anchor="ctr"/>
          <a:lstStyle/>
          <a:p>
            <a:pPr indent="0" marL="0">
              <a:buNone/>
            </a:pPr>
            <a:r>
              <a:rPr lang="en-US" sz="1800" b="1" dirty="0">
                <a:solidFill>
                  <a:srgbClr val="94A3B8"/>
                </a:solidFill>
                <a:latin typeface="Calibri" pitchFamily="34" charset="0"/>
                <a:ea typeface="Calibri" pitchFamily="34" charset="-122"/>
                <a:cs typeface="Calibri" pitchFamily="34" charset="-120"/>
              </a:rPr>
              <a:t>CLIENT</a:t>
            </a:r>
            <a:endParaRPr lang="en-US" sz="1800" dirty="0"/>
          </a:p>
        </p:txBody>
      </p:sp>
      <p:sp>
        <p:nvSpPr>
          <p:cNvPr id="22" name="Text 19"/>
          <p:cNvSpPr txBox="1"/>
          <p:nvPr/>
        </p:nvSpPr>
        <p:spPr>
          <a:xfrm>
            <a:off x="1920240" y="4480560"/>
            <a:ext cx="2103120" cy="914400"/>
          </a:xfrm>
          <a:prstGeom prst="roundRect">
            <a:avLst>
              <a:gd name="adj" fmla="val 10000"/>
            </a:avLst>
          </a:prstGeom>
          <a:solidFill>
            <a:srgbClr val="1E293B"/>
          </a:solidFill>
          <a:ln/>
        </p:spPr>
        <p:txBody>
          <a:bodyPr wrap="square" lIns="50800" tIns="50800" rIns="50800" bIns="50800" rtlCol="0" anchor="ctr"/>
          <a:lstStyle/>
          <a:p>
            <a:pPr algn="ctr" indent="0" marL="0">
              <a:buNone/>
            </a:pPr>
            <a:r>
              <a:rPr lang="en-US" sz="1800" dirty="0">
                <a:solidFill>
                  <a:srgbClr val="F1F5F9"/>
                </a:solidFill>
                <a:latin typeface="Calibri" pitchFamily="34" charset="0"/>
                <a:ea typeface="Calibri" pitchFamily="34" charset="-122"/>
                <a:cs typeface="Calibri" pitchFamily="34" charset="-120"/>
              </a:rPr>
              <a:t>3.8 Client API module</a:t>
            </a:r>
            <a:endParaRPr lang="en-US" sz="1800" dirty="0"/>
          </a:p>
        </p:txBody>
      </p:sp>
      <p:sp>
        <p:nvSpPr>
          <p:cNvPr id="23" name="Shape 20"/>
          <p:cNvSpPr/>
          <p:nvPr/>
        </p:nvSpPr>
        <p:spPr>
          <a:xfrm>
            <a:off x="4041648" y="4937760"/>
            <a:ext cx="329184" cy="0"/>
          </a:xfrm>
          <a:prstGeom prst="line">
            <a:avLst/>
          </a:prstGeom>
          <a:noFill/>
          <a:ln w="25400">
            <a:solidFill>
              <a:srgbClr val="94A3B8"/>
            </a:solidFill>
            <a:prstDash val="solid"/>
            <a:tailEnd type="triangle"/>
          </a:ln>
        </p:spPr>
      </p:sp>
      <p:sp>
        <p:nvSpPr>
          <p:cNvPr id="24" name="Text 21"/>
          <p:cNvSpPr txBox="1"/>
          <p:nvPr/>
        </p:nvSpPr>
        <p:spPr>
          <a:xfrm>
            <a:off x="4389120" y="4480560"/>
            <a:ext cx="2103120" cy="914400"/>
          </a:xfrm>
          <a:prstGeom prst="roundRect">
            <a:avLst>
              <a:gd name="adj" fmla="val 10000"/>
            </a:avLst>
          </a:prstGeom>
          <a:solidFill>
            <a:srgbClr val="1E293B"/>
          </a:solidFill>
          <a:ln/>
        </p:spPr>
        <p:txBody>
          <a:bodyPr wrap="square" lIns="50800" tIns="50800" rIns="50800" bIns="50800" rtlCol="0" anchor="ctr"/>
          <a:lstStyle/>
          <a:p>
            <a:pPr algn="ctr" indent="0" marL="0">
              <a:buNone/>
            </a:pPr>
            <a:r>
              <a:rPr lang="en-US" sz="1800" dirty="0">
                <a:solidFill>
                  <a:srgbClr val="F1F5F9"/>
                </a:solidFill>
                <a:latin typeface="Calibri" pitchFamily="34" charset="0"/>
                <a:ea typeface="Calibri" pitchFamily="34" charset="-122"/>
                <a:cs typeface="Calibri" pitchFamily="34" charset="-120"/>
              </a:rPr>
              <a:t>3.9 Read data</a:t>
            </a:r>
            <a:endParaRPr lang="en-US" sz="1800" dirty="0"/>
          </a:p>
        </p:txBody>
      </p:sp>
      <p:sp>
        <p:nvSpPr>
          <p:cNvPr id="25" name="Shape 22"/>
          <p:cNvSpPr/>
          <p:nvPr/>
        </p:nvSpPr>
        <p:spPr>
          <a:xfrm>
            <a:off x="6510528" y="4937760"/>
            <a:ext cx="329184" cy="0"/>
          </a:xfrm>
          <a:prstGeom prst="line">
            <a:avLst/>
          </a:prstGeom>
          <a:noFill/>
          <a:ln w="25400">
            <a:solidFill>
              <a:srgbClr val="94A3B8"/>
            </a:solidFill>
            <a:prstDash val="solid"/>
            <a:tailEnd type="triangle"/>
          </a:ln>
        </p:spPr>
      </p:sp>
      <p:sp>
        <p:nvSpPr>
          <p:cNvPr id="26" name="Text 23"/>
          <p:cNvSpPr txBox="1"/>
          <p:nvPr/>
        </p:nvSpPr>
        <p:spPr>
          <a:xfrm>
            <a:off x="6858000" y="4480560"/>
            <a:ext cx="2103120" cy="914400"/>
          </a:xfrm>
          <a:prstGeom prst="roundRect">
            <a:avLst>
              <a:gd name="adj" fmla="val 10000"/>
            </a:avLst>
          </a:prstGeom>
          <a:solidFill>
            <a:srgbClr val="1E293B"/>
          </a:solidFill>
          <a:ln/>
        </p:spPr>
        <p:txBody>
          <a:bodyPr wrap="square" lIns="50800" tIns="50800" rIns="50800" bIns="50800" rtlCol="0" anchor="ctr"/>
          <a:lstStyle/>
          <a:p>
            <a:pPr algn="ctr" indent="0" marL="0">
              <a:buNone/>
            </a:pPr>
            <a:r>
              <a:rPr lang="en-US" sz="1800" dirty="0">
                <a:solidFill>
                  <a:srgbClr val="F1F5F9"/>
                </a:solidFill>
                <a:latin typeface="Calibri" pitchFamily="34" charset="0"/>
                <a:ea typeface="Calibri" pitchFamily="34" charset="-122"/>
                <a:cs typeface="Calibri" pitchFamily="34" charset="-120"/>
              </a:rPr>
              <a:t>3.10 Write data</a:t>
            </a:r>
            <a:endParaRPr lang="en-US" sz="1800" dirty="0"/>
          </a:p>
        </p:txBody>
      </p:sp>
      <p:sp>
        <p:nvSpPr>
          <p:cNvPr id="27" name="Shape 24"/>
          <p:cNvSpPr/>
          <p:nvPr/>
        </p:nvSpPr>
        <p:spPr>
          <a:xfrm>
            <a:off x="8979408" y="4937760"/>
            <a:ext cx="329184" cy="0"/>
          </a:xfrm>
          <a:prstGeom prst="line">
            <a:avLst/>
          </a:prstGeom>
          <a:noFill/>
          <a:ln w="25400">
            <a:solidFill>
              <a:srgbClr val="94A3B8"/>
            </a:solidFill>
            <a:prstDash val="solid"/>
            <a:tailEnd type="triangle"/>
          </a:ln>
        </p:spPr>
      </p:sp>
      <p:sp>
        <p:nvSpPr>
          <p:cNvPr id="28" name="Text 25"/>
          <p:cNvSpPr txBox="1"/>
          <p:nvPr/>
        </p:nvSpPr>
        <p:spPr>
          <a:xfrm>
            <a:off x="9326880" y="4480560"/>
            <a:ext cx="2103120" cy="914400"/>
          </a:xfrm>
          <a:prstGeom prst="roundRect">
            <a:avLst>
              <a:gd name="adj" fmla="val 10000"/>
            </a:avLst>
          </a:prstGeom>
          <a:solidFill>
            <a:srgbClr val="1E293B"/>
          </a:solidFill>
          <a:ln/>
        </p:spPr>
        <p:txBody>
          <a:bodyPr wrap="square" lIns="50800" tIns="50800" rIns="50800" bIns="50800" rtlCol="0" anchor="ctr"/>
          <a:lstStyle/>
          <a:p>
            <a:pPr algn="ctr" indent="0" marL="0">
              <a:buNone/>
            </a:pPr>
            <a:r>
              <a:rPr lang="en-US" sz="1800" dirty="0">
                <a:solidFill>
                  <a:srgbClr val="F1F5F9"/>
                </a:solidFill>
                <a:latin typeface="Calibri" pitchFamily="34" charset="0"/>
                <a:ea typeface="Calibri" pitchFamily="34" charset="-122"/>
                <a:cs typeface="Calibri" pitchFamily="34" charset="-120"/>
              </a:rPr>
              <a:t>3.11 Filter, paginate, join</a:t>
            </a:r>
            <a:endParaRPr lang="en-US" sz="1800" dirty="0"/>
          </a:p>
        </p:txBody>
      </p:sp>
      <p:sp>
        <p:nvSpPr>
          <p:cNvPr id="29" name="Text 26"/>
          <p:cNvSpPr txBox="1"/>
          <p:nvPr/>
        </p:nvSpPr>
        <p:spPr>
          <a:xfrm>
            <a:off x="457200" y="5852160"/>
            <a:ext cx="11247120" cy="457200"/>
          </a:xfrm>
          <a:prstGeom prst="rect">
            <a:avLst/>
          </a:prstGeom>
          <a:noFill/>
          <a:ln/>
        </p:spPr>
        <p:txBody>
          <a:bodyPr wrap="square" lIns="0" tIns="0" rIns="0" bIns="0" rtlCol="0" anchor="ctr"/>
          <a:lstStyle/>
          <a:p>
            <a:pPr indent="0" marL="0">
              <a:buNone/>
            </a:pPr>
            <a:r>
              <a:rPr lang="en-US" sz="2000" dirty="0">
                <a:solidFill>
                  <a:srgbClr val="F1F5F9"/>
                </a:solidFill>
                <a:latin typeface="Calibri" pitchFamily="34" charset="0"/>
                <a:ea typeface="Calibri" pitchFamily="34" charset="-122"/>
                <a:cs typeface="Calibri" pitchFamily="34" charset="-120"/>
              </a:rPr>
              <a:t>Concepts → Server → Client. 3.11 changes 3.6, 3.7, 3.8 and 3.9 together. 3.12 builds on 3.3 and 3.6.</a:t>
            </a:r>
            <a:endParaRPr lang="en-US" sz="20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Key terms (1 of 2)</a:t>
            </a:r>
            <a:endParaRPr lang="en-US" dirty="0"/>
          </a:p>
        </p:txBody>
      </p:sp>
      <p:sp>
        <p:nvSpPr>
          <p:cNvPr id="4" name="Text 1"/>
          <p:cNvSpPr txBox="1"/>
          <p:nvPr/>
        </p:nvSpPr>
        <p:spPr>
          <a:xfrm>
            <a:off x="457200" y="1600200"/>
            <a:ext cx="11247120" cy="4678680"/>
          </a:xfrm>
          <a:prstGeom prst="rect">
            <a:avLst/>
          </a:prstGeom>
          <a:noFill/>
          <a:ln/>
        </p:spPr>
        <p:txBody>
          <a:bodyPr wrap="square" lIns="0" tIns="0" rIns="0" bIns="0" rtlCol="0" anchor="t"/>
          <a:lstStyle/>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Database: stores data durably</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API / endpoint: server URL plus method</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Repository: all DB code for one entity</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Schema: declared structure of the data</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SQL: language for relational databases</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Primary / foreign key: row ID / link to another table's ID</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Constraint: rule the database enforces</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CRUD: create, read, update, delete</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Parameterized query: values sent separately from SQL</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SQL injection: input changes a query's meaning</a:t>
            </a:r>
            <a:endParaRPr lang="en-US" sz="228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Key terms (2 of 2)</a:t>
            </a:r>
            <a:endParaRPr lang="en-US" dirty="0"/>
          </a:p>
        </p:txBody>
      </p:sp>
      <p:sp>
        <p:nvSpPr>
          <p:cNvPr id="4" name="Text 1"/>
          <p:cNvSpPr txBox="1"/>
          <p:nvPr/>
        </p:nvSpPr>
        <p:spPr>
          <a:xfrm>
            <a:off x="457200" y="1600200"/>
            <a:ext cx="11247120" cy="4678680"/>
          </a:xfrm>
          <a:prstGeom prst="rect">
            <a:avLst/>
          </a:prstGeom>
          <a:noFill/>
          <a:ln/>
        </p:spPr>
        <p:txBody>
          <a:bodyPr wrap="square" lIns="0" tIns="0" rIns="0" bIns="0" rtlCol="0" anchor="t"/>
          <a:lstStyle/>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REST: resource URLs plus HTTP methods</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Status code: result number (200, 201, 400, 404)</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CORS: browser cross-origin restriction</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Proxy (dev): dev server forwards </a:t>
            </a:r>
            <a:pPr indent="0" marL="0">
              <a:spcAft>
                <a:spcPts val="600"/>
              </a:spcAft>
              <a:buNone/>
            </a:pPr>
            <a:r>
              <a:rPr lang="en-US" sz="2280" dirty="0">
                <a:solidFill>
                  <a:srgbClr val="38BDF8"/>
                </a:solidFill>
                <a:latin typeface="Consolas" pitchFamily="34" charset="0"/>
                <a:ea typeface="Consolas" pitchFamily="34" charset="-122"/>
                <a:cs typeface="Consolas" pitchFamily="34" charset="-120"/>
              </a:rPr>
              <a:t>/api</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Environment variable: config outside the code</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Pessimistic update: wait for server, then update UI</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Optimistic update: update first; roll back on failure</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Race condition: result depends on which request finishes first</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Pagination: </a:t>
            </a:r>
            <a:pPr indent="0" marL="0">
              <a:spcAft>
                <a:spcPts val="600"/>
              </a:spcAft>
              <a:buNone/>
            </a:pPr>
            <a:r>
              <a:rPr lang="en-US" sz="2280" dirty="0">
                <a:solidFill>
                  <a:srgbClr val="38BDF8"/>
                </a:solidFill>
                <a:latin typeface="Consolas" pitchFamily="34" charset="0"/>
                <a:ea typeface="Consolas" pitchFamily="34" charset="-122"/>
                <a:cs typeface="Consolas" pitchFamily="34" charset="-120"/>
              </a:rPr>
              <a:t>LIMIT</a:t>
            </a:r>
            <a:pPr indent="0" marL="0">
              <a:spcAft>
                <a:spcPts val="600"/>
              </a:spcAft>
              <a:buNone/>
            </a:pPr>
            <a:r>
              <a:rPr lang="en-US" sz="2280" dirty="0">
                <a:solidFill>
                  <a:srgbClr val="F1F5F9"/>
                </a:solidFill>
                <a:latin typeface="Calibri" pitchFamily="34" charset="0"/>
                <a:ea typeface="Calibri" pitchFamily="34" charset="-122"/>
                <a:cs typeface="Calibri" pitchFamily="34" charset="-120"/>
              </a:rPr>
              <a:t> and </a:t>
            </a:r>
            <a:pPr indent="0" marL="0">
              <a:spcAft>
                <a:spcPts val="600"/>
              </a:spcAft>
              <a:buNone/>
            </a:pPr>
            <a:r>
              <a:rPr lang="en-US" sz="2280" dirty="0">
                <a:solidFill>
                  <a:srgbClr val="38BDF8"/>
                </a:solidFill>
                <a:latin typeface="Consolas" pitchFamily="34" charset="0"/>
                <a:ea typeface="Consolas" pitchFamily="34" charset="-122"/>
                <a:cs typeface="Consolas" pitchFamily="34" charset="-120"/>
              </a:rPr>
              <a:t>OFFSET</a:t>
            </a:r>
            <a:pPr indent="0" marL="0">
              <a:spcAft>
                <a:spcPts val="600"/>
              </a:spcAft>
              <a:buNone/>
            </a:pPr>
            <a:r>
              <a:rPr lang="en-US" sz="2280" dirty="0">
                <a:solidFill>
                  <a:srgbClr val="F1F5F9"/>
                </a:solidFill>
                <a:latin typeface="Calibri" pitchFamily="34" charset="0"/>
                <a:ea typeface="Calibri" pitchFamily="34" charset="-122"/>
                <a:cs typeface="Calibri" pitchFamily="34" charset="-120"/>
              </a:rPr>
              <a:t> pages</a:t>
            </a:r>
            <a:endParaRPr lang="en-US" sz="2280" dirty="0"/>
          </a:p>
          <a:p>
            <a:pPr marL="342900" indent="-342900">
              <a:spcAft>
                <a:spcPts val="600"/>
              </a:spcAft>
              <a:buSzPct val="100000"/>
              <a:buChar char="•"/>
            </a:pPr>
            <a:r>
              <a:rPr lang="en-US" sz="2280" dirty="0">
                <a:solidFill>
                  <a:srgbClr val="F1F5F9"/>
                </a:solidFill>
                <a:latin typeface="Calibri" pitchFamily="34" charset="0"/>
                <a:ea typeface="Calibri" pitchFamily="34" charset="-122"/>
                <a:cs typeface="Calibri" pitchFamily="34" charset="-120"/>
              </a:rPr>
              <a:t>JOIN / N+1 / index: combine tables / one query per item / fast lookup</a:t>
            </a:r>
            <a:endParaRPr lang="en-US" sz="228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Q1: Why not connect React straight to the database?</a:t>
            </a:r>
            <a:endParaRPr lang="en-US" dirty="0"/>
          </a:p>
        </p:txBody>
      </p:sp>
      <p:sp>
        <p:nvSpPr>
          <p:cNvPr id="3" name="Text 1"/>
          <p:cNvSpPr txBox="1"/>
          <p:nvPr/>
        </p:nvSpPr>
        <p:spPr>
          <a:xfrm>
            <a:off x="457200" y="228600"/>
            <a:ext cx="1554480" cy="274320"/>
          </a:xfrm>
          <a:prstGeom prst="roundRect">
            <a:avLst>
              <a:gd name="adj" fmla="val 26667"/>
            </a:avLst>
          </a:prstGeom>
          <a:solidFill>
            <a:srgbClr val="A78BFA"/>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QUESTION</a:t>
            </a:r>
            <a:endParaRPr lang="en-US" sz="1200" dirty="0"/>
          </a:p>
        </p:txBody>
      </p:sp>
      <p:sp>
        <p:nvSpPr>
          <p:cNvPr id="5" name="Text 2"/>
          <p:cNvSpPr txBox="1"/>
          <p:nvPr/>
        </p:nvSpPr>
        <p:spPr>
          <a:xfrm>
            <a:off x="457200" y="1600200"/>
            <a:ext cx="11247120" cy="79248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"Give two concrete reasons React must never connect directly to a database."</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A1: Security and architecture</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ANSWER</a:t>
            </a:r>
            <a:endParaRPr lang="en-US" sz="1200" dirty="0"/>
          </a:p>
        </p:txBody>
      </p:sp>
      <p:sp>
        <p:nvSpPr>
          <p:cNvPr id="5" name="Text 2"/>
          <p:cNvSpPr txBox="1"/>
          <p:nvPr/>
        </p:nvSpPr>
        <p:spPr>
          <a:xfrm>
            <a:off x="457200" y="1600200"/>
            <a:ext cx="11247120" cy="975360"/>
          </a:xfrm>
          <a:prstGeom prst="rect">
            <a:avLst/>
          </a:prstGeom>
          <a:noFill/>
          <a:ln/>
        </p:spPr>
        <p:txBody>
          <a:bodyPr wrap="square" lIns="0" tIns="0" rIns="0" bIns="0" rtlCol="0" anchor="t"/>
          <a:lstStyle/>
          <a:p>
            <a:pPr marL="342900" indent="-342900">
              <a:spcAft>
                <a:spcPts val="600"/>
              </a:spcAft>
              <a:buSzPct val="100000"/>
              <a:buChar char="•"/>
            </a:pPr>
            <a:r>
              <a:rPr lang="en-US" sz="2400" b="1" dirty="0">
                <a:solidFill>
                  <a:srgbClr val="F1F5F9"/>
                </a:solidFill>
                <a:latin typeface="Calibri" pitchFamily="34" charset="0"/>
                <a:ea typeface="Calibri" pitchFamily="34" charset="-122"/>
                <a:cs typeface="Calibri" pitchFamily="34" charset="-120"/>
              </a:rPr>
              <a:t>Security:</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browser code is public and user-controlled</a:t>
            </a:r>
            <a:endParaRPr lang="en-US" sz="2400" dirty="0"/>
          </a:p>
          <a:p>
            <a:pPr marL="342900" indent="-342900">
              <a:spcAft>
                <a:spcPts val="600"/>
              </a:spcAft>
              <a:buSzPct val="100000"/>
              <a:buChar char="•"/>
            </a:pPr>
            <a:r>
              <a:rPr lang="en-US" sz="2400" b="1" dirty="0">
                <a:solidFill>
                  <a:srgbClr val="F1F5F9"/>
                </a:solidFill>
                <a:latin typeface="Calibri" pitchFamily="34" charset="0"/>
                <a:ea typeface="Calibri" pitchFamily="34" charset="-122"/>
                <a:cs typeface="Calibri" pitchFamily="34" charset="-120"/>
              </a:rPr>
              <a:t>Architecture:</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the API enforces validation, authorization, rules</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Q2: Spot the bug</a:t>
            </a:r>
            <a:endParaRPr lang="en-US" dirty="0"/>
          </a:p>
        </p:txBody>
      </p:sp>
      <p:sp>
        <p:nvSpPr>
          <p:cNvPr id="3" name="Text 1"/>
          <p:cNvSpPr txBox="1"/>
          <p:nvPr/>
        </p:nvSpPr>
        <p:spPr>
          <a:xfrm>
            <a:off x="457200" y="228600"/>
            <a:ext cx="1554480" cy="274320"/>
          </a:xfrm>
          <a:prstGeom prst="roundRect">
            <a:avLst>
              <a:gd name="adj" fmla="val 26667"/>
            </a:avLst>
          </a:prstGeom>
          <a:solidFill>
            <a:srgbClr val="A78BFA"/>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QUESTION</a:t>
            </a:r>
            <a:endParaRPr lang="en-US" sz="1200" dirty="0"/>
          </a:p>
        </p:txBody>
      </p:sp>
      <p:sp>
        <p:nvSpPr>
          <p:cNvPr id="4" name="Text 2"/>
          <p:cNvSpPr txBox="1"/>
          <p:nvPr/>
        </p:nvSpPr>
        <p:spPr>
          <a:xfrm>
            <a:off x="214884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6" name="Text 3"/>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server/src/bookRepository.ts</a:t>
            </a:r>
            <a:endParaRPr lang="en-US" sz="2400" dirty="0"/>
          </a:p>
        </p:txBody>
      </p:sp>
      <p:sp>
        <p:nvSpPr>
          <p:cNvPr id="7" name="Text 4"/>
          <p:cNvSpPr txBox="1"/>
          <p:nvPr/>
        </p:nvSpPr>
        <p:spPr>
          <a:xfrm>
            <a:off x="457200" y="2106168"/>
            <a:ext cx="11247120" cy="11772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function findByTitle(title: string)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return db.prepare(`SELECT * FROM books WHERE title = '${title}'`).all();</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8" name="Text 5"/>
          <p:cNvSpPr txBox="1"/>
          <p:nvPr/>
        </p:nvSpPr>
        <p:spPr>
          <a:xfrm>
            <a:off x="457200" y="3393186"/>
            <a:ext cx="11247120" cy="39624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"What does this return when </a:t>
            </a:r>
            <a:pPr indent="0" marL="0">
              <a:buNone/>
            </a:pPr>
            <a:r>
              <a:rPr lang="en-US" sz="2400" dirty="0">
                <a:solidFill>
                  <a:srgbClr val="38BDF8"/>
                </a:solidFill>
                <a:latin typeface="Consolas" pitchFamily="34" charset="0"/>
                <a:ea typeface="Consolas" pitchFamily="34" charset="-122"/>
                <a:cs typeface="Consolas" pitchFamily="34" charset="-120"/>
              </a:rPr>
              <a:t>title</a:t>
            </a:r>
            <a:pPr indent="0" marL="0">
              <a:buNone/>
            </a:pPr>
            <a:r>
              <a:rPr lang="en-US" sz="2400" dirty="0">
                <a:solidFill>
                  <a:srgbClr val="F1F5F9"/>
                </a:solidFill>
                <a:latin typeface="Calibri" pitchFamily="34" charset="0"/>
                <a:ea typeface="Calibri" pitchFamily="34" charset="-122"/>
                <a:cs typeface="Calibri" pitchFamily="34" charset="-120"/>
              </a:rPr>
              <a:t> is </a:t>
            </a:r>
            <a:pPr indent="0" marL="0">
              <a:buNone/>
            </a:pPr>
            <a:r>
              <a:rPr lang="en-US" sz="2400" dirty="0">
                <a:solidFill>
                  <a:srgbClr val="38BDF8"/>
                </a:solidFill>
                <a:latin typeface="Consolas" pitchFamily="34" charset="0"/>
                <a:ea typeface="Consolas" pitchFamily="34" charset="-122"/>
                <a:cs typeface="Consolas" pitchFamily="34" charset="-120"/>
              </a:rPr>
              <a:t>x' OR '1'='1</a:t>
            </a:r>
            <a:pPr indent="0" marL="0">
              <a:buNone/>
            </a:pPr>
            <a:r>
              <a:rPr lang="en-US" sz="2400" dirty="0">
                <a:solidFill>
                  <a:srgbClr val="F1F5F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A2: Every book; fix with a placeholder</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ANSWER</a:t>
            </a:r>
            <a:endParaRPr lang="en-US" sz="1200" dirty="0"/>
          </a:p>
        </p:txBody>
      </p:sp>
      <p:sp>
        <p:nvSpPr>
          <p:cNvPr id="4" name="Text 2"/>
          <p:cNvSpPr txBox="1"/>
          <p:nvPr/>
        </p:nvSpPr>
        <p:spPr>
          <a:xfrm>
            <a:off x="214884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6" name="Text 3"/>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server/src/bookRepository.ts</a:t>
            </a:r>
            <a:endParaRPr lang="en-US" sz="2400" dirty="0"/>
          </a:p>
        </p:txBody>
      </p:sp>
      <p:sp>
        <p:nvSpPr>
          <p:cNvPr id="7" name="Text 4"/>
          <p:cNvSpPr txBox="1"/>
          <p:nvPr/>
        </p:nvSpPr>
        <p:spPr>
          <a:xfrm>
            <a:off x="457200" y="2106168"/>
            <a:ext cx="11247120" cy="6057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db.prepare("SELECT * FROM books WHERE title = ?").all(title);</a:t>
            </a:r>
            <a:endParaRPr lang="en-US" sz="1800" dirty="0"/>
          </a:p>
        </p:txBody>
      </p:sp>
      <p:sp>
        <p:nvSpPr>
          <p:cNvPr id="8" name="Text 5"/>
          <p:cNvSpPr txBox="1"/>
          <p:nvPr/>
        </p:nvSpPr>
        <p:spPr>
          <a:xfrm>
            <a:off x="457200" y="2821686"/>
            <a:ext cx="11247120" cy="39624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a:t>
            </a:r>
            <a:pPr indent="0" marL="0">
              <a:buNone/>
            </a:pPr>
            <a:r>
              <a:rPr lang="en-US" sz="2400" dirty="0">
                <a:solidFill>
                  <a:srgbClr val="38BDF8"/>
                </a:solidFill>
                <a:latin typeface="Consolas" pitchFamily="34" charset="0"/>
                <a:ea typeface="Consolas" pitchFamily="34" charset="-122"/>
                <a:cs typeface="Consolas" pitchFamily="34" charset="-120"/>
              </a:rPr>
              <a:t>'1'='1'</a:t>
            </a:r>
            <a:pPr indent="0" marL="0">
              <a:buNone/>
            </a:pPr>
            <a:r>
              <a:rPr lang="en-US" sz="2400" dirty="0">
                <a:solidFill>
                  <a:srgbClr val="F1F5F9"/>
                </a:solidFill>
                <a:latin typeface="Calibri" pitchFamily="34" charset="0"/>
                <a:ea typeface="Calibri" pitchFamily="34" charset="-122"/>
                <a:cs typeface="Calibri" pitchFamily="34" charset="-120"/>
              </a:rPr>
              <a:t> is always true: that's SQL injection."</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Q3: Predict the output</a:t>
            </a:r>
            <a:endParaRPr lang="en-US" dirty="0"/>
          </a:p>
        </p:txBody>
      </p:sp>
      <p:sp>
        <p:nvSpPr>
          <p:cNvPr id="3" name="Text 1"/>
          <p:cNvSpPr txBox="1"/>
          <p:nvPr/>
        </p:nvSpPr>
        <p:spPr>
          <a:xfrm>
            <a:off x="457200" y="228600"/>
            <a:ext cx="1554480" cy="274320"/>
          </a:xfrm>
          <a:prstGeom prst="roundRect">
            <a:avLst>
              <a:gd name="adj" fmla="val 26667"/>
            </a:avLst>
          </a:prstGeom>
          <a:solidFill>
            <a:srgbClr val="A78BFA"/>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QUESTION</a:t>
            </a:r>
            <a:endParaRPr lang="en-US" sz="1200" dirty="0"/>
          </a:p>
        </p:txBody>
      </p:sp>
      <p:sp>
        <p:nvSpPr>
          <p:cNvPr id="4" name="Text 2"/>
          <p:cNvSpPr txBox="1"/>
          <p:nvPr/>
        </p:nvSpPr>
        <p:spPr>
          <a:xfrm>
            <a:off x="214884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6" name="Text 3"/>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client/src/App.tsx</a:t>
            </a:r>
            <a:pPr indent="0" marL="0">
              <a:buNone/>
            </a:pPr>
            <a:r>
              <a:rPr lang="en-US" sz="2400" dirty="0">
                <a:solidFill>
                  <a:srgbClr val="F1F5F9"/>
                </a:solidFill>
                <a:latin typeface="Calibri" pitchFamily="34" charset="0"/>
                <a:ea typeface="Calibri" pitchFamily="34" charset="-122"/>
                <a:cs typeface="Calibri" pitchFamily="34" charset="-120"/>
              </a:rPr>
              <a:t> (no book with id 999)</a:t>
            </a:r>
            <a:endParaRPr lang="en-US" sz="2400" dirty="0"/>
          </a:p>
        </p:txBody>
      </p:sp>
      <p:sp>
        <p:nvSpPr>
          <p:cNvPr id="7" name="Text 4"/>
          <p:cNvSpPr txBox="1"/>
          <p:nvPr/>
        </p:nvSpPr>
        <p:spPr>
          <a:xfrm>
            <a:off x="457200" y="2106168"/>
            <a:ext cx="11247120" cy="23202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useEffect(() =&gt;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fetch("/api/books/999")</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.then((res) =&gt; res.json())</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.then((book: Book) =&gt; setBook(book));</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JSX: &lt;h2&gt;{book.title.toUpperCase()}&lt;/h2&gt;</a:t>
            </a:r>
            <a:endParaRPr lang="en-US" sz="1800" dirty="0"/>
          </a:p>
        </p:txBody>
      </p:sp>
      <p:sp>
        <p:nvSpPr>
          <p:cNvPr id="8" name="Text 5"/>
          <p:cNvSpPr txBox="1"/>
          <p:nvPr/>
        </p:nvSpPr>
        <p:spPr>
          <a:xfrm>
            <a:off x="457200" y="4536186"/>
            <a:ext cx="11247120" cy="39624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"What does the user eventually see?"</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A3: A crash, because fetch resolves on 404</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ANSWER</a:t>
            </a:r>
            <a:endParaRPr lang="en-US" sz="1200" dirty="0"/>
          </a:p>
        </p:txBody>
      </p:sp>
      <p:sp>
        <p:nvSpPr>
          <p:cNvPr id="5" name="Text 2"/>
          <p:cNvSpPr txBox="1"/>
          <p:nvPr/>
        </p:nvSpPr>
        <p:spPr>
          <a:xfrm>
            <a:off x="457200" y="1600200"/>
            <a:ext cx="11247120" cy="195072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38BDF8"/>
                </a:solidFill>
                <a:latin typeface="Consolas" pitchFamily="34" charset="0"/>
                <a:ea typeface="Consolas" pitchFamily="34" charset="-122"/>
                <a:cs typeface="Consolas" pitchFamily="34" charset="-120"/>
              </a:rPr>
              <a:t>res.json()</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parses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 "error": "Book not found" }</a:t>
            </a:r>
            <a:endParaRPr lang="en-US" sz="2400" dirty="0"/>
          </a:p>
          <a:p>
            <a:pPr marL="342900" indent="-342900">
              <a:spcAft>
                <a:spcPts val="600"/>
              </a:spcAft>
              <a:buSzPct val="100000"/>
              <a:buChar char="•"/>
            </a:pPr>
            <a:r>
              <a:rPr lang="en-US" sz="2400" dirty="0">
                <a:solidFill>
                  <a:srgbClr val="38BDF8"/>
                </a:solidFill>
                <a:latin typeface="Consolas" pitchFamily="34" charset="0"/>
                <a:ea typeface="Consolas" pitchFamily="34" charset="-122"/>
                <a:cs typeface="Consolas" pitchFamily="34" charset="-120"/>
              </a:rPr>
              <a:t>book.title</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is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undefined</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Error: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Cannot read properties of undefined (reading 'toUpperCase')</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Fix: check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res.ok</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(use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request</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render an error state</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Q4: Spot the bug</a:t>
            </a:r>
            <a:endParaRPr lang="en-US" dirty="0"/>
          </a:p>
        </p:txBody>
      </p:sp>
      <p:sp>
        <p:nvSpPr>
          <p:cNvPr id="3" name="Text 1"/>
          <p:cNvSpPr txBox="1"/>
          <p:nvPr/>
        </p:nvSpPr>
        <p:spPr>
          <a:xfrm>
            <a:off x="457200" y="228600"/>
            <a:ext cx="1554480" cy="274320"/>
          </a:xfrm>
          <a:prstGeom prst="roundRect">
            <a:avLst>
              <a:gd name="adj" fmla="val 26667"/>
            </a:avLst>
          </a:prstGeom>
          <a:solidFill>
            <a:srgbClr val="A78BFA"/>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QUESTION</a:t>
            </a:r>
            <a:endParaRPr lang="en-US" sz="1200" dirty="0"/>
          </a:p>
        </p:txBody>
      </p:sp>
      <p:sp>
        <p:nvSpPr>
          <p:cNvPr id="4" name="Text 2"/>
          <p:cNvSpPr txBox="1"/>
          <p:nvPr/>
        </p:nvSpPr>
        <p:spPr>
          <a:xfrm>
            <a:off x="214884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6" name="Text 3"/>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client/src/App.tsx</a:t>
            </a:r>
            <a:endParaRPr lang="en-US" sz="2400" dirty="0"/>
          </a:p>
        </p:txBody>
      </p:sp>
      <p:sp>
        <p:nvSpPr>
          <p:cNvPr id="7" name="Text 4"/>
          <p:cNvSpPr txBox="1"/>
          <p:nvPr/>
        </p:nvSpPr>
        <p:spPr>
          <a:xfrm>
            <a:off x="457200" y="2106168"/>
            <a:ext cx="11247120" cy="203454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const [status, setStatus] = useState&lt;BookStatus | ""&gt;("");</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useEffect(() =&gt;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booksApi.list({ status: status || undefined, page: 1, limit: 5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.then((r) =&gt; setBooks(r.items));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a:t>
            </a:r>
            <a:endParaRPr lang="en-US" sz="1800" dirty="0"/>
          </a:p>
        </p:txBody>
      </p:sp>
      <p:sp>
        <p:nvSpPr>
          <p:cNvPr id="8" name="Text 5"/>
          <p:cNvSpPr txBox="1"/>
          <p:nvPr/>
        </p:nvSpPr>
        <p:spPr>
          <a:xfrm>
            <a:off x="457200" y="4250436"/>
            <a:ext cx="11247120" cy="396240"/>
          </a:xfrm>
          <a:prstGeom prst="rect">
            <a:avLst/>
          </a:prstGeom>
          <a:noFill/>
          <a:ln/>
        </p:spPr>
        <p:txBody>
          <a:bodyPr wrap="square" lIns="0" tIns="0" rIns="0" bIns="0" rtlCol="0" anchor="t"/>
          <a:lstStyle/>
          <a:p>
            <a:pPr indent="0" marL="0">
              <a:buNone/>
            </a:pPr>
            <a:r>
              <a:rPr lang="en-US" sz="2400" dirty="0">
                <a:solidFill>
                  <a:srgbClr val="F1F5F9"/>
                </a:solidFill>
                <a:latin typeface="Calibri" pitchFamily="34" charset="0"/>
                <a:ea typeface="Calibri" pitchFamily="34" charset="-122"/>
                <a:cs typeface="Calibri" pitchFamily="34" charset="-120"/>
              </a:rPr>
              <a:t>"Changing the dropdown does nothing until refresh. Why?"</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A4: The effect never re-runs</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ANSWER</a:t>
            </a:r>
            <a:endParaRPr lang="en-US" sz="1200" dirty="0"/>
          </a:p>
        </p:txBody>
      </p:sp>
      <p:sp>
        <p:nvSpPr>
          <p:cNvPr id="4" name="Text 2"/>
          <p:cNvSpPr txBox="1"/>
          <p:nvPr/>
        </p:nvSpPr>
        <p:spPr>
          <a:xfrm>
            <a:off x="214884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6" name="Text 3"/>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client/src/App.tsx</a:t>
            </a:r>
            <a:endParaRPr lang="en-US" sz="2400" dirty="0"/>
          </a:p>
        </p:txBody>
      </p:sp>
      <p:sp>
        <p:nvSpPr>
          <p:cNvPr id="7" name="Text 4"/>
          <p:cNvSpPr txBox="1"/>
          <p:nvPr/>
        </p:nvSpPr>
        <p:spPr>
          <a:xfrm>
            <a:off x="457200" y="2106168"/>
            <a:ext cx="11247120" cy="6057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 [status]);</a:t>
            </a:r>
            <a:endParaRPr lang="en-US" sz="1800" dirty="0"/>
          </a:p>
        </p:txBody>
      </p:sp>
      <p:sp>
        <p:nvSpPr>
          <p:cNvPr id="8" name="Text 5"/>
          <p:cNvSpPr txBox="1"/>
          <p:nvPr/>
        </p:nvSpPr>
        <p:spPr>
          <a:xfrm>
            <a:off x="457200" y="2821686"/>
            <a:ext cx="11247120" cy="146304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Empty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runs once on mount</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Add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status</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to deps; abort the previous request</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Reset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page</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to 1 on filter change</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Q5: Pick a database for each scenario</a:t>
            </a:r>
            <a:endParaRPr lang="en-US" dirty="0"/>
          </a:p>
        </p:txBody>
      </p:sp>
      <p:sp>
        <p:nvSpPr>
          <p:cNvPr id="3" name="Text 1"/>
          <p:cNvSpPr txBox="1"/>
          <p:nvPr/>
        </p:nvSpPr>
        <p:spPr>
          <a:xfrm>
            <a:off x="457200" y="228600"/>
            <a:ext cx="1554480" cy="274320"/>
          </a:xfrm>
          <a:prstGeom prst="roundRect">
            <a:avLst>
              <a:gd name="adj" fmla="val 26667"/>
            </a:avLst>
          </a:prstGeom>
          <a:solidFill>
            <a:srgbClr val="A78BFA"/>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QUESTION</a:t>
            </a:r>
            <a:endParaRPr lang="en-US" sz="1200" dirty="0"/>
          </a:p>
        </p:txBody>
      </p:sp>
      <p:sp>
        <p:nvSpPr>
          <p:cNvPr id="5" name="Text 2"/>
          <p:cNvSpPr txBox="1"/>
          <p:nvPr/>
        </p:nvSpPr>
        <p:spPr>
          <a:xfrm>
            <a:off x="457200" y="1600200"/>
            <a:ext cx="11247120" cy="146304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(a) Online store: orders, items, payments</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(b) Cache of last 5 minutes of API responses</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(c) Hackathon prototype: login plus live updates in a day</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A5: Relational, key-value, BaaS</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ANSWER</a:t>
            </a:r>
            <a:endParaRPr lang="en-US" sz="1200" dirty="0"/>
          </a:p>
        </p:txBody>
      </p:sp>
      <p:sp>
        <p:nvSpPr>
          <p:cNvPr id="5" name="Text 2"/>
          <p:cNvSpPr txBox="1"/>
          <p:nvPr/>
        </p:nvSpPr>
        <p:spPr>
          <a:xfrm>
            <a:off x="457200" y="1600200"/>
            <a:ext cx="11247120" cy="146304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(a) </a:t>
            </a:r>
            <a:pPr indent="0" marL="0">
              <a:spcAft>
                <a:spcPts val="600"/>
              </a:spcAft>
              <a:buNone/>
            </a:pPr>
            <a:r>
              <a:rPr lang="en-US" sz="2400" b="1" dirty="0">
                <a:solidFill>
                  <a:srgbClr val="F1F5F9"/>
                </a:solidFill>
                <a:latin typeface="Calibri" pitchFamily="34" charset="0"/>
                <a:ea typeface="Calibri" pitchFamily="34" charset="-122"/>
                <a:cs typeface="Calibri" pitchFamily="34" charset="-120"/>
              </a:rPr>
              <a:t>PostgreSQL:</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related data, transactions, consistency</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(b) </a:t>
            </a:r>
            <a:pPr indent="0" marL="0">
              <a:spcAft>
                <a:spcPts val="600"/>
              </a:spcAft>
              <a:buNone/>
            </a:pPr>
            <a:r>
              <a:rPr lang="en-US" sz="2400" b="1" dirty="0">
                <a:solidFill>
                  <a:srgbClr val="F1F5F9"/>
                </a:solidFill>
                <a:latin typeface="Calibri" pitchFamily="34" charset="0"/>
                <a:ea typeface="Calibri" pitchFamily="34" charset="-122"/>
                <a:cs typeface="Calibri" pitchFamily="34" charset="-120"/>
              </a:rPr>
              <a:t>Redis:</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fast reads and expiry for disposable data</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(c) </a:t>
            </a:r>
            <a:pPr indent="0" marL="0">
              <a:spcAft>
                <a:spcPts val="600"/>
              </a:spcAft>
              <a:buNone/>
            </a:pPr>
            <a:r>
              <a:rPr lang="en-US" sz="2400" b="1" dirty="0">
                <a:solidFill>
                  <a:srgbClr val="F1F5F9"/>
                </a:solidFill>
                <a:latin typeface="Calibri" pitchFamily="34" charset="0"/>
                <a:ea typeface="Calibri" pitchFamily="34" charset="-122"/>
                <a:cs typeface="Calibri" pitchFamily="34" charset="-120"/>
              </a:rPr>
              <a:t>Firebase / Supabase:</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auth and real-time built in; accept lock-in</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Applied exercise: Favorites, end to end</a:t>
            </a:r>
            <a:endParaRPr lang="en-US" dirty="0"/>
          </a:p>
        </p:txBody>
      </p:sp>
      <p:sp>
        <p:nvSpPr>
          <p:cNvPr id="3" name="Text 1"/>
          <p:cNvSpPr txBox="1"/>
          <p:nvPr/>
        </p:nvSpPr>
        <p:spPr>
          <a:xfrm>
            <a:off x="45720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TRY IT</a:t>
            </a:r>
            <a:endParaRPr lang="en-US" sz="1200" dirty="0"/>
          </a:p>
        </p:txBody>
      </p:sp>
      <p:sp>
        <p:nvSpPr>
          <p:cNvPr id="5" name="Text 2"/>
          <p:cNvSpPr txBox="1"/>
          <p:nvPr/>
        </p:nvSpPr>
        <p:spPr>
          <a:xfrm>
            <a:off x="457200" y="1600200"/>
            <a:ext cx="11247120" cy="24384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Goal: persist a ★ favorite with an optimistic toggle</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Store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0/1</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expose boolean;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PATCH</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rejects non-boolean (400)</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Existing rows still work (default not favorite)</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Toggle rolls back and shows an error on failure</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All SQL uses placeholders; no new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any</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Solution 1/3: store 0/1, expose a boolean</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4" name="Text 2"/>
          <p:cNvSpPr txBox="1"/>
          <p:nvPr/>
        </p:nvSpPr>
        <p:spPr>
          <a:xfrm>
            <a:off x="2148840" y="228600"/>
            <a:ext cx="1554480" cy="274320"/>
          </a:xfrm>
          <a:prstGeom prst="roundRect">
            <a:avLst>
              <a:gd name="adj" fmla="val 26667"/>
            </a:avLst>
          </a:prstGeom>
          <a:solidFill>
            <a:srgbClr val="FCD34D"/>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DB</a:t>
            </a:r>
            <a:endParaRPr lang="en-US" sz="1200" dirty="0"/>
          </a:p>
        </p:txBody>
      </p:sp>
      <p:sp>
        <p:nvSpPr>
          <p:cNvPr id="6" name="Text 3"/>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server/src/db.ts</a:t>
            </a:r>
            <a:pPr indent="0" marL="0">
              <a:buNone/>
            </a:pPr>
            <a:r>
              <a:rPr lang="en-US" sz="2400" dirty="0">
                <a:solidFill>
                  <a:srgbClr val="F1F5F9"/>
                </a:solidFill>
                <a:latin typeface="Calibri" pitchFamily="34" charset="0"/>
                <a:ea typeface="Calibri" pitchFamily="34" charset="-122"/>
                <a:cs typeface="Calibri" pitchFamily="34" charset="-120"/>
              </a:rPr>
              <a:t>, </a:t>
            </a:r>
            <a:pPr indent="0" marL="0">
              <a:buNone/>
            </a:pPr>
            <a:r>
              <a:rPr lang="en-US" sz="2400" dirty="0">
                <a:solidFill>
                  <a:srgbClr val="38BDF8"/>
                </a:solidFill>
                <a:latin typeface="Consolas" pitchFamily="34" charset="0"/>
                <a:ea typeface="Consolas" pitchFamily="34" charset="-122"/>
                <a:cs typeface="Consolas" pitchFamily="34" charset="-120"/>
              </a:rPr>
              <a:t>server/src/types.ts</a:t>
            </a:r>
            <a:endParaRPr lang="en-US" sz="2400" dirty="0"/>
          </a:p>
        </p:txBody>
      </p:sp>
      <p:sp>
        <p:nvSpPr>
          <p:cNvPr id="7" name="Text 4"/>
          <p:cNvSpPr txBox="1"/>
          <p:nvPr/>
        </p:nvSpPr>
        <p:spPr>
          <a:xfrm>
            <a:off x="457200" y="2106168"/>
            <a:ext cx="11247120" cy="28917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 db.ts, inside CREATE TABLE books: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favorite INTEGER NOT NULL DEFAULT 0 CHECK (favorite IN (0, 1)),</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existing DB, run once (a hand-run migration):</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sqlite3 bookshelf.db "ALTER TABLE books ADD COLUMN favorite</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INTEGER NOT NULL DEFAULT 0 CHECK (favorite IN (0, 1));"</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types.ts: BookRow.favorite: 0 | 1;  Book.favorite: boolean;</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export type BookPatch = Partial&lt;NewBook&gt; &amp; { favorite?: boolean };</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Solution 2/3: repository and validation</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SERVER</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server/src/bookRepository.ts</a:t>
            </a:r>
            <a:pPr indent="0" marL="0">
              <a:buNone/>
            </a:pPr>
            <a:r>
              <a:rPr lang="en-US" sz="2400" dirty="0">
                <a:solidFill>
                  <a:srgbClr val="F1F5F9"/>
                </a:solidFill>
                <a:latin typeface="Calibri" pitchFamily="34" charset="0"/>
                <a:ea typeface="Calibri" pitchFamily="34" charset="-122"/>
                <a:cs typeface="Calibri" pitchFamily="34" charset="-120"/>
              </a:rPr>
              <a:t>, </a:t>
            </a:r>
            <a:pPr indent="0" marL="0">
              <a:buNone/>
            </a:pPr>
            <a:r>
              <a:rPr lang="en-US" sz="2400" dirty="0">
                <a:solidFill>
                  <a:srgbClr val="38BDF8"/>
                </a:solidFill>
                <a:latin typeface="Consolas" pitchFamily="34" charset="0"/>
                <a:ea typeface="Consolas" pitchFamily="34" charset="-122"/>
                <a:cs typeface="Consolas" pitchFamily="34" charset="-120"/>
              </a:rPr>
              <a:t>server/src/routes/books.ts</a:t>
            </a:r>
            <a:endParaRPr lang="en-US" sz="2400" dirty="0"/>
          </a:p>
        </p:txBody>
      </p:sp>
      <p:sp>
        <p:nvSpPr>
          <p:cNvPr id="6" name="Text 3"/>
          <p:cNvSpPr txBox="1"/>
          <p:nvPr/>
        </p:nvSpPr>
        <p:spPr>
          <a:xfrm>
            <a:off x="457200" y="2106168"/>
            <a:ext cx="11247120" cy="2891790"/>
          </a:xfrm>
          <a:prstGeom prst="rect">
            <a:avLst/>
          </a:prstGeom>
          <a:solidFill>
            <a:srgbClr val="1E293B"/>
          </a:solidFill>
          <a:ln/>
        </p:spPr>
        <p:txBody>
          <a:bodyPr wrap="square" lIns="127000" tIns="127000" rIns="127000" bIns="12700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 toBook:   favorite: r.favorite === 1,</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update(): favorite = COALESCE(?, favorite)  with</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patch.favorite === undefined ? null : patch.favorite ? 1 : 0,</a:t>
            </a:r>
            <a:endParaRPr lang="en-US" sz="1800" dirty="0"/>
          </a:p>
          <a:p>
            <a:pPr indent="0" marL="0">
              <a:buNone/>
            </a:pP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parsePatch, after the other fields:</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if (favorite !== undefined) {</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if (typeof favorite !== "boolean") return "favorite must be a boolean";</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  patch.favorite = favorite;</a:t>
            </a:r>
            <a:endParaRPr lang="en-US" sz="1800" dirty="0"/>
          </a:p>
          <a:p>
            <a:pPr indent="0" marL="0">
              <a:buNone/>
            </a:pPr>
            <a:r>
              <a:rPr lang="en-US" sz="1800" dirty="0">
                <a:solidFill>
                  <a:srgbClr val="E2E8F0"/>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Solution 3/3: optimistic toggle with rollback</a:t>
            </a:r>
            <a:endParaRPr lang="en-US" dirty="0"/>
          </a:p>
        </p:txBody>
      </p:sp>
      <p:sp>
        <p:nvSpPr>
          <p:cNvPr id="3" name="Text 1"/>
          <p:cNvSpPr txBox="1"/>
          <p:nvPr/>
        </p:nvSpPr>
        <p:spPr>
          <a:xfrm>
            <a:off x="457200" y="228600"/>
            <a:ext cx="1554480" cy="274320"/>
          </a:xfrm>
          <a:prstGeom prst="roundRect">
            <a:avLst>
              <a:gd name="adj" fmla="val 26667"/>
            </a:avLst>
          </a:prstGeom>
          <a:solidFill>
            <a:srgbClr val="38BDF8"/>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p:txBody>
      </p:sp>
      <p:sp>
        <p:nvSpPr>
          <p:cNvPr id="5" name="Text 2"/>
          <p:cNvSpPr txBox="1"/>
          <p:nvPr/>
        </p:nvSpPr>
        <p:spPr>
          <a:xfrm>
            <a:off x="457200" y="1600200"/>
            <a:ext cx="11247120" cy="396240"/>
          </a:xfrm>
          <a:prstGeom prst="rect">
            <a:avLst/>
          </a:prstGeom>
          <a:noFill/>
          <a:ln/>
        </p:spPr>
        <p:txBody>
          <a:bodyPr wrap="square" lIns="0" tIns="0" rIns="0" bIns="0" rtlCol="0" anchor="t"/>
          <a:lstStyle/>
          <a:p>
            <a:pPr indent="0" marL="0">
              <a:buNone/>
            </a:pPr>
            <a:r>
              <a:rPr lang="en-US" sz="2400" dirty="0">
                <a:solidFill>
                  <a:srgbClr val="38BDF8"/>
                </a:solidFill>
                <a:latin typeface="Consolas" pitchFamily="34" charset="0"/>
                <a:ea typeface="Consolas" pitchFamily="34" charset="-122"/>
                <a:cs typeface="Consolas" pitchFamily="34" charset="-120"/>
              </a:rPr>
              <a:t>client/src/App.tsx</a:t>
            </a:r>
            <a:endParaRPr lang="en-US" sz="2400" dirty="0"/>
          </a:p>
        </p:txBody>
      </p:sp>
      <p:sp>
        <p:nvSpPr>
          <p:cNvPr id="6" name="Text 3"/>
          <p:cNvSpPr txBox="1"/>
          <p:nvPr/>
        </p:nvSpPr>
        <p:spPr>
          <a:xfrm>
            <a:off x="457200" y="2106168"/>
            <a:ext cx="11247120" cy="3376323"/>
          </a:xfrm>
          <a:prstGeom prst="rect">
            <a:avLst/>
          </a:prstGeom>
          <a:solidFill>
            <a:srgbClr val="1E293B"/>
          </a:solidFill>
          <a:ln/>
        </p:spPr>
        <p:txBody>
          <a:bodyPr wrap="square" lIns="127000" tIns="127000" rIns="127000" bIns="127000" rtlCol="0" anchor="t"/>
          <a:lstStyle/>
          <a:p>
            <a:pPr indent="0" marL="0">
              <a:buNone/>
            </a:pPr>
            <a:r>
              <a:rPr lang="en-US" sz="1604" dirty="0">
                <a:solidFill>
                  <a:srgbClr val="E2E8F0"/>
                </a:solidFill>
                <a:latin typeface="Consolas" pitchFamily="34" charset="0"/>
                <a:ea typeface="Consolas" pitchFamily="34" charset="-122"/>
                <a:cs typeface="Consolas" pitchFamily="34" charset="-120"/>
              </a:rPr>
              <a:t>// client types: Book.favorite: boolean; BookPatch gains favorite?</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const handleToggleFavorite = async (book: Book) =&gt; {</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  const next = !book.favorite;</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  setBooks((prev) =&gt; prev.map((b) =&gt; (b.id === book.id ? { ...b, favorite: next } : b)));</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  try {</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    await booksApi.update(book.id, { favorite: next });</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    setActionError(null);</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  } catch (err) {</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    setBooks((prev) =&gt; prev.map((b) =&gt; (b.id === book.id ? { ...b, favorite: !next } : b)));</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    setActionError(err instanceof Error ? err.message : "Could not update favorite");</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  }</a:t>
            </a:r>
            <a:endParaRPr lang="en-US" sz="1604" dirty="0"/>
          </a:p>
          <a:p>
            <a:pPr indent="0" marL="0">
              <a:buNone/>
            </a:pPr>
            <a:r>
              <a:rPr lang="en-US" sz="1604" dirty="0">
                <a:solidFill>
                  <a:srgbClr val="E2E8F0"/>
                </a:solidFill>
                <a:latin typeface="Consolas" pitchFamily="34" charset="0"/>
                <a:ea typeface="Consolas" pitchFamily="34" charset="-122"/>
                <a:cs typeface="Consolas" pitchFamily="34" charset="-120"/>
              </a:rPr>
              <a:t>};</a:t>
            </a:r>
            <a:endParaRPr lang="en-US" sz="1604"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Six takeaways</a:t>
            </a:r>
            <a:endParaRPr lang="en-US" dirty="0"/>
          </a:p>
        </p:txBody>
      </p:sp>
      <p:sp>
        <p:nvSpPr>
          <p:cNvPr id="3" name="Text 1"/>
          <p:cNvSpPr txBox="1"/>
          <p:nvPr/>
        </p:nvSpPr>
        <p:spPr>
          <a:xfrm>
            <a:off x="457200" y="228600"/>
            <a:ext cx="1554480" cy="274320"/>
          </a:xfrm>
          <a:prstGeom prst="roundRect">
            <a:avLst>
              <a:gd name="adj" fmla="val 26667"/>
            </a:avLst>
          </a:prstGeom>
          <a:solidFill>
            <a:srgbClr val="34D399"/>
          </a:solid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RECAP</a:t>
            </a:r>
            <a:endParaRPr lang="en-US" sz="1200" dirty="0"/>
          </a:p>
        </p:txBody>
      </p:sp>
      <p:sp>
        <p:nvSpPr>
          <p:cNvPr id="5" name="Text 2"/>
          <p:cNvSpPr txBox="1"/>
          <p:nvPr/>
        </p:nvSpPr>
        <p:spPr>
          <a:xfrm>
            <a:off x="457200" y="1600200"/>
            <a:ext cx="11247120" cy="292608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React never talks to the database</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Choose storage by data, not hype</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Never trust input; never concatenate SQL</a:t>
            </a:r>
            <a:endParaRPr lang="en-US" sz="2400" dirty="0"/>
          </a:p>
          <a:p>
            <a:pPr marL="342900" indent="-342900">
              <a:spcAft>
                <a:spcPts val="600"/>
              </a:spcAft>
              <a:buSzPct val="100000"/>
              <a:buChar char="•"/>
            </a:pPr>
            <a:r>
              <a:rPr lang="en-US" sz="2400" dirty="0">
                <a:solidFill>
                  <a:srgbClr val="38BDF8"/>
                </a:solidFill>
                <a:latin typeface="Consolas" pitchFamily="34" charset="0"/>
                <a:ea typeface="Consolas" pitchFamily="34" charset="-122"/>
                <a:cs typeface="Consolas" pitchFamily="34" charset="-120"/>
              </a:rPr>
              <a:t>fetch</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only rejects on network errors</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Reads in </a:t>
            </a:r>
            <a:pPr indent="0" marL="0">
              <a:spcAft>
                <a:spcPts val="600"/>
              </a:spcAft>
              <a:buNone/>
            </a:pPr>
            <a:r>
              <a:rPr lang="en-US" sz="2400" dirty="0">
                <a:solidFill>
                  <a:srgbClr val="38BDF8"/>
                </a:solidFill>
                <a:latin typeface="Consolas" pitchFamily="34" charset="0"/>
                <a:ea typeface="Consolas" pitchFamily="34" charset="-122"/>
                <a:cs typeface="Consolas" pitchFamily="34" charset="-120"/>
              </a:rPr>
              <a:t>useEffect</a:t>
            </a:r>
            <a:pPr indent="0" marL="0">
              <a:spcAft>
                <a:spcPts val="600"/>
              </a:spcAft>
              <a:buNone/>
            </a:pPr>
            <a:r>
              <a:rPr lang="en-US" sz="2400" dirty="0">
                <a:solidFill>
                  <a:srgbClr val="F1F5F9"/>
                </a:solidFill>
                <a:latin typeface="Calibri" pitchFamily="34" charset="0"/>
                <a:ea typeface="Calibri" pitchFamily="34" charset="-122"/>
                <a:cs typeface="Calibri" pitchFamily="34" charset="-120"/>
              </a:rPr>
              <a:t>; writes in handlers</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Keep the database behind a repository</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Next: custom hooks, auth, and ORMs</a:t>
            </a:r>
            <a:endParaRPr lang="en-US" dirty="0"/>
          </a:p>
        </p:txBody>
      </p:sp>
      <p:sp>
        <p:nvSpPr>
          <p:cNvPr id="4" name="Text 1"/>
          <p:cNvSpPr txBox="1"/>
          <p:nvPr/>
        </p:nvSpPr>
        <p:spPr>
          <a:xfrm>
            <a:off x="457200" y="1600200"/>
            <a:ext cx="11247120" cy="146304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Custom hooks and TanStack Query replace repeated fetch code</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Authentication protects who can delete what</a:t>
            </a:r>
            <a:endParaRPr lang="en-US" sz="2400" dirty="0"/>
          </a:p>
          <a:p>
            <a:pPr marL="342900" indent="-342900">
              <a:spcAft>
                <a:spcPts val="600"/>
              </a:spcAft>
              <a:buSzPct val="100000"/>
              <a:buChar char="•"/>
            </a:pPr>
            <a:r>
              <a:rPr lang="en-US" sz="2400" dirty="0">
                <a:solidFill>
                  <a:srgbClr val="F1F5F9"/>
                </a:solidFill>
                <a:latin typeface="Calibri" pitchFamily="34" charset="0"/>
                <a:ea typeface="Calibri" pitchFamily="34" charset="-122"/>
                <a:cs typeface="Calibri" pitchFamily="34" charset="-120"/>
              </a:rPr>
              <a:t>ORMs such as Prisma or Drizzle replace hand-written SQL</a:t>
            </a:r>
            <a:endParaRPr lang="en-US" sz="2400" dirty="0"/>
          </a:p>
        </p:txBody>
      </p:sp>
      <p:sp>
        <p:nvSpPr>
          <p:cNvPr id="25" name="Slide Number Placeholder 0"/>
          <p:cNvSpPr>
            <a:spLocks noGrp="1"/>
          </p:cNvSpPr>
          <p:nvPr>
            <p:ph type="sldNum" sz="quarter" idx="4294967295"/>
          </p:nvPr>
        </p:nvSpPr>
        <p:spPr>
          <a:xfrm>
            <a:off x="1133856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118</a:t>
            </a:fld>
            <a:endParaRPr lang="en-US"/>
          </a:p>
        </p:txBody>
      </p:sp>
    </p:spTree>
  </p:cSld>
  <p:clrMapOvr>
    <a:masterClrMapping/>
  </p:clrMapOvr>
</p:sld>
</file>

<file path=ppt/theme/theme1.xml><?xml version="1.0" encoding="utf-8"?>
<a:theme xmlns:a="http://schemas.openxmlformats.org/drawingml/2006/main" name="DataAccess">
  <a:themeElements>
    <a:clrScheme name="DataAccess">
      <a:dk1>
        <a:srgbClr val="0F172A"/>
      </a:dk1>
      <a:lt1>
        <a:srgbClr val="F1F5F9"/>
      </a:lt1>
      <a:dk2>
        <a:srgbClr val="1E293B"/>
      </a:dk2>
      <a:lt2>
        <a:srgbClr val="94A3B8"/>
      </a:lt2>
      <a:accent1>
        <a:srgbClr val="38BDF8"/>
      </a:accent1>
      <a:accent2>
        <a:srgbClr val="34D399"/>
      </a:accent2>
      <a:accent3>
        <a:srgbClr val="FCD34D"/>
      </a:accent3>
      <a:accent4>
        <a:srgbClr val="FB7185"/>
      </a:accent4>
      <a:accent5>
        <a:srgbClr val="A78BFA"/>
      </a:accent5>
      <a:accent6>
        <a:srgbClr val="F97316"/>
      </a:accent6>
      <a:hlink>
        <a:srgbClr val="38BDF8"/>
      </a:hlink>
      <a:folHlink>
        <a:srgbClr val="94A3B8"/>
      </a:folHlink>
    </a:clrScheme>
    <a:fontScheme name="DataAcces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118</Slides>
  <Notes>118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118</vt:i4>
      </vt:variant>
    </vt:vector>
  </HeadingPairs>
  <TitlesOfParts>
    <vt:vector size="1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2026-10-26T08:55:09Z</dcterms:created>
  <dcterms:modified xsi:type="dcterms:W3CDTF">2026-10-26T08:55:09Z</dcterms:modified>
</cp:coreProperties>
</file>